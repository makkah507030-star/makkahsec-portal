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دليل المعلم (مخفي)" id="{6A0C7E0B-1A63-4C55-9C8C-3B1A1D2B6E02}">
          <p14:sldIdLst>
            <p14:sldId id="275"/>
            <p14:sldId id="276"/>
            <p14:sldId id="277"/>
            <p14:sldId id="278"/>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الشرائح الست الأخيرة مخفية (دليل المعلم): لا تظهر أثناء العرض، راجعها قبل الزيارة.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نقاط المجموعات: ارسم جدولًا صغيرًا على طرف السبورة بأسماء الفرق، وأضف النجوم أثناء الحصة، وأعلن الفائز في خلاصة الحصة. هذا يخدم بند «أساليب التحفيز» (الثناء والمكافأة والاحتفاء بالمنجزات).</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أعلن الفريق الفائز في نقاط المجموعات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 الشرائح بعد هذه مخفية ولن تظهر في العرض.</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هذه الشريحة والشرائح الخمس بعدها مخفية: تظهر في وضع التحرير فقط، ولا تُعرض للطلاب.</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التفاعل يعمل كاملًا في PowerPoint على الحاسب (ويندوز وماك). في PowerPoint على الويب أو الجوال يعمل جزئيًا، ولا يعمل في Google Slides؛ فاعرض من حاسب الفصل.</a:t>
            </a:r>
          </a:p>
          <a:p>
            <a:pPr rtl="1" algn="r"/>
            <a:r>
              <a:rPr lang="ar-SA" dirty="0"/>
              <a:t>جرّب كل عنصر مرة قبل الحصة في وضع «عرض الشرائح»، لا في وضع التحرير.</a:t>
            </a:r>
          </a:p>
          <a:p>
            <a:pPr rtl="1" algn="r"/>
            <a:r>
              <a:rPr lang="ar-SA" dirty="0"/>
              <a:t>الأصوات ثلاثة فقط وقصيرة: جرس عند انتهاء المؤقت، ونغمة صاعدة للإجابة الصحيحة، ونغمة هابطة للخاطئة. والانتقال بين الشرائح تلاشٍ هادئ بلا صوت.</a:t>
            </a:r>
          </a:p>
          <a:p>
            <a:pPr rtl="1" algn="r"/>
            <a:r>
              <a:rPr lang="ar-SA" dirty="0"/>
              <a:t>لإيقاف صوت: من «حركات» افتح «جزء الحركة»، وانقر سهم الحركة ← «خيارات التأثير» ← «الصوت: [بلا صوت]». أو اخفض صوت الحاسب.</a:t>
            </a:r>
          </a:p>
          <a:p>
            <a:pPr rtl="1" algn="r"/>
            <a:r>
              <a:rPr lang="ar-SA" dirty="0"/>
              <a:t>إن نقرت خارج الأزرار تنتقل للشريحة التالية كالمعتاد؛ وإن احتجت الرجوع استعمل السهم الأيسر في لوحة المفاتيح.</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البنود الخمسة والعشرون في استمارة الملاحظة الصفية بمنصة هيئة تقويم التعليم والتدريب، ويُقدَّر كل بند: متحقق بدرجة منخفضة، أو متوسطة، أو مرتفعة، أو مرتفعة جدًا.</a:t>
            </a:r>
          </a:p>
          <a:p>
            <a:pPr rtl="1" algn="r"/>
            <a:r>
              <a:rPr lang="ar-SA" dirty="0"/>
              <a:t>البنود من 20 إلى 25 تقيس ما يُظهره الطلاب أنفسهم، فاجعل لهم فرصة ظاهرة لإظهاره أمام المقيّم.</a:t>
            </a:r>
          </a:p>
          <a:p>
            <a:pPr rtl="1" algn="r"/>
            <a:r>
              <a:rPr lang="ar-SA" dirty="0"/>
              <a:t>الدرجة «مرتفعة جدًا» تحتاج شواهد ظاهرة: لا تكتفِ بذكر الإجراء، بل نفّذه أمام المقيّم.</a:t>
            </a:r>
          </a:p>
          <a:p>
            <a:pPr rtl="1" algn="r"/>
            <a:r>
              <a:rPr lang="ar-SA" dirty="0"/>
              <a:t>جهّز في متناولك: خطة الدرس، وتوزيع المنهج، ونماذج من أعمال الطلاب ودفاترهم، وسجل الدرجات في البوابة، وأوراق العمل والبطاقات.</a:t>
            </a:r>
          </a:p>
          <a:p>
            <a:pPr rtl="1" algn="r"/>
            <a:r>
              <a:rPr lang="ar-SA" dirty="0"/>
              <a:t>قد يتحدث المقيّم مع الطلاب أو يطّلع على دفاترهم؛ اجعل تصحيح الدفاتر محدّثًا بتغذية راجعة مكتوبة.</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البنود الخمسة والعشرون في استمارة الملاحظة الصفية بمنصة هيئة تقويم التعليم والتدريب، ويُقدَّر كل بند: متحقق بدرجة منخفضة، أو متوسطة، أو مرتفعة، أو مرتفعة جدًا.</a:t>
            </a:r>
          </a:p>
          <a:p>
            <a:pPr rtl="1" algn="r"/>
            <a:r>
              <a:rPr lang="ar-SA" dirty="0"/>
              <a:t>البنود من 20 إلى 25 تقيس ما يُظهره الطلاب أنفسهم، فاجعل لهم فرصة ظاهرة لإظهاره أمام المقيّم.</a:t>
            </a:r>
          </a:p>
          <a:p>
            <a:pPr rtl="1" algn="r"/>
            <a:r>
              <a:rPr lang="ar-SA" dirty="0"/>
              <a:t>الدرجة «مرتفعة جدًا» تحتاج شواهد ظاهرة: لا تكتفِ بذكر الإجراء، بل نفّذه أمام المقيّم.</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البنود الخمسة والعشرون في استمارة الملاحظة الصفية بمنصة هيئة تقويم التعليم والتدريب، ويُقدَّر كل بند: متحقق بدرجة منخفضة، أو متوسطة، أو مرتفعة، أو مرتفعة جدًا.</a:t>
            </a:r>
          </a:p>
          <a:p>
            <a:pPr rtl="1" algn="r"/>
            <a:r>
              <a:rPr lang="ar-SA" dirty="0"/>
              <a:t>البنود من 20 إلى 25 تقيس ما يُظهره الطلاب أنفسهم، فاجعل لهم فرصة ظاهرة لإظهاره أمام المقيّم.</a:t>
            </a:r>
          </a:p>
          <a:p>
            <a:pPr rtl="1" algn="r"/>
            <a:r>
              <a:rPr lang="ar-SA" dirty="0"/>
              <a:t>الدرجة «مرتفعة جدًا» تحتاج شواهد ظاهرة: لا تكتفِ بذكر الإجراء، بل نفّذه أمام المقيّم.</a:t>
            </a:r>
          </a:p>
          <a:p>
            <a:pPr rtl="1" algn="r"/>
            <a:r>
              <a:rPr lang="ar-SA" dirty="0"/>
              <a:t>نصيحة: لا تحاول حشد كل الإستراتيجيات؛ ثلاث إستراتيجيات متقنة ومترابطة أفضل من سبع شكلية.</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أمثلة للاستئناس؛ اختر ما يناسب درسك وطلابك، وطبّقه في الشرائح المقابلة: التهيئة، والنشاط التعاوني، والتقويم.</a:t>
            </a:r>
          </a:p>
          <a:p>
            <a:pPr rtl="1" algn="r"/>
            <a:r>
              <a:rPr lang="ar-SA" dirty="0"/>
              <a:t>للمواد غير المذكورة (التربية البدنية، الفنية، المهارات الحياتية...) اتبع النمط نفسه: موقف محفّز، ثم ممارسة عملية في مجموعات، ثم عرض أو أداء قصير يُقيَّم بمعايير واضحة.</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C3328"/>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E6350"/>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C3328"/>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3E6350"/>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1C3328"/>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1C3328"/>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1C3328"/>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1C3328"/>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9D7AD"/>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7268"/>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89D7AD"/>
          </a:solidFill>
          <a:ln w="12700">
            <a:solidFill>
              <a:srgbClr val="89D7AD"/>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89D7AD"/>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A9BCB1"/>
                </a:solidFill>
                <a:latin typeface="IBM Plex Sans Arabic"/>
                <a:cs typeface="IBM Plex Sans Arabic"/>
              </a:rPr>
              <a:t>موقع الدرس في توزيع المنهج: </a:t>
            </a:r>
            <a:r>
              <a:rPr lang="ar-SA" altLang="en-US" sz="1300" b="1" dirty="0">
                <a:solidFill>
                  <a:srgbClr val="89D7AD"/>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A9BCB1"/>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A9BCB1"/>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CCF2DB"/>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CCF2DB"/>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3E6350"/>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89D7AD"/>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89D7AD"/>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16301F"/>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16301F"/>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E7268"/>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C3328"/>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44" name="Circle 44"/>
          <p:cNvSpPr/>
          <p:nvPr/>
        </p:nvSpPr>
        <p:spPr>
          <a:xfrm>
            <a:off x="8001000" y="3776472"/>
            <a:ext cx="548640" cy="548640"/>
          </a:xfrm>
          <a:prstGeom prst="ellipse">
            <a:avLst/>
          </a:prstGeom>
          <a:solidFill>
            <a:srgbClr val="89D7AD"/>
          </a:solidFill>
          <a:ln w="12700">
            <a:solidFill>
              <a:srgbClr val="89D7AD"/>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3E6350"/>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7697419" y="2212848"/>
            <a:ext cx="502920" cy="502920"/>
          </a:xfrm>
          <a:prstGeom prst="ellipse">
            <a:avLst/>
          </a:prstGeom>
          <a:solidFill>
            <a:srgbClr val="89D7AD"/>
          </a:solidFill>
          <a:ln w="12700">
            <a:solidFill>
              <a:srgbClr val="89D7AD"/>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6084418" y="2212848"/>
            <a:ext cx="502920" cy="502920"/>
          </a:xfrm>
          <a:prstGeom prst="ellipse">
            <a:avLst/>
          </a:prstGeom>
          <a:solidFill>
            <a:srgbClr val="89D7AD"/>
          </a:solidFill>
          <a:ln w="12700">
            <a:solidFill>
              <a:srgbClr val="89D7AD"/>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8" name="Circle 18"/>
          <p:cNvSpPr/>
          <p:nvPr/>
        </p:nvSpPr>
        <p:spPr>
          <a:xfrm>
            <a:off x="4471416" y="2212848"/>
            <a:ext cx="502920" cy="502920"/>
          </a:xfrm>
          <a:prstGeom prst="ellipse">
            <a:avLst/>
          </a:prstGeom>
          <a:solidFill>
            <a:srgbClr val="89D7AD"/>
          </a:solidFill>
          <a:ln w="12700">
            <a:solidFill>
              <a:srgbClr val="89D7AD"/>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3" name="Circle 23"/>
          <p:cNvSpPr/>
          <p:nvPr/>
        </p:nvSpPr>
        <p:spPr>
          <a:xfrm>
            <a:off x="2858414" y="2212848"/>
            <a:ext cx="502920" cy="502920"/>
          </a:xfrm>
          <a:prstGeom prst="ellipse">
            <a:avLst/>
          </a:prstGeom>
          <a:solidFill>
            <a:srgbClr val="89D7AD"/>
          </a:solidFill>
          <a:ln w="12700">
            <a:solidFill>
              <a:srgbClr val="89D7AD"/>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8" name="Circle 28"/>
          <p:cNvSpPr/>
          <p:nvPr/>
        </p:nvSpPr>
        <p:spPr>
          <a:xfrm>
            <a:off x="1245413" y="2212848"/>
            <a:ext cx="502920" cy="502920"/>
          </a:xfrm>
          <a:prstGeom prst="ellipse">
            <a:avLst/>
          </a:prstGeom>
          <a:solidFill>
            <a:srgbClr val="89D7AD"/>
          </a:solidFill>
          <a:ln w="12700">
            <a:solidFill>
              <a:srgbClr val="89D7AD"/>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E7268"/>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960120" y="4023360"/>
            <a:ext cx="7178040" cy="457200"/>
          </a:xfrm>
          <a:prstGeom prst="rect">
            <a:avLst/>
          </a:prstGeom>
          <a:noFill/>
        </p:spPr>
        <p:txBody>
          <a:bodyPr wrap="square" lIns="0" tIns="0" rIns="0" bIns="0" rtlCol="1" anchor="ctr"/>
          <a:lstStyle/>
          <a:p>
            <a:pPr rtl="1" algn="r" marL="0" indent="0">
              <a:buNone/>
            </a:pPr>
            <a:r>
              <a:rPr lang="ar-SA" altLang="en-US" sz="1300" b="1" dirty="0">
                <a:solidFill>
                  <a:srgbClr val="3E6350"/>
                </a:solidFill>
                <a:latin typeface="IBM Plex Sans Arabic"/>
                <a:cs typeface="IBM Plex Sans Arabic"/>
              </a:rPr>
              <a:t>نقاط المجموعات: </a:t>
            </a:r>
            <a:r>
              <a:rPr lang="ar-SA" altLang="en-US" sz="1200" dirty="0">
                <a:solidFill>
                  <a:srgbClr val="1C3328"/>
                </a:solidFill>
                <a:latin typeface="IBM Plex Sans Arabic"/>
                <a:cs typeface="IBM Plex Sans Arabic"/>
              </a:rPr>
              <a:t>كل إجابة صحيحة أو تعاون مميز نجمةٌ لفريقك، ونحتفي بالفريق الفائز في نهاية الحصة.</a:t>
            </a:r>
            <a:endParaRPr lang="ar-SA" sz="1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EDFAF2"/>
          </a:solidFill>
          <a:ln w="19050">
            <a:solidFill>
              <a:srgbClr val="CCF2DB"/>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5E7268"/>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5E7268"/>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1C3328"/>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D5E7DC"/>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فكّر  </a:t>
            </a:r>
            <a:r>
              <a:rPr lang="ar-SA" altLang="en-US" sz="1100" dirty="0">
                <a:solidFill>
                  <a:srgbClr val="5E7268"/>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D5E7DC"/>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زاوج  </a:t>
            </a:r>
            <a:r>
              <a:rPr lang="ar-SA" altLang="en-US" sz="1100" dirty="0">
                <a:solidFill>
                  <a:srgbClr val="5E7268"/>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D5E7DC"/>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3E6350"/>
                </a:solidFill>
                <a:latin typeface="IBM Plex Sans Arabic"/>
                <a:cs typeface="IBM Plex Sans Arabic"/>
              </a:rPr>
              <a:t>شارك  </a:t>
            </a:r>
            <a:r>
              <a:rPr lang="ar-SA" altLang="en-US" sz="1100" dirty="0">
                <a:solidFill>
                  <a:srgbClr val="5E7268"/>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267712"/>
            <a:ext cx="502920" cy="502920"/>
          </a:xfrm>
          <a:prstGeom prst="ellipse">
            <a:avLst/>
          </a:prstGeom>
          <a:solidFill>
            <a:srgbClr val="89D7AD"/>
          </a:solidFill>
          <a:ln w="12700">
            <a:solidFill>
              <a:srgbClr val="89D7AD"/>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D5E7DC"/>
            </a:solidFill>
            <a:prstDash val="dash"/>
          </a:ln>
        </p:spPr>
      </p:sp>
      <p:sp>
        <p:nvSpPr>
          <p:cNvPr id="13" name="Shape 13"/>
          <p:cNvSpPr/>
          <p:nvPr/>
        </p:nvSpPr>
        <p:spPr>
          <a:xfrm>
            <a:off x="6263640" y="4069080"/>
            <a:ext cx="2240280" cy="0"/>
          </a:xfrm>
          <a:prstGeom prst="line">
            <a:avLst/>
          </a:prstGeom>
          <a:noFill/>
          <a:ln w="9525">
            <a:solidFill>
              <a:srgbClr val="D5E7DC"/>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5" name="Circle 15"/>
          <p:cNvSpPr/>
          <p:nvPr/>
        </p:nvSpPr>
        <p:spPr>
          <a:xfrm>
            <a:off x="5189220" y="2267712"/>
            <a:ext cx="502920" cy="502920"/>
          </a:xfrm>
          <a:prstGeom prst="ellipse">
            <a:avLst/>
          </a:prstGeom>
          <a:solidFill>
            <a:srgbClr val="89D7AD"/>
          </a:solidFill>
          <a:ln w="12700">
            <a:solidFill>
              <a:srgbClr val="89D7AD"/>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D5E7DC"/>
            </a:solidFill>
            <a:prstDash val="dash"/>
          </a:ln>
        </p:spPr>
      </p:sp>
      <p:sp>
        <p:nvSpPr>
          <p:cNvPr id="20" name="Shape 20"/>
          <p:cNvSpPr/>
          <p:nvPr/>
        </p:nvSpPr>
        <p:spPr>
          <a:xfrm>
            <a:off x="3451860" y="4069080"/>
            <a:ext cx="2240280" cy="0"/>
          </a:xfrm>
          <a:prstGeom prst="line">
            <a:avLst/>
          </a:prstGeom>
          <a:noFill/>
          <a:ln w="9525">
            <a:solidFill>
              <a:srgbClr val="D5E7DC"/>
            </a:solidFill>
            <a:prstDash val="dash"/>
          </a:ln>
        </p:spPr>
      </p:sp>
      <p:sp>
        <p:nvSpPr>
          <p:cNvPr id="21" name="Card 21"/>
          <p:cNvSpPr/>
          <p:nvPr/>
        </p:nvSpPr>
        <p:spPr>
          <a:xfrm>
            <a:off x="457200" y="2103120"/>
            <a:ext cx="2606040" cy="23317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2" name="Circle 22"/>
          <p:cNvSpPr/>
          <p:nvPr/>
        </p:nvSpPr>
        <p:spPr>
          <a:xfrm>
            <a:off x="2377440" y="2267712"/>
            <a:ext cx="502920" cy="502920"/>
          </a:xfrm>
          <a:prstGeom prst="ellipse">
            <a:avLst/>
          </a:prstGeom>
          <a:solidFill>
            <a:srgbClr val="89D7AD"/>
          </a:solidFill>
          <a:ln w="12700">
            <a:solidFill>
              <a:srgbClr val="89D7AD"/>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3E6350"/>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E7268"/>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D5E7DC"/>
            </a:solidFill>
            <a:prstDash val="dash"/>
          </a:ln>
        </p:spPr>
      </p:sp>
      <p:sp>
        <p:nvSpPr>
          <p:cNvPr id="27" name="Shape 27"/>
          <p:cNvSpPr/>
          <p:nvPr/>
        </p:nvSpPr>
        <p:spPr>
          <a:xfrm>
            <a:off x="640080" y="4069080"/>
            <a:ext cx="2240280" cy="0"/>
          </a:xfrm>
          <a:prstGeom prst="line">
            <a:avLst/>
          </a:prstGeom>
          <a:noFill/>
          <a:ln w="9525">
            <a:solidFill>
              <a:srgbClr val="D5E7DC"/>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D5E7DC"/>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183880" y="2231136"/>
            <a:ext cx="402336" cy="402336"/>
          </a:xfrm>
          <a:prstGeom prst="ellipse">
            <a:avLst/>
          </a:prstGeom>
          <a:solidFill>
            <a:srgbClr val="3E6350"/>
          </a:solidFill>
          <a:ln w="12700">
            <a:solidFill>
              <a:srgbClr val="3E6350"/>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EDFAF2"/>
          </a:solidFill>
          <a:ln w="12700">
            <a:solidFill>
              <a:srgbClr val="CCF2DB"/>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8183880" y="3017520"/>
            <a:ext cx="402336" cy="402336"/>
          </a:xfrm>
          <a:prstGeom prst="ellipse">
            <a:avLst/>
          </a:prstGeom>
          <a:solidFill>
            <a:srgbClr val="3E6350"/>
          </a:solidFill>
          <a:ln w="12700">
            <a:solidFill>
              <a:srgbClr val="3E6350"/>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EDFAF2"/>
          </a:solidFill>
          <a:ln w="12700">
            <a:solidFill>
              <a:srgbClr val="CCF2DB"/>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5" name="Circle 25"/>
          <p:cNvSpPr/>
          <p:nvPr/>
        </p:nvSpPr>
        <p:spPr>
          <a:xfrm>
            <a:off x="8183880" y="3803904"/>
            <a:ext cx="402336" cy="402336"/>
          </a:xfrm>
          <a:prstGeom prst="ellipse">
            <a:avLst/>
          </a:prstGeom>
          <a:solidFill>
            <a:srgbClr val="3E6350"/>
          </a:solidFill>
          <a:ln w="12700">
            <a:solidFill>
              <a:srgbClr val="3E6350"/>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1C3328"/>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EDFAF2"/>
          </a:solidFill>
          <a:ln w="12700">
            <a:solidFill>
              <a:srgbClr val="CCF2DB"/>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3E6350"/>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1" name="Circle 31"/>
          <p:cNvSpPr/>
          <p:nvPr/>
        </p:nvSpPr>
        <p:spPr>
          <a:xfrm>
            <a:off x="1572768" y="2240280"/>
            <a:ext cx="502920" cy="502920"/>
          </a:xfrm>
          <a:prstGeom prst="ellipse">
            <a:avLst/>
          </a:prstGeom>
          <a:solidFill>
            <a:srgbClr val="89D7AD"/>
          </a:solidFill>
          <a:ln w="12700">
            <a:solidFill>
              <a:srgbClr val="89D7AD"/>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1C3328"/>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377440"/>
            <a:ext cx="502920" cy="502920"/>
          </a:xfrm>
          <a:prstGeom prst="ellipse">
            <a:avLst/>
          </a:prstGeom>
          <a:solidFill>
            <a:srgbClr val="89D7AD"/>
          </a:solidFill>
          <a:ln w="12700">
            <a:solidFill>
              <a:srgbClr val="89D7AD"/>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3794760" y="2377440"/>
            <a:ext cx="502920" cy="502920"/>
          </a:xfrm>
          <a:prstGeom prst="ellipse">
            <a:avLst/>
          </a:prstGeom>
          <a:solidFill>
            <a:srgbClr val="89D7AD"/>
          </a:solidFill>
          <a:ln w="12700">
            <a:solidFill>
              <a:srgbClr val="89D7AD"/>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8" name="Circle 18"/>
          <p:cNvSpPr/>
          <p:nvPr/>
        </p:nvSpPr>
        <p:spPr>
          <a:xfrm>
            <a:off x="8001000" y="3611880"/>
            <a:ext cx="502920" cy="502920"/>
          </a:xfrm>
          <a:prstGeom prst="ellipse">
            <a:avLst/>
          </a:prstGeom>
          <a:solidFill>
            <a:srgbClr val="89D7AD"/>
          </a:solidFill>
          <a:ln w="12700">
            <a:solidFill>
              <a:srgbClr val="89D7AD"/>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3" name="Circle 23"/>
          <p:cNvSpPr/>
          <p:nvPr/>
        </p:nvSpPr>
        <p:spPr>
          <a:xfrm>
            <a:off x="3794760" y="3611880"/>
            <a:ext cx="502920" cy="502920"/>
          </a:xfrm>
          <a:prstGeom prst="ellipse">
            <a:avLst/>
          </a:prstGeom>
          <a:solidFill>
            <a:srgbClr val="89D7AD"/>
          </a:solidFill>
          <a:ln w="12700">
            <a:solidFill>
              <a:srgbClr val="89D7AD"/>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3E6350"/>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1C3328"/>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89D7AD"/>
          </a:solidFill>
          <a:ln w="12700">
            <a:solidFill>
              <a:srgbClr val="89D7AD"/>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89D7AD"/>
          </a:solidFill>
          <a:ln w="12700">
            <a:solidFill>
              <a:srgbClr val="89D7AD"/>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89D7AD"/>
          </a:solidFill>
          <a:ln w="12700">
            <a:solidFill>
              <a:srgbClr val="89D7AD"/>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16301F"/>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1C3328"/>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89D7AD"/>
          </a:solidFill>
          <a:ln w="12700">
            <a:solidFill>
              <a:srgbClr val="89D7AD"/>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3E6350"/>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3E6350"/>
          </a:solidFill>
          <a:ln w="12700">
            <a:solidFill>
              <a:srgbClr val="3E6350"/>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89D7AD"/>
          </a:solidFill>
          <a:ln w="12700">
            <a:solidFill>
              <a:srgbClr val="89D7AD"/>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89D7AD"/>
          </a:solidFill>
          <a:ln w="12700">
            <a:solidFill>
              <a:srgbClr val="89D7AD"/>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txBody>
          <a:bodyPr wrap="square" lIns="1554480" tIns="0" rIns="731520" bIns="0" rtlCol="1" anchor="ctr"/>
          <a:lstStyle/>
          <a:p>
            <a:pPr rtl="1" algn="r">
              <a:buNone/>
            </a:pPr>
            <a:r>
              <a:rPr lang="ar-SA" altLang="en-US" sz="1500" dirty="0">
                <a:solidFill>
                  <a:srgbClr val="1C3328"/>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89D7AD"/>
          </a:solidFill>
          <a:ln w="12700">
            <a:solidFill>
              <a:srgbClr val="89D7AD"/>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301F"/>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001000" y="2240280"/>
            <a:ext cx="502920" cy="502920"/>
          </a:xfrm>
          <a:prstGeom prst="ellipse">
            <a:avLst/>
          </a:prstGeom>
          <a:solidFill>
            <a:srgbClr val="89D7AD"/>
          </a:solidFill>
          <a:ln w="12700">
            <a:solidFill>
              <a:srgbClr val="89D7AD"/>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3E6350"/>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1C3328"/>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EDFAF2"/>
          </a:solidFill>
          <a:ln w="12700">
            <a:solidFill>
              <a:srgbClr val="CCF2DB"/>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EDFAF2"/>
          </a:solidFill>
          <a:ln w="12700">
            <a:solidFill>
              <a:srgbClr val="CCF2DB"/>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EDFAF2"/>
          </a:solidFill>
          <a:ln w="12700">
            <a:solidFill>
              <a:srgbClr val="CCF2DB"/>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7" name="Circle 27"/>
          <p:cNvSpPr/>
          <p:nvPr/>
        </p:nvSpPr>
        <p:spPr>
          <a:xfrm>
            <a:off x="2450592" y="2194560"/>
            <a:ext cx="438912" cy="438912"/>
          </a:xfrm>
          <a:prstGeom prst="ellipse">
            <a:avLst/>
          </a:prstGeom>
          <a:solidFill>
            <a:srgbClr val="89D7AD"/>
          </a:solidFill>
          <a:ln w="12700">
            <a:solidFill>
              <a:srgbClr val="89D7AD"/>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2" name="Circle 32"/>
          <p:cNvSpPr/>
          <p:nvPr/>
        </p:nvSpPr>
        <p:spPr>
          <a:xfrm>
            <a:off x="941832" y="2194560"/>
            <a:ext cx="438912" cy="438912"/>
          </a:xfrm>
          <a:prstGeom prst="ellipse">
            <a:avLst/>
          </a:prstGeom>
          <a:solidFill>
            <a:srgbClr val="89D7AD"/>
          </a:solidFill>
          <a:ln w="12700">
            <a:solidFill>
              <a:srgbClr val="89D7AD"/>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37" name="Circle 37"/>
          <p:cNvSpPr/>
          <p:nvPr/>
        </p:nvSpPr>
        <p:spPr>
          <a:xfrm>
            <a:off x="2450592" y="3429000"/>
            <a:ext cx="438912" cy="438912"/>
          </a:xfrm>
          <a:prstGeom prst="ellipse">
            <a:avLst/>
          </a:prstGeom>
          <a:solidFill>
            <a:srgbClr val="89D7AD"/>
          </a:solidFill>
          <a:ln w="12700">
            <a:solidFill>
              <a:srgbClr val="89D7AD"/>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42" name="Circle 42"/>
          <p:cNvSpPr/>
          <p:nvPr/>
        </p:nvSpPr>
        <p:spPr>
          <a:xfrm>
            <a:off x="941832" y="3429000"/>
            <a:ext cx="438912" cy="438912"/>
          </a:xfrm>
          <a:prstGeom prst="ellipse">
            <a:avLst/>
          </a:prstGeom>
          <a:solidFill>
            <a:srgbClr val="89D7AD"/>
          </a:solidFill>
          <a:ln w="12700">
            <a:solidFill>
              <a:srgbClr val="89D7AD"/>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3E6350"/>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E7268"/>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457200">
                <a:tc>
                  <a:txBody>
                    <a:bodyPr/>
                    <a:lstStyle/>
                    <a:p>
                      <a:pPr rtl="1" algn="r"/>
                      <a:r>
                        <a:rPr lang="ar-SA" altLang="en-US" sz="1100" dirty="0">
                          <a:solidFill>
                            <a:srgbClr val="1C3328"/>
                          </a:solidFill>
                          <a:latin typeface="IBM Plex Sans Arabic"/>
                          <a:cs typeface="IBM Plex Sans Arabic"/>
                        </a:rPr>
                        <a:t>فيه أخطاء</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صحيح دون تبرير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صحيح ومبرَّر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صحة الحل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457200">
                <a:tc>
                  <a:txBody>
                    <a:bodyPr/>
                    <a:lstStyle/>
                    <a:p>
                      <a:pPr rtl="1" algn="r"/>
                      <a:r>
                        <a:rPr lang="ar-SA" altLang="en-US" sz="1100" dirty="0">
                          <a:solidFill>
                            <a:srgbClr val="1C3328"/>
                          </a:solidFill>
                          <a:latin typeface="IBM Plex Sans Arabic"/>
                          <a:cs typeface="IBM Plex Sans Arabic"/>
                        </a:rPr>
                        <a:t>غير واضح</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واضح وطويل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واضح ومنظّم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b="1" dirty="0">
                          <a:solidFill>
                            <a:srgbClr val="3E6350"/>
                          </a:solidFill>
                          <a:latin typeface="IBM Plex Sans Arabic"/>
                          <a:cs typeface="IBM Plex Sans Arabic"/>
                        </a:rPr>
                        <a:t>وضوح العرض</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457200">
                <a:tc>
                  <a:txBody>
                    <a:bodyPr/>
                    <a:lstStyle/>
                    <a:p>
                      <a:pPr rtl="1" algn="r"/>
                      <a:r>
                        <a:rPr lang="ar-SA" altLang="en-US" sz="1100" dirty="0">
                          <a:solidFill>
                            <a:srgbClr val="1C3328"/>
                          </a:solidFill>
                          <a:latin typeface="IBM Plex Sans Arabic"/>
                          <a:cs typeface="IBM Plex Sans Arabic"/>
                        </a:rPr>
                        <a:t>عمل فرد واحد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شارك أغلبهم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شارك الجميع بأدوارهم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التعاون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89D7AD"/>
          </a:solidFill>
          <a:ln w="12700">
            <a:solidFill>
              <a:srgbClr val="89D7AD"/>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89D7AD"/>
          </a:solidFill>
          <a:ln w="12700">
            <a:solidFill>
              <a:srgbClr val="89D7AD"/>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89D7AD"/>
          </a:solidFill>
          <a:ln w="12700">
            <a:solidFill>
              <a:srgbClr val="89D7AD"/>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89D7AD"/>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89D7AD"/>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A9BCB1"/>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89D7AD"/>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A9BCB1"/>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9" name="Circle 9"/>
          <p:cNvSpPr/>
          <p:nvPr/>
        </p:nvSpPr>
        <p:spPr>
          <a:xfrm>
            <a:off x="7452360" y="2468880"/>
            <a:ext cx="548640" cy="548640"/>
          </a:xfrm>
          <a:prstGeom prst="ellipse">
            <a:avLst/>
          </a:prstGeom>
          <a:solidFill>
            <a:srgbClr val="89D7AD"/>
          </a:solidFill>
          <a:ln w="12700">
            <a:solidFill>
              <a:srgbClr val="89D7AD"/>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4" name="Circle 14"/>
          <p:cNvSpPr/>
          <p:nvPr/>
        </p:nvSpPr>
        <p:spPr>
          <a:xfrm>
            <a:off x="5449824" y="2468880"/>
            <a:ext cx="548640" cy="548640"/>
          </a:xfrm>
          <a:prstGeom prst="ellipse">
            <a:avLst/>
          </a:prstGeom>
          <a:solidFill>
            <a:srgbClr val="89D7AD"/>
          </a:solidFill>
          <a:ln w="12700">
            <a:solidFill>
              <a:srgbClr val="89D7AD"/>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3447288" y="2468880"/>
            <a:ext cx="548640" cy="548640"/>
          </a:xfrm>
          <a:prstGeom prst="ellipse">
            <a:avLst/>
          </a:prstGeom>
          <a:solidFill>
            <a:srgbClr val="89D7AD"/>
          </a:solidFill>
          <a:ln w="12700">
            <a:solidFill>
              <a:srgbClr val="89D7AD"/>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4" name="Circle 24"/>
          <p:cNvSpPr/>
          <p:nvPr/>
        </p:nvSpPr>
        <p:spPr>
          <a:xfrm>
            <a:off x="1444752" y="2468880"/>
            <a:ext cx="548640" cy="548640"/>
          </a:xfrm>
          <a:prstGeom prst="ellipse">
            <a:avLst/>
          </a:prstGeom>
          <a:solidFill>
            <a:srgbClr val="89D7AD"/>
          </a:solidFill>
          <a:ln w="12700">
            <a:solidFill>
              <a:srgbClr val="89D7AD"/>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3E6350"/>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C3328"/>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110728" y="2240280"/>
            <a:ext cx="438912" cy="438912"/>
          </a:xfrm>
          <a:prstGeom prst="ellipse">
            <a:avLst/>
          </a:prstGeom>
          <a:solidFill>
            <a:srgbClr val="89D7AD"/>
          </a:solidFill>
          <a:ln w="12700">
            <a:solidFill>
              <a:srgbClr val="89D7AD"/>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9" name="Circle 19"/>
          <p:cNvSpPr/>
          <p:nvPr/>
        </p:nvSpPr>
        <p:spPr>
          <a:xfrm>
            <a:off x="6108192" y="2240280"/>
            <a:ext cx="438912" cy="438912"/>
          </a:xfrm>
          <a:prstGeom prst="ellipse">
            <a:avLst/>
          </a:prstGeom>
          <a:solidFill>
            <a:srgbClr val="89D7AD"/>
          </a:solidFill>
          <a:ln w="12700">
            <a:solidFill>
              <a:srgbClr val="89D7AD"/>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6" name="Circle 26"/>
          <p:cNvSpPr/>
          <p:nvPr/>
        </p:nvSpPr>
        <p:spPr>
          <a:xfrm>
            <a:off x="4105656" y="2240280"/>
            <a:ext cx="438912" cy="438912"/>
          </a:xfrm>
          <a:prstGeom prst="ellipse">
            <a:avLst/>
          </a:prstGeom>
          <a:solidFill>
            <a:srgbClr val="89D7AD"/>
          </a:solidFill>
          <a:ln w="12700">
            <a:solidFill>
              <a:srgbClr val="89D7AD"/>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3E6350"/>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E7268"/>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C3328"/>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3E6350"/>
          </a:solidFill>
          <a:ln w="12700">
            <a:solidFill>
              <a:srgbClr val="D5E7DC"/>
            </a:solidFill>
            <a:prstDash val="solid"/>
          </a:ln>
          <a:effectLst>
            <a:outerShdw blurRad="127000" dist="38100" dir="5400000" algn="bl" rotWithShape="0">
              <a:srgbClr val="3E6350">
                <a:alpha val="12000"/>
              </a:srgbClr>
            </a:outerShdw>
          </a:effectLst>
        </p:spPr>
      </p:sp>
      <p:sp>
        <p:nvSpPr>
          <p:cNvPr id="33" name="Circle 33"/>
          <p:cNvSpPr/>
          <p:nvPr/>
        </p:nvSpPr>
        <p:spPr>
          <a:xfrm>
            <a:off x="2103120" y="2240280"/>
            <a:ext cx="438912" cy="438912"/>
          </a:xfrm>
          <a:prstGeom prst="ellipse">
            <a:avLst/>
          </a:prstGeom>
          <a:solidFill>
            <a:srgbClr val="89D7AD"/>
          </a:solidFill>
          <a:ln w="12700">
            <a:solidFill>
              <a:srgbClr val="89D7AD"/>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9D7AD"/>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CCF2DB"/>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3E6350"/>
                </a:solidFill>
                <a:latin typeface="IBM Plex Sans Arabic"/>
                <a:cs typeface="IBM Plex Sans Arabic"/>
              </a:rPr>
              <a:t>أنهيت مهمتك؟ أكمل وحدك: </a:t>
            </a:r>
            <a:r>
              <a:rPr lang="ar-SA" altLang="en-US" sz="1200" dirty="0">
                <a:solidFill>
                  <a:srgbClr val="1C3328"/>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Circle 13"/>
          <p:cNvSpPr/>
          <p:nvPr/>
        </p:nvSpPr>
        <p:spPr>
          <a:xfrm>
            <a:off x="8092440" y="2194560"/>
            <a:ext cx="475488" cy="475488"/>
          </a:xfrm>
          <a:prstGeom prst="ellipse">
            <a:avLst/>
          </a:prstGeom>
          <a:solidFill>
            <a:srgbClr val="3E6350"/>
          </a:solidFill>
          <a:ln w="12700">
            <a:solidFill>
              <a:srgbClr val="3E6350"/>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7" name="Circle 17"/>
          <p:cNvSpPr/>
          <p:nvPr/>
        </p:nvSpPr>
        <p:spPr>
          <a:xfrm>
            <a:off x="8092440" y="2980944"/>
            <a:ext cx="475488" cy="475488"/>
          </a:xfrm>
          <a:prstGeom prst="ellipse">
            <a:avLst/>
          </a:prstGeom>
          <a:solidFill>
            <a:srgbClr val="3E6350"/>
          </a:solidFill>
          <a:ln w="12700">
            <a:solidFill>
              <a:srgbClr val="3E6350"/>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1" name="Circle 21"/>
          <p:cNvSpPr/>
          <p:nvPr/>
        </p:nvSpPr>
        <p:spPr>
          <a:xfrm>
            <a:off x="8092440" y="3767328"/>
            <a:ext cx="475488" cy="475488"/>
          </a:xfrm>
          <a:prstGeom prst="ellipse">
            <a:avLst/>
          </a:prstGeom>
          <a:solidFill>
            <a:srgbClr val="3E6350"/>
          </a:solidFill>
          <a:ln w="12700">
            <a:solidFill>
              <a:srgbClr val="3E6350"/>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1C3328"/>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5" name="Circle 25"/>
          <p:cNvSpPr/>
          <p:nvPr/>
        </p:nvSpPr>
        <p:spPr>
          <a:xfrm>
            <a:off x="1527048" y="2240280"/>
            <a:ext cx="502920" cy="502920"/>
          </a:xfrm>
          <a:prstGeom prst="ellipse">
            <a:avLst/>
          </a:prstGeom>
          <a:solidFill>
            <a:srgbClr val="89D7AD"/>
          </a:solidFill>
          <a:ln w="12700">
            <a:solidFill>
              <a:srgbClr val="89D7AD"/>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3E6350"/>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5E7268"/>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3E6350"/>
          </a:solidFill>
          <a:ln w="12700">
            <a:solidFill>
              <a:srgbClr val="3E6350"/>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9D7AD"/>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1C3328"/>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1C3328"/>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EDFAF2"/>
          </a:solidFill>
          <a:ln w="12700">
            <a:solidFill>
              <a:srgbClr val="CCF2DB"/>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3E6350"/>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3E6350"/>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3E6350"/>
          </a:solidFill>
          <a:ln w="12700">
            <a:solidFill>
              <a:srgbClr val="3E6350"/>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1C3328"/>
                </a:solidFill>
                <a:latin typeface="IBM Plex Sans Arabic"/>
                <a:cs typeface="IBM Plex Sans Arabic"/>
              </a:rPr>
              <a:t>أحتاج إلى مساعدة</a:t>
            </a:r>
            <a:endParaRPr lang="ar-SA" sz="13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لوحة نقاط المجموعات</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3E6350"/>
          </a:solidFill>
          <a:ln w="12700">
            <a:solidFill>
              <a:srgbClr val="3E6350"/>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3E6350"/>
          </a:solidFill>
          <a:ln w="12700">
            <a:solidFill>
              <a:srgbClr val="3E6350"/>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3E6350"/>
          </a:solidFill>
          <a:ln w="12700">
            <a:solidFill>
              <a:srgbClr val="3E6350"/>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3E6350"/>
          </a:solidFill>
          <a:ln w="12700">
            <a:solidFill>
              <a:srgbClr val="3E6350"/>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3E6350"/>
          </a:solidFill>
          <a:ln w="12700">
            <a:solidFill>
              <a:srgbClr val="3E6350"/>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3E6350"/>
          </a:solidFill>
          <a:ln w="12700">
            <a:solidFill>
              <a:srgbClr val="3E6350"/>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EDFAF2"/>
          </a:solidFill>
          <a:ln w="12700">
            <a:solidFill>
              <a:srgbClr val="CCF2DB"/>
            </a:solidFill>
            <a:prstDash val="solid"/>
          </a:ln>
        </p:spPr>
        <p:txBody>
          <a:bodyPr wrap="square" lIns="0" tIns="0" rIns="0" bIns="0" rtlCol="1" anchor="ctr"/>
          <a:lstStyle/>
          <a:p>
            <a:pPr rtl="1" algn="ctr">
              <a:buNone/>
            </a:pPr>
            <a:r>
              <a:rPr lang="ar-SA" altLang="en-US" sz="2000" b="1" dirty="0">
                <a:solidFill>
                  <a:srgbClr val="9DB5A8"/>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457200" y="4315968"/>
            <a:ext cx="8229600" cy="228600"/>
          </a:xfrm>
          <a:prstGeom prst="rect">
            <a:avLst/>
          </a:prstGeom>
          <a:noFill/>
        </p:spPr>
        <p:txBody>
          <a:bodyPr wrap="square" lIns="0" tIns="0" rIns="0" bIns="0" rtlCol="1" anchor="t"/>
          <a:lstStyle/>
          <a:p>
            <a:pPr rtl="1" algn="r" marL="0" indent="0">
              <a:buNone/>
            </a:pPr>
            <a:r>
              <a:rPr lang="ar-SA" altLang="en-US" sz="1000" dirty="0">
                <a:solidFill>
                  <a:srgbClr val="5E7268"/>
                </a:solidFill>
                <a:latin typeface="IBM Plex Sans Arabic"/>
                <a:cs typeface="IBM Plex Sans Arabic"/>
              </a:rPr>
              <a:t>انقر على النجمة الفارغة لتمتلئ.</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D5E7DC"/>
            </a:solidFill>
            <a:prstDash val="solid"/>
          </a:ln>
          <a:effectLst>
            <a:outerShdw blurRad="127000" dist="38100" dir="5400000" algn="bl" rotWithShape="0">
              <a:srgbClr val="3E6350">
                <a:alpha val="12000"/>
              </a:srgbClr>
            </a:outerShdw>
          </a:effectLst>
        </p:spPr>
      </p:sp>
      <p:sp>
        <p:nvSpPr>
          <p:cNvPr id="8" name="Circle 8"/>
          <p:cNvSpPr/>
          <p:nvPr/>
        </p:nvSpPr>
        <p:spPr>
          <a:xfrm>
            <a:off x="8001000" y="2240280"/>
            <a:ext cx="502920" cy="502920"/>
          </a:xfrm>
          <a:prstGeom prst="ellipse">
            <a:avLst/>
          </a:prstGeom>
          <a:solidFill>
            <a:srgbClr val="89D7AD"/>
          </a:solidFill>
          <a:ln w="12700">
            <a:solidFill>
              <a:srgbClr val="89D7AD"/>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3E6350"/>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المهمة:  </a:t>
            </a:r>
            <a:r>
              <a:rPr lang="ar-SA" altLang="en-US" sz="1300" dirty="0">
                <a:solidFill>
                  <a:srgbClr val="1C3328"/>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المنصة:  </a:t>
            </a:r>
            <a:r>
              <a:rPr lang="ar-SA" altLang="en-US" sz="1300" dirty="0">
                <a:solidFill>
                  <a:srgbClr val="1C3328"/>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التسليم:  </a:t>
            </a:r>
            <a:r>
              <a:rPr lang="ar-SA" altLang="en-US" sz="1300" dirty="0">
                <a:solidFill>
                  <a:srgbClr val="1C3328"/>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3E6350"/>
                </a:solidFill>
                <a:latin typeface="IBM Plex Sans Arabic"/>
                <a:cs typeface="IBM Plex Sans Arabic"/>
              </a:rPr>
              <a:t>التقييم:  </a:t>
            </a:r>
            <a:r>
              <a:rPr lang="ar-SA" altLang="en-US" sz="1300" dirty="0">
                <a:solidFill>
                  <a:srgbClr val="1C3328"/>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16" name="Circle 16"/>
          <p:cNvSpPr/>
          <p:nvPr/>
        </p:nvSpPr>
        <p:spPr>
          <a:xfrm>
            <a:off x="2697480" y="2258568"/>
            <a:ext cx="457200" cy="457200"/>
          </a:xfrm>
          <a:prstGeom prst="ellipse">
            <a:avLst/>
          </a:prstGeom>
          <a:solidFill>
            <a:srgbClr val="89D7AD"/>
          </a:solidFill>
          <a:ln w="12700">
            <a:solidFill>
              <a:srgbClr val="89D7AD"/>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3E6350"/>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EDFAF2"/>
          </a:solidFill>
          <a:ln w="12700">
            <a:solidFill>
              <a:srgbClr val="D5E7DC"/>
            </a:solidFill>
            <a:prstDash val="solid"/>
          </a:ln>
          <a:effectLst>
            <a:outerShdw blurRad="127000" dist="38100" dir="5400000" algn="bl" rotWithShape="0">
              <a:srgbClr val="3E6350">
                <a:alpha val="12000"/>
              </a:srgbClr>
            </a:outerShdw>
          </a:effectLst>
        </p:spPr>
      </p:sp>
      <p:sp>
        <p:nvSpPr>
          <p:cNvPr id="21" name="Circle 21"/>
          <p:cNvSpPr/>
          <p:nvPr/>
        </p:nvSpPr>
        <p:spPr>
          <a:xfrm>
            <a:off x="2697480" y="3474720"/>
            <a:ext cx="457200" cy="457200"/>
          </a:xfrm>
          <a:prstGeom prst="ellipse">
            <a:avLst/>
          </a:prstGeom>
          <a:solidFill>
            <a:srgbClr val="89D7AD"/>
          </a:solidFill>
          <a:ln w="12700">
            <a:solidFill>
              <a:srgbClr val="89D7AD"/>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3E6350"/>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5E7268"/>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89D7AD"/>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A9BCB1"/>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2"/>
          <p:cNvSpPr txBox="1"/>
          <p:nvPr/>
        </p:nvSpPr>
        <p:spPr>
          <a:xfrm>
            <a:off x="4754880" y="1097280"/>
            <a:ext cx="3931920" cy="1463040"/>
          </a:xfrm>
          <a:prstGeom prst="rect">
            <a:avLst/>
          </a:prstGeom>
          <a:noFill/>
        </p:spPr>
        <p:txBody>
          <a:bodyPr wrap="square" lIns="0" tIns="0" rIns="0" bIns="0" rtlCol="1" anchor="ctr"/>
          <a:lstStyle/>
          <a:p>
            <a:pPr rtl="1" algn="r" marL="0" indent="0">
              <a:buNone/>
            </a:pPr>
            <a:r>
              <a:rPr lang="ar-SA" altLang="en-US" sz="11000" b="1" dirty="0">
                <a:solidFill>
                  <a:srgbClr val="89D7AD"/>
                </a:solidFill>
                <a:latin typeface="IBM Plex Sans Arabic"/>
                <a:cs typeface="IBM Plex Sans Arabic"/>
              </a:rPr>
              <a:t>50</a:t>
            </a:r>
            <a:endParaRPr lang="ar-SA" sz="11000" dirty="0"/>
          </a:p>
        </p:txBody>
      </p:sp>
      <p:sp>
        <p:nvSpPr>
          <p:cNvPr id="3" name="Text 3"/>
          <p:cNvSpPr txBox="1"/>
          <p:nvPr/>
        </p:nvSpPr>
        <p:spPr>
          <a:xfrm>
            <a:off x="457200" y="2697480"/>
            <a:ext cx="8229600" cy="365760"/>
          </a:xfrm>
          <a:prstGeom prst="rect">
            <a:avLst/>
          </a:prstGeom>
          <a:noFill/>
        </p:spPr>
        <p:txBody>
          <a:bodyPr wrap="square" lIns="0" tIns="0" rIns="0" bIns="0" rtlCol="1" anchor="t"/>
          <a:lstStyle/>
          <a:p>
            <a:pPr rtl="1" algn="r" marL="0" indent="0">
              <a:buNone/>
            </a:pPr>
            <a:r>
              <a:rPr lang="ar-SA" altLang="en-US" sz="1600" b="1" dirty="0">
                <a:solidFill>
                  <a:srgbClr val="D9B45A"/>
                </a:solidFill>
                <a:latin typeface="IBM Plex Sans Arabic"/>
                <a:cs typeface="IBM Plex Sans Arabic"/>
              </a:rPr>
              <a:t>ملحق للمعلم — شرائح مخفية لا تظهر أثناء العرض</a:t>
            </a:r>
            <a:endParaRPr lang="ar-SA" sz="1600" dirty="0"/>
          </a:p>
        </p:txBody>
      </p:sp>
      <p:sp>
        <p:nvSpPr>
          <p:cNvPr id="4" name="Text 4"/>
          <p:cNvSpPr txBox="1"/>
          <p:nvPr/>
        </p:nvSpPr>
        <p:spPr>
          <a:xfrm>
            <a:off x="457200" y="3063240"/>
            <a:ext cx="8229600" cy="640080"/>
          </a:xfrm>
          <a:prstGeom prst="rect">
            <a:avLst/>
          </a:prstGeom>
          <a:noFill/>
        </p:spPr>
        <p:txBody>
          <a:bodyPr wrap="square" lIns="0" tIns="0" rIns="0" bIns="0" rtlCol="1" anchor="t"/>
          <a:lstStyle/>
          <a:p>
            <a:pPr rtl="1" algn="r" marL="0" indent="0">
              <a:buNone/>
            </a:pPr>
            <a:r>
              <a:rPr lang="ar-SA" altLang="en-US" sz="3600" b="1" dirty="0">
                <a:solidFill>
                  <a:srgbClr val="FFFFFF"/>
                </a:solidFill>
                <a:latin typeface="IBM Plex Sans Arabic"/>
                <a:cs typeface="IBM Plex Sans Arabic"/>
              </a:rPr>
              <a:t>دليل الحصة النموذجية</a:t>
            </a:r>
            <a:endParaRPr lang="ar-SA" sz="3600" dirty="0"/>
          </a:p>
        </p:txBody>
      </p:sp>
      <p:sp>
        <p:nvSpPr>
          <p:cNvPr id="5" name="Text 5"/>
          <p:cNvSpPr txBox="1"/>
          <p:nvPr/>
        </p:nvSpPr>
        <p:spPr>
          <a:xfrm>
            <a:off x="457200" y="3749040"/>
            <a:ext cx="8229600" cy="365760"/>
          </a:xfrm>
          <a:prstGeom prst="rect">
            <a:avLst/>
          </a:prstGeom>
          <a:noFill/>
        </p:spPr>
        <p:txBody>
          <a:bodyPr wrap="square" lIns="0" tIns="0" rIns="0" bIns="0" rtlCol="1" anchor="t"/>
          <a:lstStyle/>
          <a:p>
            <a:pPr rtl="1" algn="r" marL="0" indent="0">
              <a:buNone/>
            </a:pPr>
            <a:r>
              <a:rPr lang="ar-SA" altLang="en-US" sz="1500" dirty="0">
                <a:solidFill>
                  <a:srgbClr val="A9BCB1"/>
                </a:solidFill>
                <a:latin typeface="IBM Plex Sans Arabic"/>
                <a:cs typeface="IBM Plex Sans Arabic"/>
              </a:rPr>
              <a:t>راجعه قبل الزيارة، ويمكنك حذفه بعد الاطلاع.</a:t>
            </a:r>
            <a:endParaRPr lang="ar-SA" sz="15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دليل التفاعل</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ما الذي يتحرك في العرض؟</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457200" y="2011680"/>
          <a:ext cx="8229600" cy="2194560"/>
        </p:xfrm>
        <a:graphic>
          <a:graphicData uri="http://schemas.openxmlformats.org/drawingml/2006/table">
            <a:tbl>
              <a:tblPr rtl="1" firstRow="1" bandRow="1"/>
              <a:tblGrid>
                <a:gridCol w="2286000"/>
                <a:gridCol w="3931920"/>
                <a:gridCol w="2011680"/>
              </a:tblGrid>
              <a:tr h="274320">
                <a:tc>
                  <a:txBody>
                    <a:bodyPr/>
                    <a:lstStyle/>
                    <a:p>
                      <a:pPr rtl="1" algn="ctr"/>
                      <a:r>
                        <a:rPr lang="ar-SA" altLang="en-US" sz="1000" b="1" dirty="0">
                          <a:solidFill>
                            <a:srgbClr val="FFFFFF"/>
                          </a:solidFill>
                          <a:latin typeface="IBM Plex Sans Arabic"/>
                          <a:cs typeface="IBM Plex Sans Arabic"/>
                        </a:rPr>
                        <a:t>أين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كيف يعمل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العنصر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274320">
                <a:tc>
                  <a:txBody>
                    <a:bodyPr/>
                    <a:lstStyle/>
                    <a:p>
                      <a:pPr rtl="1" algn="r"/>
                      <a:r>
                        <a:rPr lang="ar-SA" altLang="en-US" sz="1000" b="1" dirty="0">
                          <a:solidFill>
                            <a:srgbClr val="3E6350"/>
                          </a:solidFill>
                          <a:latin typeface="IBM Plex Sans Arabic"/>
                          <a:cs typeface="IBM Plex Sans Arabic"/>
                        </a:rPr>
                        <a:t>كل شريحة مرحلة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انقر شارة الزمن: شريط يتناقص ثم «انتهى الوقت» وجرس</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المؤقت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74320">
                <a:tc>
                  <a:txBody>
                    <a:bodyPr/>
                    <a:lstStyle/>
                    <a:p>
                      <a:pPr rtl="1" algn="r"/>
                      <a:r>
                        <a:rPr lang="ar-SA" altLang="en-US" sz="1000" b="1" dirty="0">
                          <a:solidFill>
                            <a:srgbClr val="3E6350"/>
                          </a:solidFill>
                          <a:latin typeface="IBM Plex Sans Arabic"/>
                          <a:cs typeface="IBM Plex Sans Arabic"/>
                        </a:rPr>
                        <a:t>خريطة الحصة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انقر مرحلة في الخريطة، أو شارة المرحلة للعودة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التنقل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74320">
                <a:tc>
                  <a:txBody>
                    <a:bodyPr/>
                    <a:lstStyle/>
                    <a:p>
                      <a:pPr rtl="1" algn="r"/>
                      <a:r>
                        <a:rPr lang="ar-SA" altLang="en-US" sz="1000" b="1" dirty="0">
                          <a:solidFill>
                            <a:srgbClr val="3E6350"/>
                          </a:solidFill>
                          <a:latin typeface="IBM Plex Sans Arabic"/>
                          <a:cs typeface="IBM Plex Sans Arabic"/>
                        </a:rPr>
                        <a:t>الشرح بالمثال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تظهر خطوة بخطوة بالنقر أو السهم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خطوات المثال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74320">
                <a:tc>
                  <a:txBody>
                    <a:bodyPr/>
                    <a:lstStyle/>
                    <a:p>
                      <a:pPr rtl="1" algn="r"/>
                      <a:r>
                        <a:rPr lang="ar-SA" altLang="en-US" sz="1000" b="1" dirty="0">
                          <a:solidFill>
                            <a:srgbClr val="3E6350"/>
                          </a:solidFill>
                          <a:latin typeface="IBM Plex Sans Arabic"/>
                          <a:cs typeface="IBM Plex Sans Arabic"/>
                        </a:rPr>
                        <a:t>تحقّق من فهمك</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انقر الخيار: أخضر بنغمة صاعدة، أحمر بنغمة هابطة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كشف الإجابة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74320">
                <a:tc>
                  <a:txBody>
                    <a:bodyPr/>
                    <a:lstStyle/>
                    <a:p>
                      <a:pPr rtl="1" algn="r"/>
                      <a:r>
                        <a:rPr lang="ar-SA" altLang="en-US" sz="1000" b="1" dirty="0">
                          <a:solidFill>
                            <a:srgbClr val="3E6350"/>
                          </a:solidFill>
                          <a:latin typeface="IBM Plex Sans Arabic"/>
                          <a:cs typeface="IBM Plex Sans Arabic"/>
                        </a:rPr>
                        <a:t>سؤال التفكير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نقرة: انتظار 5 ثوانٍ ثم تظهر الخطوات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وقت التفكير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74320">
                <a:tc>
                  <a:txBody>
                    <a:bodyPr/>
                    <a:lstStyle/>
                    <a:p>
                      <a:pPr rtl="1" algn="r"/>
                      <a:r>
                        <a:rPr lang="ar-SA" altLang="en-US" sz="1000" b="1" dirty="0">
                          <a:solidFill>
                            <a:srgbClr val="3E6350"/>
                          </a:solidFill>
                          <a:latin typeface="IBM Plex Sans Arabic"/>
                          <a:cs typeface="IBM Plex Sans Arabic"/>
                        </a:rPr>
                        <a:t>لوحة النقاط</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انقر النجمة الفارغة فتمتلئ</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نقاط المجموعات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74320">
                <a:tc>
                  <a:txBody>
                    <a:bodyPr/>
                    <a:lstStyle/>
                    <a:p>
                      <a:pPr rtl="1" algn="r"/>
                      <a:r>
                        <a:rPr lang="ar-SA" altLang="en-US" sz="1000" b="1" dirty="0">
                          <a:solidFill>
                            <a:srgbClr val="3E6350"/>
                          </a:solidFill>
                          <a:latin typeface="IBM Plex Sans Arabic"/>
                          <a:cs typeface="IBM Plex Sans Arabic"/>
                        </a:rPr>
                        <a:t>الخلاصة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زر في الخلاصة يذهب إليه، وزر «رجوع» يعيدك</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جدول ماذا نعرف</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bl>
          </a:graphicData>
        </a:graphic>
      </p:graphicFrame>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منصة الهيئة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بنود الملاحظة الصفية (1 من 3)</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457200" y="2011680"/>
          <a:ext cx="8229600" cy="2423160"/>
        </p:xfrm>
        <a:graphic>
          <a:graphicData uri="http://schemas.openxmlformats.org/drawingml/2006/table">
            <a:tbl>
              <a:tblPr rtl="1" firstRow="1" bandRow="1"/>
              <a:tblGrid>
                <a:gridCol w="4023360"/>
                <a:gridCol w="3794760"/>
                <a:gridCol w="411480"/>
              </a:tblGrid>
              <a:tr h="242316">
                <a:tc>
                  <a:txBody>
                    <a:bodyPr/>
                    <a:lstStyle/>
                    <a:p>
                      <a:pPr rtl="1" algn="ctr"/>
                      <a:r>
                        <a:rPr lang="ar-SA" altLang="en-US" sz="1000" b="1" dirty="0">
                          <a:solidFill>
                            <a:srgbClr val="FFFFFF"/>
                          </a:solidFill>
                          <a:latin typeface="IBM Plex Sans Arabic"/>
                          <a:cs typeface="IBM Plex Sans Arabic"/>
                        </a:rPr>
                        <a:t>أين يتحقق في القالب</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بند الاستمارة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242316">
                <a:tc>
                  <a:txBody>
                    <a:bodyPr/>
                    <a:lstStyle/>
                    <a:p>
                      <a:pPr rtl="1" algn="r"/>
                      <a:r>
                        <a:rPr lang="ar-SA" altLang="en-US" sz="1000" dirty="0">
                          <a:solidFill>
                            <a:srgbClr val="1C3328"/>
                          </a:solidFill>
                          <a:latin typeface="IBM Plex Sans Arabic"/>
                          <a:cs typeface="IBM Plex Sans Arabic"/>
                        </a:rPr>
                        <a:t>قيمة أعتز بها، ووطني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تعزيز القيم الإسلامية والهوية الوطنية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الاتفاقات، و«الخطأ فرصة للتعلم»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مناخ آمن للتعلم نفسيًا واجتماعيًا</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2</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مصادر حسية، و«ادعمني» و«تحدَّ»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مصادر وأنشطة متنوعة لذوي الإعاقة والموهوبين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3</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خريطة الحصة، وشارة الزمن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إدارة الوقت بفاعلية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4</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الأدوار، والإجابة الجماعية، والاختيار العشوائي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فرص متكافئة في الأنشطة والمناقشة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5</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التهيئة، والمفاهيم، وأوراق العمل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مصادر تعلم متنوعة تدعم المنهج</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6</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الأهداف، والشرح بالمثال، والتعاوني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أنشطة وإستراتيجيات تستوفي نواتج التعلم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7</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ماذا نعرف؟، والمسارات الأربعة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تنوع الإستراتيجيات وفق القدرات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8</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الاستجابة الرقمية، وQR، وبحث «تحدَّ»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مصادر تعلم رقمية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9</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bl>
          </a:graphicData>
        </a:graphic>
      </p:graphicFrame>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منصة الهيئة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بنود الملاحظة الصفية (2 من 3)</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457200" y="2011680"/>
          <a:ext cx="8229600" cy="2180844"/>
        </p:xfrm>
        <a:graphic>
          <a:graphicData uri="http://schemas.openxmlformats.org/drawingml/2006/table">
            <a:tbl>
              <a:tblPr rtl="1" firstRow="1" bandRow="1"/>
              <a:tblGrid>
                <a:gridCol w="4023360"/>
                <a:gridCol w="3794760"/>
                <a:gridCol w="411480"/>
              </a:tblGrid>
              <a:tr h="242316">
                <a:tc>
                  <a:txBody>
                    <a:bodyPr/>
                    <a:lstStyle/>
                    <a:p>
                      <a:pPr rtl="1" algn="ctr"/>
                      <a:r>
                        <a:rPr lang="ar-SA" altLang="en-US" sz="1000" b="1" dirty="0">
                          <a:solidFill>
                            <a:srgbClr val="FFFFFF"/>
                          </a:solidFill>
                          <a:latin typeface="IBM Plex Sans Arabic"/>
                          <a:cs typeface="IBM Plex Sans Arabic"/>
                        </a:rPr>
                        <a:t>أين يتحقق في القالب</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بند الاستمارة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242316">
                <a:tc>
                  <a:txBody>
                    <a:bodyPr/>
                    <a:lstStyle/>
                    <a:p>
                      <a:pPr rtl="1" algn="r"/>
                      <a:r>
                        <a:rPr lang="ar-SA" altLang="en-US" sz="1000" dirty="0">
                          <a:solidFill>
                            <a:srgbClr val="1C3328"/>
                          </a:solidFill>
                          <a:latin typeface="IBM Plex Sans Arabic"/>
                          <a:cs typeface="IBM Plex Sans Arabic"/>
                        </a:rPr>
                        <a:t>في حياتي، ومهمة المجموعة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تطبيقات عملية ترتبط بالحياة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10</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مهمة المجموعة، وبطاقة الخروج</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تنمية القراءة والكتابة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11</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مهمة المجموعة (احسبوا أو نظّموا في جدول)</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تنمية المهارات العددية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12</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سؤال التفكير، و«تحدَّ»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التفكير والبحث والابتكار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13</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التعاوني، وتقويم الأقران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المهارات العاطفية والاجتماعية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14</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نقاط المجموعات، والاحتفاء بالفائز</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أساليب تحفيز تعزز الدافعية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15</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الحصة كلها: أدوار وتعاون وتحدٍّ</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مشاركة فاعلة واستمتاع بالتعلم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16</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ماذا نعرف؟، والتحقق، والخروج</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تقويم تشخيصي وبنائي وختامي يكشف الفروق</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17</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منصة الهيئة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بنود الملاحظة الصفية (3 من 3)</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457200" y="2011680"/>
          <a:ext cx="8229600" cy="2180844"/>
        </p:xfrm>
        <a:graphic>
          <a:graphicData uri="http://schemas.openxmlformats.org/drawingml/2006/table">
            <a:tbl>
              <a:tblPr rtl="1" firstRow="1" bandRow="1"/>
              <a:tblGrid>
                <a:gridCol w="4023360"/>
                <a:gridCol w="3794760"/>
                <a:gridCol w="411480"/>
              </a:tblGrid>
              <a:tr h="242316">
                <a:tc>
                  <a:txBody>
                    <a:bodyPr/>
                    <a:lstStyle/>
                    <a:p>
                      <a:pPr rtl="1" algn="ctr"/>
                      <a:r>
                        <a:rPr lang="ar-SA" altLang="en-US" sz="1000" b="1" dirty="0">
                          <a:solidFill>
                            <a:srgbClr val="FFFFFF"/>
                          </a:solidFill>
                          <a:latin typeface="IBM Plex Sans Arabic"/>
                          <a:cs typeface="IBM Plex Sans Arabic"/>
                        </a:rPr>
                        <a:t>أين يتحقق في القالب</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بند الاستمارة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000" b="1" dirty="0">
                          <a:solidFill>
                            <a:srgbClr val="FFFFFF"/>
                          </a:solidFill>
                          <a:latin typeface="IBM Plex Sans Arabic"/>
                          <a:cs typeface="IBM Plex Sans Arabic"/>
                        </a:rPr>
                        <a:t>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242316">
                <a:tc>
                  <a:txBody>
                    <a:bodyPr/>
                    <a:lstStyle/>
                    <a:p>
                      <a:pPr rtl="1" algn="r"/>
                      <a:r>
                        <a:rPr lang="ar-SA" altLang="en-US" sz="1000" dirty="0">
                          <a:solidFill>
                            <a:srgbClr val="1C3328"/>
                          </a:solidFill>
                          <a:latin typeface="IBM Plex Sans Arabic"/>
                          <a:cs typeface="IBM Plex Sans Arabic"/>
                        </a:rPr>
                        <a:t>بطاقة الخروج، ومعايير النجاح</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قياس تحقق نواتج التعلم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18</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التجوال، و«نجمتان وأمنية»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تغذية راجعة متنوعة تحسّن الأداء</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19</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الطالب يُكمل: قيمة أعتز بها، ووطني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الطلاب يعتزون بالقيم والهوية الوطنية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20</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«أفخر اليوم بأنني»، و«أعجبني في عرضكم»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اتجاهات إيجابية نحو الذات والآخرين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21</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«نحافظ على صحتنا» في الاتفاقات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الالتزام بالممارسات الصحية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22</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الاتفاقات الصفية، وإشارة الصمت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الالتزام بقواعد السلوك والانضباط</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23</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242316">
                <a:tc>
                  <a:txBody>
                    <a:bodyPr/>
                    <a:lstStyle/>
                    <a:p>
                      <a:pPr rtl="1" algn="r"/>
                      <a:r>
                        <a:rPr lang="ar-SA" altLang="en-US" sz="1000" dirty="0">
                          <a:solidFill>
                            <a:srgbClr val="1C3328"/>
                          </a:solidFill>
                          <a:latin typeface="IBM Plex Sans Arabic"/>
                          <a:cs typeface="IBM Plex Sans Arabic"/>
                        </a:rPr>
                        <a:t>اختيار المسار، و«أكمل وحدك»</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dirty="0">
                          <a:solidFill>
                            <a:srgbClr val="1C3328"/>
                          </a:solidFill>
                          <a:latin typeface="IBM Plex Sans Arabic"/>
                          <a:cs typeface="IBM Plex Sans Arabic"/>
                        </a:rPr>
                        <a:t>الاستقلالية والتعلم الذاتي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000" b="1" dirty="0">
                          <a:solidFill>
                            <a:srgbClr val="3E6350"/>
                          </a:solidFill>
                          <a:latin typeface="IBM Plex Sans Arabic"/>
                          <a:cs typeface="IBM Plex Sans Arabic"/>
                        </a:rPr>
                        <a:t>24</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242316">
                <a:tc>
                  <a:txBody>
                    <a:bodyPr/>
                    <a:lstStyle/>
                    <a:p>
                      <a:pPr rtl="1" algn="r"/>
                      <a:r>
                        <a:rPr lang="ar-SA" altLang="en-US" sz="1000" dirty="0">
                          <a:solidFill>
                            <a:srgbClr val="1C3328"/>
                          </a:solidFill>
                          <a:latin typeface="IBM Plex Sans Arabic"/>
                          <a:cs typeface="IBM Plex Sans Arabic"/>
                        </a:rPr>
                        <a:t>الطالب يُكمل: ثقافات العالم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dirty="0">
                          <a:solidFill>
                            <a:srgbClr val="1C3328"/>
                          </a:solidFill>
                          <a:latin typeface="IBM Plex Sans Arabic"/>
                          <a:cs typeface="IBM Plex Sans Arabic"/>
                        </a:rPr>
                        <a:t>الاعتزاز بالثقافة واحترام التنوع الثقافي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000" b="1" dirty="0">
                          <a:solidFill>
                            <a:srgbClr val="3E6350"/>
                          </a:solidFill>
                          <a:latin typeface="IBM Plex Sans Arabic"/>
                          <a:cs typeface="IBM Plex Sans Arabic"/>
                        </a:rPr>
                        <a:t>25</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9D7AD"/>
          </a:solidFill>
          <a:ln w="12700">
            <a:solidFill>
              <a:srgbClr val="89D7AD"/>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301F"/>
                </a:solidFill>
                <a:latin typeface="IBM Plex Sans Arabic"/>
                <a:cs typeface="IBM Plex Sans Arabic"/>
              </a:rPr>
              <a:t>حسب المادة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C3328"/>
                </a:solidFill>
                <a:latin typeface="IBM Plex Sans Arabic"/>
                <a:cs typeface="IBM Plex Sans Arabic"/>
              </a:rPr>
              <a:t>اختر ما يناسب مادتك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E7268"/>
                </a:solidFill>
                <a:latin typeface="IBM Plex Sans Arabic"/>
                <a:cs typeface="IBM Plex Sans Arabic"/>
              </a:rPr>
              <a:t>‹#›</a:t>
            </a:fld>
          </a:p>
        </p:txBody>
      </p:sp>
      <p:graphicFrame>
        <p:nvGraphicFramePr>
          <p:cNvPr id="7" name="Table 7"/>
          <p:cNvGraphicFramePr>
            <a:graphicFrameLocks noGrp="1"/>
          </p:cNvGraphicFramePr>
          <p:nvPr/>
        </p:nvGraphicFramePr>
        <p:xfrm>
          <a:off x="457200" y="2029968"/>
          <a:ext cx="8229600" cy="2414016"/>
        </p:xfrm>
        <a:graphic>
          <a:graphicData uri="http://schemas.openxmlformats.org/drawingml/2006/table">
            <a:tbl>
              <a:tblPr rtl="1" firstRow="1" bandRow="1"/>
              <a:tblGrid>
                <a:gridCol w="1828800"/>
                <a:gridCol w="2651760"/>
                <a:gridCol w="2011680"/>
                <a:gridCol w="1737360"/>
              </a:tblGrid>
              <a:tr h="301752">
                <a:tc>
                  <a:txBody>
                    <a:bodyPr/>
                    <a:lstStyle/>
                    <a:p>
                      <a:pPr rtl="1" algn="ctr"/>
                      <a:r>
                        <a:rPr lang="ar-SA" altLang="en-US" sz="1100" b="1" dirty="0">
                          <a:solidFill>
                            <a:srgbClr val="FFFFFF"/>
                          </a:solidFill>
                          <a:latin typeface="IBM Plex Sans Arabic"/>
                          <a:cs typeface="IBM Plex Sans Arabic"/>
                        </a:rPr>
                        <a:t>تقويم سريع</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نشاط تعلّم نشط</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تهيئة مقترحة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c>
                  <a:txBody>
                    <a:bodyPr/>
                    <a:lstStyle/>
                    <a:p>
                      <a:pPr rtl="1" algn="ctr"/>
                      <a:r>
                        <a:rPr lang="ar-SA" altLang="en-US" sz="1100" b="1" dirty="0">
                          <a:solidFill>
                            <a:srgbClr val="FFFFFF"/>
                          </a:solidFill>
                          <a:latin typeface="IBM Plex Sans Arabic"/>
                          <a:cs typeface="IBM Plex Sans Arabic"/>
                        </a:rPr>
                        <a:t>المادة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3E6350"/>
                    </a:solidFill>
                  </a:tcPr>
                </a:tc>
              </a:tr>
              <a:tr h="301752">
                <a:tc>
                  <a:txBody>
                    <a:bodyPr/>
                    <a:lstStyle/>
                    <a:p>
                      <a:pPr rtl="1" algn="r"/>
                      <a:r>
                        <a:rPr lang="ar-SA" altLang="en-US" sz="1100" dirty="0">
                          <a:solidFill>
                            <a:srgbClr val="1C3328"/>
                          </a:solidFill>
                          <a:latin typeface="IBM Plex Sans Arabic"/>
                          <a:cs typeface="IBM Plex Sans Arabic"/>
                        </a:rPr>
                        <a:t>لوح الإجابات الصغير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حل مشكلات بالأزواج، محطات تعلم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لغز أو نمط عددي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الرياضيات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301752">
                <a:tc>
                  <a:txBody>
                    <a:bodyPr/>
                    <a:lstStyle/>
                    <a:p>
                      <a:pPr rtl="1" algn="r"/>
                      <a:r>
                        <a:rPr lang="ar-SA" altLang="en-US" sz="1100" dirty="0">
                          <a:solidFill>
                            <a:srgbClr val="1C3328"/>
                          </a:solidFill>
                          <a:latin typeface="IBM Plex Sans Arabic"/>
                          <a:cs typeface="IBM Plex Sans Arabic"/>
                        </a:rPr>
                        <a:t>توقّع، لاحظ، فسّر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استقصاء موجّه، مختبر افتراضي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تجربة أو ظاهرة مثيرة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b="1" dirty="0">
                          <a:solidFill>
                            <a:srgbClr val="3E6350"/>
                          </a:solidFill>
                          <a:latin typeface="IBM Plex Sans Arabic"/>
                          <a:cs typeface="IBM Plex Sans Arabic"/>
                        </a:rPr>
                        <a:t>العلوم</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301752">
                <a:tc>
                  <a:txBody>
                    <a:bodyPr/>
                    <a:lstStyle/>
                    <a:p>
                      <a:pPr rtl="1" algn="r"/>
                      <a:r>
                        <a:rPr lang="ar-SA" altLang="en-US" sz="1100" dirty="0">
                          <a:solidFill>
                            <a:srgbClr val="1C3328"/>
                          </a:solidFill>
                          <a:latin typeface="IBM Plex Sans Arabic"/>
                          <a:cs typeface="IBM Plex Sans Arabic"/>
                        </a:rPr>
                        <a:t>تحليل جملة في بطاقة خروج</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القراءة التبادلية، الكرسي الساخن</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بيت شعر أو نص قصير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اللغة العربية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301752">
                <a:tc>
                  <a:txBody>
                    <a:bodyPr/>
                    <a:lstStyle/>
                    <a:p>
                      <a:pPr rtl="1" algn="r"/>
                      <a:r>
                        <a:rPr lang="ar-SA" altLang="en-US" sz="1100" dirty="0">
                          <a:solidFill>
                            <a:srgbClr val="1C3328"/>
                          </a:solidFill>
                          <a:latin typeface="IBM Plex Sans Arabic"/>
                          <a:cs typeface="IBM Plex Sans Arabic"/>
                        </a:rPr>
                        <a:t>بطاقة خروج قصيرة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‎Role play‎، فجوة المعلومات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صورة مع ‎Guess what?‎</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b="1" dirty="0">
                          <a:solidFill>
                            <a:srgbClr val="3E6350"/>
                          </a:solidFill>
                          <a:latin typeface="IBM Plex Sans Arabic"/>
                          <a:cs typeface="IBM Plex Sans Arabic"/>
                        </a:rPr>
                        <a:t>اللغة الإنجليزية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301752">
                <a:tc>
                  <a:txBody>
                    <a:bodyPr/>
                    <a:lstStyle/>
                    <a:p>
                      <a:pPr rtl="1" algn="r"/>
                      <a:r>
                        <a:rPr lang="ar-SA" altLang="en-US" sz="1100" dirty="0">
                          <a:solidFill>
                            <a:srgbClr val="1C3328"/>
                          </a:solidFill>
                          <a:latin typeface="IBM Plex Sans Arabic"/>
                          <a:cs typeface="IBM Plex Sans Arabic"/>
                        </a:rPr>
                        <a:t>سؤال تطبيق قيمي</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خرائط المفاهيم، دراسة حالة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آية أو موقف من السيرة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الدراسات الإسلامية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r h="301752">
                <a:tc>
                  <a:txBody>
                    <a:bodyPr/>
                    <a:lstStyle/>
                    <a:p>
                      <a:pPr rtl="1" algn="r"/>
                      <a:r>
                        <a:rPr lang="ar-SA" altLang="en-US" sz="1100" dirty="0">
                          <a:solidFill>
                            <a:srgbClr val="1C3328"/>
                          </a:solidFill>
                          <a:latin typeface="IBM Plex Sans Arabic"/>
                          <a:cs typeface="IBM Plex Sans Arabic"/>
                        </a:rPr>
                        <a:t>خط زمني سريع</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معرض التجوّل، المناظرة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dirty="0">
                          <a:solidFill>
                            <a:srgbClr val="1C3328"/>
                          </a:solidFill>
                          <a:latin typeface="IBM Plex Sans Arabic"/>
                          <a:cs typeface="IBM Plex Sans Arabic"/>
                        </a:rPr>
                        <a:t>خريطة أو خبر معاصر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c>
                  <a:txBody>
                    <a:bodyPr/>
                    <a:lstStyle/>
                    <a:p>
                      <a:pPr rtl="1" algn="r"/>
                      <a:r>
                        <a:rPr lang="ar-SA" altLang="en-US" sz="1100" b="1" dirty="0">
                          <a:solidFill>
                            <a:srgbClr val="3E6350"/>
                          </a:solidFill>
                          <a:latin typeface="IBM Plex Sans Arabic"/>
                          <a:cs typeface="IBM Plex Sans Arabic"/>
                        </a:rPr>
                        <a:t>الاجتماعيات</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6FBF8"/>
                    </a:solidFill>
                  </a:tcPr>
                </a:tc>
              </a:tr>
              <a:tr h="301752">
                <a:tc>
                  <a:txBody>
                    <a:bodyPr/>
                    <a:lstStyle/>
                    <a:p>
                      <a:pPr rtl="1" algn="r"/>
                      <a:r>
                        <a:rPr lang="ar-SA" altLang="en-US" sz="1100" dirty="0">
                          <a:solidFill>
                            <a:srgbClr val="1C3328"/>
                          </a:solidFill>
                          <a:latin typeface="IBM Plex Sans Arabic"/>
                          <a:cs typeface="IBM Plex Sans Arabic"/>
                        </a:rPr>
                        <a:t>تحدٍّ عملي قصير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البرمجة الثنائية، مشروع مصغّر</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dirty="0">
                          <a:solidFill>
                            <a:srgbClr val="1C3328"/>
                          </a:solidFill>
                          <a:latin typeface="IBM Plex Sans Arabic"/>
                          <a:cs typeface="IBM Plex Sans Arabic"/>
                        </a:rPr>
                        <a:t>مشكلة رقمية من الواقع</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c>
                  <a:txBody>
                    <a:bodyPr/>
                    <a:lstStyle/>
                    <a:p>
                      <a:pPr rtl="1" algn="r"/>
                      <a:r>
                        <a:rPr lang="ar-SA" altLang="en-US" sz="1100" b="1" dirty="0">
                          <a:solidFill>
                            <a:srgbClr val="3E6350"/>
                          </a:solidFill>
                          <a:latin typeface="IBM Plex Sans Arabic"/>
                          <a:cs typeface="IBM Plex Sans Arabic"/>
                        </a:rPr>
                        <a:t>الحاسب والتقنية</a:t>
                      </a:r>
                    </a:p>
                  </a:txBody>
                  <a:tcPr marL="73152" marR="73152" marT="27432" marB="27432" anchor="ctr">
                    <a:lnL w="9525">
                      <a:solidFill>
                        <a:srgbClr val="D5E7DC"/>
                      </a:solidFill>
                    </a:lnL>
                    <a:lnR w="9525">
                      <a:solidFill>
                        <a:srgbClr val="D5E7DC"/>
                      </a:solidFill>
                    </a:lnR>
                    <a:lnT w="9525">
                      <a:solidFill>
                        <a:srgbClr val="D5E7DC"/>
                      </a:solidFill>
                    </a:lnT>
                    <a:lnB w="9525">
                      <a:solidFill>
                        <a:srgbClr val="D5E7DC"/>
                      </a:solidFill>
                    </a:lnB>
                    <a:solidFill>
                      <a:srgbClr val="FFFFFF"/>
                    </a:solidFill>
                  </a:tcPr>
                </a:tc>
              </a:tr>
            </a:tbl>
          </a:graphicData>
        </a:graphic>
      </p:graphicFrame>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