
<file path=[Content_Types].xml><?xml version="1.0" encoding="utf-8"?>
<Types xmlns="http://schemas.openxmlformats.org/package/2006/content-types">
  <Default Extension="wav" ContentType="audio/wav"/>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حصة" id="{6A0C7E0B-1A63-4C55-9C8C-3B1A1D2B6E0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دليل المعلم (مخفي)" id="{6A0C7E0B-1A63-4C55-9C8C-3B1A1D2B6E02}">
          <p14:sldIdLst>
            <p14:sldId id="275"/>
            <p14:sldId id="276"/>
            <p14:sldId id="277"/>
            <p14:sldId id="278"/>
            <p14:sldId id="279"/>
            <p14:sldId id="28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غيّر عنوان الدرس والمادة والصف والوحدة واسمك والتاريخ، واكتب موقع الدرس في توزيع المنهج. اعرض هذه الشريحة أثناء دخول الطلاب.</a:t>
            </a:r>
          </a:p>
          <a:p>
            <a:pPr rtl="1" algn="r"/>
            <a:r>
              <a:rPr lang="ar-SA" dirty="0"/>
              <a:t>موقع الدرس في التوزيع يخدم بند «توافق تنفيذ المنهج مع الخطة الزمنية»؛ احرص أن يكون الدرس في موعده، وأحضر نسخة من توزيع المنهج.</a:t>
            </a:r>
          </a:p>
          <a:p>
            <a:pPr rtl="1" algn="r"/>
            <a:r>
              <a:rPr lang="ar-SA" dirty="0"/>
              <a:t>يسجّل المقيّم في رأس الاستمارة عدد الطلاب والغياب وعدد الموهوبين وذوي الإعاقة؛ جهّز هذه الأعداد مسبقًا.</a:t>
            </a:r>
          </a:p>
          <a:p>
            <a:pPr rtl="1" algn="r"/>
            <a:r>
              <a:rPr lang="ar-SA" dirty="0"/>
              <a:t>قبل الحصة: رتّب الطلاب في مجموعات (4–5)، وجهّز بطاقات الأدوار وبطاقات الاستجابة (أ، ب، ج، د) وسلّم تقويم الأقران وبطاقة الخروج، وشغّل المؤقت.</a:t>
            </a:r>
          </a:p>
          <a:p>
            <a:pPr rtl="1" algn="r"/>
            <a:r>
              <a:rPr lang="ar-SA" dirty="0"/>
              <a:t>ابدأ بالسلام والترحيب، وقدّم الضيوف للطلاب بلطف. لا تغيّر أسلوبك المعتاد كثيرًا؛ الطبيعية تقنع المقيّم أكثر من الاستعراض.</a:t>
            </a:r>
          </a:p>
          <a:p>
            <a:pPr rtl="1" algn="r"/>
            <a:r>
              <a:rPr lang="ar-SA" dirty="0"/>
              <a:t>الشرائح الست الأخيرة مخفية (دليل المعلم): لا تظهر أثناء العرض، راجعها قبل الزيارة.</a:t>
            </a:r>
          </a:p>
          <a:p>
            <a:pPr rtl="1" algn="r"/>
            <a:r>
              <a:rPr lang="ar-SA" dirty="0"/>
              <a:t>بعد إكمال التعديل احفظ نسخة للعرض: ملف ← حفظ باسم ← نوع الملف ← «عرض PowerPoint (.ppsx)»، فتفتح مباشرة في وضع العرض وتعمل الأزرار من أول نقرة.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اعرض الخريطة 20 ثانية فقط ليعرف الطلاب مسار الحصة. الأزمنة مقترحة ويمكن تعديلها دقيقتين زيادة أو نقصًا حسب المادة.</a:t>
            </a:r>
          </a:p>
          <a:p>
            <a:pPr rtl="1" algn="r"/>
            <a:r>
              <a:rPr lang="ar-SA" dirty="0"/>
              <a:t>لتعديل الأزمنة: غيّر الرقم داخل كل جزء وعرضه، وحدّث شارة الزمن أعلى شريحة كل مرحلة.</a:t>
            </a:r>
          </a:p>
          <a:p>
            <a:pPr rtl="1" algn="r"/>
            <a:r>
              <a:rPr lang="ar-SA" dirty="0"/>
              <a:t>التنقل: انقر على أي مرحلة في الشريط للانتقال إلى أول شريحة فيها، وانقر على الشارة الخضراء أعلى أي شريحة للعودة إلى هذه الخريطة؛ مفيد إن تأخرت مرحلة واحتجت أن تختصر.</a:t>
            </a:r>
          </a:p>
          <a:p>
            <a:pPr rtl="1" algn="r"/>
            <a:r>
              <a:rPr lang="ar-SA" dirty="0"/>
              <a:t>المؤقت: في كل شريحة مرحلة شارة زمن داكنة؛ انقر عليها فيبدأ شريط رفيع داخلها يتناقص بالمدة الحقيقية، وعند انتهائه تظهر «انتهى الوقت» بجانبها مع جرس قصير. الانتقال السلس وإنهاء الحصة في وقتها مؤشر واضح على إدارة الوقت.</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التهيئة (30 ثانية). الأفضل أن تكون الاتفاقات مما صاغه الطلاب في بداية الفصل، فاستبدلها بها.</a:t>
            </a:r>
          </a:p>
          <a:p>
            <a:pPr rtl="1" algn="r"/>
            <a:r>
              <a:rPr lang="ar-SA" dirty="0"/>
              <a:t>اتفق على إشارة صمت سريعة (رفع اليد، أو العد التنازلي 3–2–1).</a:t>
            </a:r>
          </a:p>
          <a:p>
            <a:pPr rtl="1" algn="r"/>
            <a:r>
              <a:rPr lang="ar-SA" dirty="0"/>
              <a:t>«نحافظ على صحتنا» بند مستقل في الاستمارة (الالتزام بالممارسات الصحية): لاحظ الجلسة الصحيحة والتهوية والإضاءة ونظافة المكان، ونبّه إليها بلطف أثناء الحصة.</a:t>
            </a:r>
          </a:p>
          <a:p>
            <a:pPr rtl="1" algn="r"/>
            <a:r>
              <a:rPr lang="ar-SA" dirty="0"/>
              <a:t>«الخطأ فرصة للتعلم»: احتفِ بالمحاولة لا بالإجابة الصحيحة وحدها؛ هذا يبني مناخًا آمنًا نفسيًا واتجاهات إيجابية نحو الذات (بندا 2 و21).</a:t>
            </a:r>
          </a:p>
          <a:p>
            <a:pPr rtl="1" algn="r"/>
            <a:r>
              <a:rPr lang="ar-SA" dirty="0"/>
              <a:t>لوحة التميز: ارسم جدولًا صغيرًا على طرف السبورة بأسماء الفرق، وأضف النجوم أثناء الحصة، ثم اكشفها في «لوحة التميز» في الخلاصة وأعلن الفائز. هذا يخدم بند «أساليب التحفيز» (الثناء والمكافأة والاحتفاء بالمنجزات).</a:t>
            </a:r>
          </a:p>
          <a:p>
            <a:pPr rtl="1" algn="r"/>
            <a:r>
              <a:rPr lang="ar-SA" dirty="0"/>
              <a:t>زر «★ لوحة التميز» يعرض اللوحة للطلاب الآن ليعرفوا كيف تُحسب النقاط، وزر «رجوع» فيها يعيدك إلى هنا.</a:t>
            </a:r>
          </a:p>
          <a:p>
            <a:pPr rtl="1" algn="r"/>
            <a:r>
              <a:rPr lang="ar-SA" dirty="0"/>
              <a:t>ما يلاحظه المقيّم: انضباط إيجابي، واحترام متبادل، وتعزيز للسلوك الجيد، ومعالجة السلوك بهدوء دون إيقاف الحصة (ضبط الانفعال قدوةٌ للطلاب).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الهدف: إثارة الدافعية وربط الدرس بخبرات الطالب، لا الشرح. اكتب سؤالًا مفتوحًا لا يُجاب بنعم أو لا.</a:t>
            </a:r>
          </a:p>
          <a:p>
            <a:pPr rtl="1" algn="r"/>
            <a:r>
              <a:rPr lang="ar-SA" dirty="0"/>
              <a:t>أفكار حسب المادة: الرياضيات لغز أو نمط عددي، والعلوم ظاهرة أو تجربة سريعة، واللغة العربية بيت شعر أو عبارة، والإنجليزية صورة مع ‎Guess what?‎، والدراسات الإسلامية آية أو موقف من السيرة، والاجتماعيات خبر أو خريطة، والحاسب مشكلة رقمية من الواقع.</a:t>
            </a:r>
          </a:p>
          <a:p>
            <a:pPr rtl="1" algn="r"/>
            <a:r>
              <a:rPr lang="ar-SA" dirty="0"/>
              <a:t>نوّع المصدر بين بصري وسمعي وحسي (صورة، مقطع صوتي، مجسّم، عيّنة حقيقية)؛ تنوع المصادر بند مستقل في الاستمارة ويخدم ذوي الإعاقة.</a:t>
            </a:r>
          </a:p>
          <a:p>
            <a:pPr rtl="1" algn="r"/>
            <a:r>
              <a:rPr lang="ar-SA" dirty="0"/>
              <a:t>ما يلاحظه المقيّم: مشاركة أكبر عدد من الطلاب، لا طالبين أو ثلاثة. اطلب من الأزواج المشاركة ثم اختر عشوائيًا.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استراتيجية (أعرف، أريد أن أعرف، تعلّمت) تشخّص التعلم السابق. املأ العمودين الأولين بإجابات الطلاب شفهيًا أو على السبورة.</a:t>
            </a:r>
          </a:p>
          <a:p>
            <a:pPr rtl="1" algn="r"/>
            <a:r>
              <a:rPr lang="ar-SA" dirty="0"/>
              <a:t>عُد إلى العمود الثالث في خلاصة الحصة (زر «جدول ماذا نعرف» في شريحة الخلاصة يأتي بك إلى هنا، وزر «رجوع» يعيدك)؛ ربط بداية الحصة بنهايتها يُظهر للمقيّم تخطيطًا متماسكًا.</a:t>
            </a:r>
          </a:p>
          <a:p>
            <a:pPr rtl="1" algn="r"/>
            <a:r>
              <a:rPr lang="ar-SA" dirty="0"/>
              <a:t>في المواد الكمية يمكن حذف هذه الشريحة والاكتفاء بسؤالين تشخيصيين سريعين على متطلبات الدرس السابقة.</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أهدافًا قابلة للقياس بأفعال سلوكية (يعرّف، يطبّق، يقارن، يستنتج، يصمّم)، وتجنّب «يفهم» و«يعرف» لأنها لا تُقاس.</a:t>
            </a:r>
          </a:p>
          <a:p>
            <a:pPr rtl="1" algn="r"/>
            <a:r>
              <a:rPr lang="ar-SA" dirty="0"/>
              <a:t>اطلب من طالب أن يقرأ الأهداف بصوت مرتفع، واسأل: لماذا نحتاج هذا الدرس؟</a:t>
            </a:r>
          </a:p>
          <a:p>
            <a:pPr rtl="1" algn="r"/>
            <a:r>
              <a:rPr lang="ar-SA" dirty="0"/>
              <a:t>قد يسأل المقيّم أحد الطلاب: ماذا تتعلّم اليوم؟ ولماذا؟ فاحرص أن تكون الأهداف ومعايير النجاح واضحة لهم.</a:t>
            </a:r>
          </a:p>
          <a:p>
            <a:pPr rtl="1" algn="r"/>
            <a:r>
              <a:rPr lang="ar-SA" dirty="0"/>
              <a:t>تدرّج الأهداف من الفهم إلى التطبيق إلى التفكير العليا يُظهر مراعاة مستويات التفكير.</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المصطلحات أو القواعد أو القوانين الأساسية للدرس. في الرياضيات والعلوم: الرموز والقوانين، وفي اللغات: المفردات الجديدة، وفي الدراسات الإسلامية: المصطلحات الشرعية.</a:t>
            </a:r>
          </a:p>
          <a:p>
            <a:pPr rtl="1" algn="r"/>
            <a:r>
              <a:rPr lang="ar-SA" dirty="0"/>
              <a:t>بديل فعّال: نموذج فراير (التعريف، الخصائص، أمثلة، لا أمثلة) لمفهوم واحد محوري.</a:t>
            </a:r>
          </a:p>
          <a:p>
            <a:pPr rtl="1" algn="r"/>
            <a:r>
              <a:rPr lang="ar-SA" dirty="0"/>
              <a:t>احذف البطاقات الزائدة إن كانت المفاهيم أقل من أربعة.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خطوات المثال تظهر واحدة بعد الأخرى بالنقر أو بالسهم: اسأل الطلاب قبل كل نقرة «ما الخطوة التالية في رأيكم؟».</a:t>
            </a:r>
          </a:p>
          <a:p>
            <a:pPr rtl="1" algn="r"/>
            <a:r>
              <a:rPr lang="ar-SA" dirty="0"/>
              <a:t>لا تتجاوز 10 دقائق من حديث المعلم. فكّر بصوت مسموع أثناء حل المثال: «لماذا اخترت هذه الخطوة؟».</a:t>
            </a:r>
          </a:p>
          <a:p>
            <a:pPr rtl="1" algn="r"/>
            <a:r>
              <a:rPr lang="ar-SA" dirty="0"/>
              <a:t>توقّف كل 3 دقائق بسؤال قصير أو طلب إشارة (إبهام لأعلى أو لأسفل) للتحقق من الفهم.</a:t>
            </a:r>
          </a:p>
          <a:p>
            <a:pPr rtl="1" algn="r"/>
            <a:r>
              <a:rPr lang="ar-SA" dirty="0"/>
              <a:t>وظّف التقنية حين تخدم الفهم: محاكاة، أو مقطع قصير، أو أداة تفاعلية على السبورة الذكية.</a:t>
            </a:r>
          </a:p>
          <a:p>
            <a:pPr rtl="1" algn="r"/>
            <a:r>
              <a:rPr lang="ar-SA" dirty="0"/>
              <a:t>ما يلاحظه المقيّم: دقة المحتوى العلمي، ووضوح العرض، وتسلسله، وتوظيف الوسائل.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بعد أن يرفع الطلاب بطاقاتهم، انقر على أي خيار فيظهر حوله إطار وشارة مع صوت قصير: أخضر «إجابة صحيحة» بنغمة صاعدة، أو أحمر «فكّر مجددًا» بنغمة هابطة. ثم اطلب من صاحب إجابة خاطئة أن يشرح تفكيره (تغذية راجعة فورية).</a:t>
            </a:r>
          </a:p>
          <a:p>
            <a:pPr rtl="1" algn="r"/>
            <a:r>
              <a:rPr lang="ar-SA" dirty="0"/>
              <a:t>الإجابة الصحيحة مضبوطة على «أ». لتغييرها: اكتب نص الإجابة الصحيحة في البطاقة «أ»، أو بدّل نصَّي بطاقتين؛ الشارة الخضراء مرتبطة بالبطاقة «أ».</a:t>
            </a:r>
          </a:p>
          <a:p>
            <a:pPr rtl="1" algn="r"/>
            <a:r>
              <a:rPr lang="ar-SA" dirty="0"/>
              <a:t>يجيب كل الطلاب في وقت واحد: بطاقات (أ، ب، ج، د)، أو أصابع اليد، أو لوح صغير، أو أداة رقمية (اختبارات البوابة القصيرة، Kahoot، Quizizz، Wordwall).</a:t>
            </a:r>
          </a:p>
          <a:p>
            <a:pPr rtl="1" algn="r"/>
            <a:r>
              <a:rPr lang="ar-SA" dirty="0"/>
              <a:t>اجعل البدائل الخاطئة من الأخطاء الشائعة؛ فكل إجابة خاطئة تكشف لك سوء فهم بعينه.</a:t>
            </a:r>
          </a:p>
          <a:p>
            <a:pPr rtl="1" algn="r"/>
            <a:r>
              <a:rPr lang="ar-SA" dirty="0"/>
              <a:t>قرار بعد السؤال: إن أخطأ أكثر من ثلث الطلاب فأعد الشرح بطريقة مختلفة قبل الانتقال، وإلا فانتقل للنشاط.</a:t>
            </a:r>
          </a:p>
          <a:p>
            <a:pPr rtl="1" algn="r"/>
            <a:r>
              <a:rPr lang="ar-SA" dirty="0"/>
              <a:t>ما يلاحظه المقيّم: أن يُبنى قرار تدريسي على نتيجة التقويم، لا أن يكون السؤال شكليًا.</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مجموعات غير متجانسة من 4 إلى 5 طلاب، ولكل طالب دور مكتوب على بطاقة؛ هذا يمنع اتكال بعضهم على بعض.</a:t>
            </a:r>
          </a:p>
          <a:p>
            <a:pPr rtl="1" algn="r"/>
            <a:r>
              <a:rPr lang="ar-SA" dirty="0"/>
              <a:t>إستراتيجيات بديلة: الرؤوس المرقّمة، أو الطاولة المستديرة، أو جيجسو (الخبراء)، أو معرض التجوّل.</a:t>
            </a:r>
          </a:p>
          <a:p>
            <a:pPr rtl="1" algn="r"/>
            <a:r>
              <a:rPr lang="ar-SA" dirty="0"/>
              <a:t>تجوّل بين المجموعات واطرح أسئلة سابرة، وقدّم تغذية راجعة محددة («أحسنت في...، وتحتاج إلى...»).</a:t>
            </a:r>
          </a:p>
          <a:p>
            <a:pPr rtl="1" algn="r"/>
            <a:r>
              <a:rPr lang="ar-SA" dirty="0"/>
              <a:t>القراءة والكتابة والحساب بند مستقل في الاستمارة لكل المواد: نص أو بيانات تُقرأ، ورقم أو جدول يُحسب، وحل يُكتب بجمل كاملة. أمثلة: في الدراسات الإسلامية نسبة أو عدد من نص، وفي العربية جدول تصنيف، وفي الرياضيات تعليل مكتوب للحل.</a:t>
            </a:r>
          </a:p>
          <a:p>
            <a:pPr rtl="1" algn="r"/>
            <a:r>
              <a:rPr lang="ar-SA" dirty="0"/>
              <a:t>الدقائق الأخيرة: تعرض مجموعتان أو ثلاث، ويقيّمها الزملاء بسلّم الشريحة التالية، ثم سؤال التفكير وسؤال الربط بالحياة.</a:t>
            </a:r>
          </a:p>
          <a:p>
            <a:pPr rtl="1" algn="r"/>
            <a:r>
              <a:rPr lang="ar-SA" dirty="0"/>
              <a:t>ما يلاحظه المقيّم: تفاعل حقيقي بين الطلاب، ودور المعلم ميسّرًا لا ملقّنًا.</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بعد عرض كل مجموعة يقيّمها فريق آخر بالسلّم، ثم يقول «نجمتان وأمنية».</a:t>
            </a:r>
          </a:p>
          <a:p>
            <a:pPr rtl="1" algn="r"/>
            <a:r>
              <a:rPr lang="ar-SA" dirty="0"/>
              <a:t>اطبع السلّم على بطاقة لكل فريق، ووضّح المحكات قبل بدء النشاط ليعرف الطلاب مستوى الإنجاز المطلوب.</a:t>
            </a:r>
          </a:p>
          <a:p>
            <a:pPr rtl="1" algn="r"/>
            <a:r>
              <a:rPr lang="ar-SA" dirty="0"/>
              <a:t>علّم الطلاب أن الملاحظة للفكرة لا للشخص، وأن يبدؤوا بالإيجابي؛ هذا يخدم بند الاحترام المتبادل والتعاطف.</a:t>
            </a:r>
          </a:p>
          <a:p>
            <a:pPr rtl="1" algn="r"/>
            <a:r>
              <a:rPr lang="ar-SA" dirty="0"/>
              <a:t>اطلب من الفريق أن يعدّل منتجه بناءً على «الأمنية» إن بقي وقت؛ توظيف التغذية الراجعة في التحسين يرفع درجة البند.</a:t>
            </a:r>
          </a:p>
          <a:p>
            <a:pPr rtl="1" algn="r"/>
            <a:r>
              <a:rPr lang="ar-SA" dirty="0"/>
              <a:t>ما يلاحظه المقيّم: تقويم الأقران، ومحكات واضحة، وتغذية راجعة بنّاءة يوظفها الطلاب.</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اطرح السؤال، ثم انقر مرة فيتناقص شريط «وقت التفكير» خلال 5 ثوانٍ، وبعدها تظهر خطوات «فكّر ثم ناقش ثم شارك». هذا يجعل وقت الانتظار ظاهرًا للطلاب وللمقيّم.</a:t>
            </a:r>
          </a:p>
          <a:p>
            <a:pPr rtl="1" algn="r"/>
            <a:r>
              <a:rPr lang="ar-SA" dirty="0"/>
              <a:t>سؤال مفتوح من مستويات التفكير العليا (تحليل، تقويم، إبداع)، ويُطرح ضمن زمن النشاط التعاوني.</a:t>
            </a:r>
          </a:p>
          <a:p>
            <a:pPr rtl="1" algn="r"/>
            <a:r>
              <a:rPr lang="ar-SA" dirty="0"/>
              <a:t>صيغ مقترحة: ماذا يحدث لو...؟ ما الفرق بين... و...؟ كيف تحكم على...؟ اقترح حلًا آخر لـ... ما الدليل على...؟</a:t>
            </a:r>
          </a:p>
          <a:p>
            <a:pPr rtl="1" algn="r"/>
            <a:r>
              <a:rPr lang="ar-SA" dirty="0"/>
              <a:t>انتظر 5 ثوانٍ على الأقل قبل استقبال الإجابة، واختر المجيب عشوائيًا (أعواد الأسماء أو عجلة الأسماء) بدل رفع الأيدي.</a:t>
            </a:r>
          </a:p>
          <a:p>
            <a:pPr rtl="1" algn="r"/>
            <a:r>
              <a:rPr lang="ar-SA" dirty="0"/>
              <a:t>ابنِ على إجابة الطالب بسؤال آخر: «لماذا؟»، «من يضيف؟»، «من يخالف؟».</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اطلب من كل مجموعة إكمال عبارة واحدة أو أكثر، ثم يقرأ المتحدث إجابتها.</a:t>
            </a:r>
          </a:p>
          <a:p>
            <a:pPr rtl="1" algn="r"/>
            <a:r>
              <a:rPr lang="ar-SA" dirty="0"/>
              <a:t>بنود الاستمارة 20 و25 تقيس ما يُظهره الطلاب أنفسهم: الاعتزاز بالقيم والهوية الوطنية، والاعتزاز بثقافتهم مع احترام التنوع الثقافي. لذلك يُكمل الطالب العبارة بنفسه، لا المعلم.</a:t>
            </a:r>
          </a:p>
          <a:p>
            <a:pPr rtl="1" algn="r"/>
            <a:r>
              <a:rPr lang="ar-SA" dirty="0"/>
              <a:t>أمثلة: في العلوم عالم مسلم أو مشروع وطني (نيوم، الطاقة المتجددة)، وفي الرياضيات الزخارف الإسلامية والعمارة، وفي اللغات أدب من ثقافات أخرى، وفي الاجتماعيات التراث الوطني ومواقع التراث العالمي في المملكة.</a:t>
            </a:r>
          </a:p>
          <a:p>
            <a:pPr rtl="1" algn="r"/>
            <a:r>
              <a:rPr lang="ar-SA" dirty="0"/>
              <a:t>دمج القيم يكون طبيعيًا من سياق الدرس، لا بموعظة منفصلة.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وزّع الطلاب حسب نتيجة سؤال التحقق من الفهم، أو اترك لهم اختيار المستوى مع التشجيع على التحدي.</a:t>
            </a:r>
          </a:p>
          <a:p>
            <a:pPr rtl="1" algn="r"/>
            <a:r>
              <a:rPr lang="ar-SA" dirty="0"/>
              <a:t>مسار «ادعمني» لذوي صعوبات التعلم وذوي الإعاقة (إن وجدوا): مهمة أقصر، ووسائل حسية أو صوتية أو بخط مكبّر، وتوجيه فردي منك. احذفه إن لم يكن في الفصل من يحتاجه.</a:t>
            </a:r>
          </a:p>
          <a:p>
            <a:pPr rtl="1" algn="r"/>
            <a:r>
              <a:rPr lang="ar-SA" dirty="0"/>
              <a:t>مسار «تحدَّ» يستخدم فيه الطالب التقنية بنفسه: رمز QR لمصدر موثوق أو بحث محدد. ذكّره بأمن المعلومات وذكر المصدر (حقوق الملكية الفكرية)؛ هذا بند «المهارات الرقمية» في الاستمارة.</a:t>
            </a:r>
          </a:p>
          <a:p>
            <a:pPr rtl="1" algn="r"/>
            <a:r>
              <a:rPr lang="ar-SA" dirty="0"/>
              <a:t>جهّز المهام على بطاقات ملوّنة أو ورقة عمل واحدة بأقسام.</a:t>
            </a:r>
          </a:p>
          <a:p>
            <a:pPr rtl="1" algn="r"/>
            <a:r>
              <a:rPr lang="ar-SA" dirty="0"/>
              <a:t>«أكمل وحدك»: من ينهي مهمته ينتقل للمستوى التالي أو يتعلّم من مصدر إثراء دون انتظار المعلم؛ هذا بند «الاستقلالية والقدرة على التعلم الذاتي» (24).</a:t>
            </a:r>
          </a:p>
          <a:p>
            <a:pPr rtl="1" algn="r"/>
            <a:r>
              <a:rPr lang="ar-SA" dirty="0"/>
              <a:t>ما يلاحظه المقيّم: مراعاة الفروق الفردية، ومواد إضافية لذوي الصعوبات، وإثراء لسريعي التعلم والموهوبين.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الإجابة بجمل كاملة لا بكلمات مفردة؛ هذا يخدم بند مهارات الكتابة.</a:t>
            </a:r>
          </a:p>
          <a:p>
            <a:pPr rtl="1" algn="r"/>
            <a:r>
              <a:rPr lang="ar-SA" dirty="0"/>
              <a:t>بديل للبطاقة: ثلاثة أسئلة قصيرة مرتبطة مباشرة بالأهداف الثلاثة.</a:t>
            </a:r>
          </a:p>
          <a:p>
            <a:pPr rtl="1" algn="r"/>
            <a:r>
              <a:rPr lang="ar-SA" dirty="0"/>
              <a:t>اجمع البطاقات عند الباب، وصنّفها بعد الحصة إلى: حقق الهدف، قريب، يحتاج دعمًا؛ وابنِ عليها تخطيط الحصة القادمة.</a:t>
            </a:r>
          </a:p>
          <a:p>
            <a:pPr rtl="1" algn="r"/>
            <a:r>
              <a:rPr lang="ar-SA" dirty="0"/>
              <a:t>ما يلاحظه المقيّم: قياس تحقق الأهداف فعليًا في نهاية الحصة، لا الاكتفاء بسؤال «هل فهمتم؟».</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من طالبين أو ثلاثة تلخيص الدرس في جملة، ثم عُد إلى عمود «ماذا تعلّمت؟» في شريحة التعلم السابق.</a:t>
            </a:r>
          </a:p>
          <a:p>
            <a:pPr rtl="1" algn="r"/>
            <a:r>
              <a:rPr lang="ar-SA" dirty="0"/>
              <a:t>التقييم الذاتي بإشارة المرور: يرفع كل طالب اللون المناسب (بطاقة أو أصابع). دوّن أسماء من اختار الأحمر لمتابعتهم.</a:t>
            </a:r>
          </a:p>
          <a:p>
            <a:pPr rtl="1" algn="r"/>
            <a:r>
              <a:rPr lang="ar-SA" dirty="0"/>
              <a:t>انقر «★ لوحة التميز» (أو تقدّم شريحة واحدة) واملأ نجوم كل مجموعة، ثم أعلن الفريق الفائز واحتفِ بإنجازه، واشكر من تحسّن أداؤه.</a:t>
            </a:r>
          </a:p>
          <a:p>
            <a:pPr rtl="1" algn="r"/>
            <a:r>
              <a:rPr lang="ar-SA" dirty="0"/>
              <a:t>«أفخر اليوم بأنني...»: اطلب من طالبين إكمالها؛ تعزز الاتجاهات الإيجابية نحو الذات (بند 21).</a:t>
            </a:r>
          </a:p>
          <a:p>
            <a:pPr rtl="1" algn="r"/>
            <a:r>
              <a:rPr lang="ar-SA" dirty="0"/>
              <a:t>اختم بموعد الحصة القادمة وما يحتاجه الطلاب لها.</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استعملها في الخلاصة للإعلان عن النتيجة: انقر على النجوم الفارغة لكل مجموعة بعدد نجومها التي سجّلتها على السبورة أثناء الحصة، ثم احتفِ بالفائز.</a:t>
            </a:r>
          </a:p>
          <a:p>
            <a:pPr rtl="1" algn="r"/>
            <a:r>
              <a:rPr lang="ar-SA" dirty="0"/>
              <a:t>النجوم تبدأ من جديد كلما فتحت الشريحة، لذلك سجّل النقاط أثناء الحصة على السبورة واكشفها هنا مرة واحدة.</a:t>
            </a:r>
          </a:p>
          <a:p>
            <a:pPr rtl="1" algn="r"/>
            <a:r>
              <a:rPr lang="ar-SA" dirty="0"/>
              <a:t>غيّر أسماء المجموعات إن كان لها أسماء، واحذف الصفوف الزائدة.</a:t>
            </a:r>
          </a:p>
          <a:p>
            <a:pPr rtl="1" algn="r"/>
            <a:r>
              <a:rPr lang="ar-SA" dirty="0"/>
              <a:t>يخدم بندَي أساليب التحفيز (15) والمشاركة الفاعلة والاستمتاع (16).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الواجب قصير ومرتبط بالأهداف ومتدرج، ويُفضّل أن يكون إلكترونيًا لتسهيل المتابعة والتغذية الراجعة.</a:t>
            </a:r>
          </a:p>
          <a:p>
            <a:pPr rtl="1" algn="r"/>
            <a:r>
              <a:rPr lang="ar-SA" dirty="0"/>
              <a:t>وضّح للطلاب طريقة التقييم وموعد التسليم، وتابع الإنجاز في الحصة القادمة.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اشكر الطلاب على مشاركتهم والضيوف على حضورهم. الشرائح بعد هذه مخفية ولن تظهر في العرض.</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هذه الشريحة والشرائح الخمس بعدها مخفية: تظهر في وضع التحرير فقط، ولا تُعرض للطلاب.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التفاعل يعمل كاملًا في PowerPoint على الحاسب (ويندوز وماك). في PowerPoint على الويب أو الجوال يعمل جزئيًا، ولا يعمل في Google Slides؛ فاعرض من حاسب الفصل.</a:t>
            </a:r>
          </a:p>
          <a:p>
            <a:pPr rtl="1" algn="r"/>
            <a:r>
              <a:rPr lang="ar-SA" dirty="0"/>
              <a:t>بعد التعديل احفظ نسختين: الأصلية (pptx) للتعديل لاحقًا، ونسخة للعرض من: ملف ← حفظ باسم ← نوع الملف ← «عرض PowerPoint (.ppsx)». نسخة العرض تفتح مباشرة في وضع العرض. لا تحفظه PDF لأنه يُفقده التفاعل.</a:t>
            </a:r>
          </a:p>
          <a:p>
            <a:pPr rtl="1" algn="r"/>
            <a:r>
              <a:rPr lang="ar-SA" dirty="0"/>
              <a:t>جرّب كل عنصر مرة قبل الحصة في وضع «عرض الشرائح»، لا في وضع التحرير.</a:t>
            </a:r>
          </a:p>
          <a:p>
            <a:pPr rtl="1" algn="r"/>
            <a:r>
              <a:rPr lang="ar-SA" dirty="0"/>
              <a:t>الأصوات ثلاثة فقط وقصيرة: جرس عند انتهاء المؤقت، ونغمة صاعدة للإجابة الصحيحة، ونغمة هابطة للخاطئة. والانتقال بين الشرائح تلاشٍ هادئ بلا صوت.</a:t>
            </a:r>
          </a:p>
          <a:p>
            <a:pPr rtl="1" algn="r"/>
            <a:r>
              <a:rPr lang="ar-SA" dirty="0"/>
              <a:t>لإيقاف صوت: من «حركات» افتح «جزء الحركة»، وانقر سهم الحركة ← «خيارات التأثير» ← «الصوت: [بلا صوت]». أو اخفض صوت الحاسب.</a:t>
            </a:r>
          </a:p>
          <a:p>
            <a:pPr rtl="1" algn="r"/>
            <a:r>
              <a:rPr lang="ar-SA" dirty="0"/>
              <a:t>إن نقرت خارج الأزرار تنتقل للشريحة التالية كالمعتاد؛ وإن احتجت الرجوع استعمل السهم الأيسر في لوحة المفاتيح.</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جهّز في متناولك: خطة الدرس، وتوزيع المنهج، ونماذج من أعمال الطلاب ودفاترهم، وسجل الدرجات في البوابة، وأوراق العمل والبطاقات.</a:t>
            </a:r>
          </a:p>
          <a:p>
            <a:pPr rtl="1" algn="r"/>
            <a:r>
              <a:rPr lang="ar-SA" dirty="0"/>
              <a:t>قد يتحدث المقيّم مع الطلاب أو يطّلع على دفاترهم؛ اجعل تصحيح الدفاتر محدّثًا بتغذية راجعة مكتوبة.</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نصيحة: لا تحاول حشد كل الإستراتيجيات؛ ثلاث إستراتيجيات متقنة ومترابطة أفضل من سبع شكلية.</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أمثلة للاستئناس؛ اختر ما يناسب درسك وطلابك، وطبّقه في الشرائح المقابلة: التهيئة، والنشاط التعاوني، والتقويم.</a:t>
            </a:r>
          </a:p>
          <a:p>
            <a:pPr rtl="1" algn="r"/>
            <a:r>
              <a:rPr lang="ar-SA" dirty="0"/>
              <a:t>للمواد غير المذكورة (التربية البدنية، الفنية، المهارات الحياتية...) اتبع النمط نفسه: موقف محفّز، ثم ممارسة عملية في مجموعات، ثم عرض أو أداء قصير يُقيَّم بمعايير واضحة.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MakkahContent-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MakkahTitleContent-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MakkahDark-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هوية — 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هوية — عنوان و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5" name="Text 2"/>
          <p:cNvSpPr txBox="1"/>
          <p:nvPr>
            <p:ph idx="103" type="title" hasCustomPrompt="1"/>
          </p:nvPr>
        </p:nvSpPr>
        <p:spPr>
          <a:xfrm>
            <a:off x="457200" y="777240"/>
            <a:ext cx="8229600" cy="685800"/>
          </a:xfrm>
          <a:prstGeom prst="rect">
            <a:avLst/>
          </a:prstGeom>
          <a:noFill/>
          <a:ln/>
        </p:spPr>
        <p:txBody>
          <a:bodyPr wrap="square" rtlCol="0"/>
          <a:lstStyle>
            <a:lvl1pPr rtl="1" algn="r" indent="0" marL="0">
              <a:buNone/>
              <a:defRPr lang="ar-SA" altLang="en-US" sz="3000" b="1"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3000" b="1" dirty="0">
                <a:solidFill>
                  <a:srgbClr val="1C3328"/>
                </a:solidFill>
                <a:latin typeface="IBM Plex Sans Arabic" pitchFamily="34" charset="0"/>
                <a:ea typeface="IBM Plex Sans Arabic" pitchFamily="34" charset="-122"/>
                <a:cs typeface="IBM Plex Sans Arabic" pitchFamily="34" charset="-120"/>
              </a:rPr>
              <a:t>عنوان الشريحة</a:t>
            </a:r>
            <a:endParaRPr lang="ar-SA" sz="3000" dirty="0"/>
          </a:p>
        </p:txBody>
      </p:sp>
      <p:sp>
        <p:nvSpPr>
          <p:cNvPr id="6" name="Text 2"/>
          <p:cNvSpPr txBox="1"/>
          <p:nvPr>
            <p:ph idx="104" type="body" hasCustomPrompt="1"/>
          </p:nvPr>
        </p:nvSpPr>
        <p:spPr>
          <a:xfrm>
            <a:off x="457200" y="1645920"/>
            <a:ext cx="8229600" cy="2926080"/>
          </a:xfrm>
          <a:prstGeom prst="rect">
            <a:avLst/>
          </a:prstGeom>
          <a:noFill/>
          <a:ln/>
        </p:spPr>
        <p:txBody>
          <a:bodyPr wrap="square" rtlCol="0"/>
          <a:lstStyle>
            <a:lvl1pPr rtl="1" algn="r" indent="0" marL="0">
              <a:buNone/>
              <a:defRPr lang="ar-SA" altLang="en-US" sz="1600"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1600" dirty="0">
                <a:solidFill>
                  <a:srgbClr val="1C3328"/>
                </a:solidFill>
                <a:latin typeface="IBM Plex Sans Arabic" pitchFamily="34" charset="0"/>
                <a:ea typeface="IBM Plex Sans Arabic" pitchFamily="34" charset="-122"/>
                <a:cs typeface="IBM Plex Sans Arabic" pitchFamily="34" charset="-120"/>
              </a:rPr>
              <a:t>اكتب المحتوى هنا</a:t>
            </a:r>
            <a:endParaRPr lang="ar-SA" sz="16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هوية — غامقة">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white.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FFFFFF"/>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89D7AD"/>
                </a:solidFill>
                <a:latin typeface="IBM Plex Sans Arabic" pitchFamily="34" charset="0"/>
                <a:ea typeface="IBM Plex Sans Arabic" pitchFamily="34" charset="-122"/>
                <a:cs typeface="IBM Plex Sans Arabic" pitchFamily="34" charset="-120"/>
              </a:rPr>
              <a:t>makkahsec.com</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image" Target="../media/lesson-Eye.png"/><Relationship Id="rId2" Type="http://schemas.openxmlformats.org/officeDocument/2006/relationships/slideLayout" Target="../slideLayouts/slideLayout2.xml"/><Relationship Id="rIdL0" Type="http://schemas.openxmlformats.org/officeDocument/2006/relationships/slide" Target="slide3.xml"/><Relationship Id="rIdL1" Type="http://schemas.openxmlformats.org/officeDocument/2006/relationships/slide" Target="slide6.xml"/><Relationship Id="rIdL2" Type="http://schemas.openxmlformats.org/officeDocument/2006/relationships/slide" Target="slide7.xml"/><Relationship Id="rIdL3" Type="http://schemas.openxmlformats.org/officeDocument/2006/relationships/slide" Target="slide10.xml"/><Relationship Id="rIdL4" Type="http://schemas.openxmlformats.org/officeDocument/2006/relationships/slide" Target="slide14.xml"/><Relationship Id="rIdL5" Type="http://schemas.openxmlformats.org/officeDocument/2006/relationships/slide" Target="slide15.xml"/><Relationship Id="rIdL6" Type="http://schemas.openxmlformats.org/officeDocument/2006/relationships/slide" Target="slide16.xml"/><Relationship Id="rId3"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image" Target="../media/lesson-Ear.png"/><Relationship Id="rId2" Type="http://schemas.openxmlformats.org/officeDocument/2006/relationships/image" Target="../media/lesson-Hand.png"/><Relationship Id="rId3" Type="http://schemas.openxmlformats.org/officeDocument/2006/relationships/image" Target="../media/lesson-Timer.png"/><Relationship Id="rId4" Type="http://schemas.openxmlformats.org/officeDocument/2006/relationships/image" Target="../media/lesson-Handshake.png"/><Relationship Id="rId5" Type="http://schemas.openxmlformats.org/officeDocument/2006/relationships/image" Target="../media/lesson-ShieldCheck.png"/><Relationship Id="rId6" Type="http://schemas.openxmlformats.org/officeDocument/2006/relationships/image" Target="../media/lesson-Trophy-m.png"/><Relationship Id="rId7" Type="http://schemas.openxmlformats.org/officeDocument/2006/relationships/slideLayout" Target="../slideLayouts/slideLayout2.xml"/><Relationship Id="rIdL0" Type="http://schemas.openxmlformats.org/officeDocument/2006/relationships/slide" Target="slide2.xml"/><Relationship Id="rIdL1" Type="http://schemas.openxmlformats.org/officeDocument/2006/relationships/slide" Target="slide17.xml"/><Relationship Id="rId8"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Image-m.png"/><Relationship Id="rId3"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4"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image" Target="../media/lesson-Brain.png"/><Relationship Id="rId2" Type="http://schemas.openxmlformats.org/officeDocument/2006/relationships/image" Target="../media/lesson-Search.png"/><Relationship Id="rId3" Type="http://schemas.openxmlformats.org/officeDocument/2006/relationships/image" Target="../media/lesson-Sparkles.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Target.png"/><Relationship Id="rId3"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4"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image" Target="../media/lesson-BookOpen.png"/><Relationship Id="rId2" Type="http://schemas.openxmlformats.org/officeDocument/2006/relationships/slideLayout" Target="../slideLayouts/slideLayout2.xml"/><Relationship Id="rIdL0" Type="http://schemas.openxmlformats.org/officeDocument/2006/relationships/slide" Target="slide2.xml"/><Relationship Id="rId3"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3"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S0" Type="http://schemas.openxmlformats.org/officeDocument/2006/relationships/audio" Target="../media/lesson-correct.wav"/><Relationship Id="rIdS1" Type="http://schemas.openxmlformats.org/officeDocument/2006/relationships/audio" Target="../media/lesson-wrong.wav"/><Relationship Id="rIdL0" Type="http://schemas.openxmlformats.org/officeDocument/2006/relationships/slide" Target="slide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Users.png"/><Relationship Id="rId3" Type="http://schemas.openxmlformats.org/officeDocument/2006/relationships/image" Target="../media/lesson-BookText-m.png"/><Relationship Id="rId4" Type="http://schemas.openxmlformats.org/officeDocument/2006/relationships/image" Target="../media/lesson-Calculator-m.png"/><Relationship Id="rId5" Type="http://schemas.openxmlformats.org/officeDocument/2006/relationships/image" Target="../media/lesson-Pencil-m.png"/><Relationship Id="rId6" Type="http://schemas.openxmlformats.org/officeDocument/2006/relationships/image" Target="../media/lesson-Crown.png"/><Relationship Id="rId7" Type="http://schemas.openxmlformats.org/officeDocument/2006/relationships/image" Target="../media/lesson-Pencil.png"/><Relationship Id="rId8" Type="http://schemas.openxmlformats.org/officeDocument/2006/relationships/image" Target="../media/lesson-Timer.png"/><Relationship Id="rId9" Type="http://schemas.openxmlformats.org/officeDocument/2006/relationships/image" Target="../media/lesson-Mic.png"/><Relationship Id="rId10"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11"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image" Target="../media/lesson-Star.png"/><Relationship Id="rId2" Type="http://schemas.openxmlformats.org/officeDocument/2006/relationships/image" Target="../media/lesson-Lightbulb.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image" Target="../media/lesson-House.png"/><Relationship Id="rId2" Type="http://schemas.openxmlformats.org/officeDocument/2006/relationships/image" Target="../media/lesson-Heart.png"/><Relationship Id="rId3" Type="http://schemas.openxmlformats.org/officeDocument/2006/relationships/image" Target="../media/lesson-Flag.png"/><Relationship Id="rId4" Type="http://schemas.openxmlformats.org/officeDocument/2006/relationships/image" Target="../media/lesson-Globe.png"/><Relationship Id="rId5" Type="http://schemas.openxmlformats.org/officeDocument/2006/relationships/slideLayout" Target="../slideLayouts/slideLayout2.xml"/><Relationship Id="rIdL0" Type="http://schemas.openxmlformats.org/officeDocument/2006/relationships/slide" Target="slide2.xml"/><Relationship Id="rId6"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Accessibility.png"/><Relationship Id="rId3" Type="http://schemas.openxmlformats.org/officeDocument/2006/relationships/image" Target="../media/lesson-Sprout.png"/><Relationship Id="rId4" Type="http://schemas.openxmlformats.org/officeDocument/2006/relationships/image" Target="../media/lesson-Mountain.png"/><Relationship Id="rId5" Type="http://schemas.openxmlformats.org/officeDocument/2006/relationships/image" Target="../media/lesson-Rocket.png"/><Relationship Id="rId6" Type="http://schemas.openxmlformats.org/officeDocument/2006/relationships/image" Target="../media/lesson-Rocket-m.png"/><Relationship Id="rId7"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8"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Laptop.png"/><Relationship Id="rId3"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4"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S0" Type="http://schemas.openxmlformats.org/officeDocument/2006/relationships/audio" Target="../media/lesson-timeup.wav"/><Relationship Id="rIdL0" Type="http://schemas.openxmlformats.org/officeDocument/2006/relationships/slide" Target="slide2.xml"/><Relationship Id="rIdL1" Type="http://schemas.openxmlformats.org/officeDocument/2006/relationships/slide" Target="slide5.xml"/><Relationship Id="rIdL2" Type="http://schemas.openxmlformats.org/officeDocument/2006/relationships/slide" Target="slide17.xml"/><Relationship Id="rId3"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image" Target="../media/lesson-NotebookPen.png"/><Relationship Id="rId2" Type="http://schemas.openxmlformats.org/officeDocument/2006/relationships/image" Target="../media/lesson-Sparkles.png"/><Relationship Id="rId3" Type="http://schemas.openxmlformats.org/officeDocument/2006/relationships/image" Target="../media/lesson-BookOpen.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7772400" y="960120"/>
            <a:ext cx="914400" cy="914400"/>
          </a:xfrm>
          <a:prstGeom prst="rect">
            <a:avLst/>
          </a:prstGeom>
        </p:spPr>
      </p:pic>
      <p:sp>
        <p:nvSpPr>
          <p:cNvPr id="3" name="Shape 3"/>
          <p:cNvSpPr/>
          <p:nvPr/>
        </p:nvSpPr>
        <p:spPr>
          <a:xfrm>
            <a:off x="7223760" y="2103120"/>
            <a:ext cx="1463040" cy="329184"/>
          </a:xfrm>
          <a:prstGeom prst="roundRect">
            <a:avLst>
              <a:gd name="adj" fmla="val 50000"/>
            </a:avLst>
          </a:prstGeom>
          <a:solidFill>
            <a:srgbClr val="89D7AD"/>
          </a:solidFill>
          <a:ln w="12700">
            <a:solidFill>
              <a:srgbClr val="89D7AD"/>
            </a:solidFill>
            <a:prstDash val="solid"/>
          </a:ln>
        </p:spPr>
      </p:sp>
      <p:sp>
        <p:nvSpPr>
          <p:cNvPr id="4" name="Text 4"/>
          <p:cNvSpPr txBox="1"/>
          <p:nvPr/>
        </p:nvSpPr>
        <p:spPr>
          <a:xfrm>
            <a:off x="7223760" y="210312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حصة نموذجية</a:t>
            </a:r>
            <a:endParaRPr lang="ar-SA" sz="1200" dirty="0"/>
          </a:p>
        </p:txBody>
      </p:sp>
      <p:sp>
        <p:nvSpPr>
          <p:cNvPr id="5" name="Text 5"/>
          <p:cNvSpPr txBox="1"/>
          <p:nvPr/>
        </p:nvSpPr>
        <p:spPr>
          <a:xfrm>
            <a:off x="457200" y="2560320"/>
            <a:ext cx="8229600" cy="640080"/>
          </a:xfrm>
          <a:prstGeom prst="rect">
            <a:avLst/>
          </a:prstGeom>
          <a:noFill/>
        </p:spPr>
        <p:txBody>
          <a:bodyPr wrap="square" lIns="0" tIns="0" rIns="0" bIns="0" rtlCol="1" anchor="t"/>
          <a:lstStyle/>
          <a:p>
            <a:pPr rtl="1" algn="r" marL="0" indent="0">
              <a:buNone/>
            </a:pPr>
            <a:r>
              <a:rPr lang="ar-SA" altLang="en-US" sz="4000" b="1" dirty="0">
                <a:solidFill>
                  <a:srgbClr val="FFFFFF"/>
                </a:solidFill>
                <a:latin typeface="IBM Plex Sans Arabic"/>
                <a:cs typeface="IBM Plex Sans Arabic"/>
              </a:rPr>
              <a:t>عنوان الدرس</a:t>
            </a:r>
            <a:endParaRPr lang="ar-SA" sz="4000" dirty="0"/>
          </a:p>
        </p:txBody>
      </p:sp>
      <p:sp>
        <p:nvSpPr>
          <p:cNvPr id="6" name="Text 6"/>
          <p:cNvSpPr txBox="1"/>
          <p:nvPr/>
        </p:nvSpPr>
        <p:spPr>
          <a:xfrm>
            <a:off x="457200" y="3154680"/>
            <a:ext cx="8229600" cy="457200"/>
          </a:xfrm>
          <a:prstGeom prst="rect">
            <a:avLst/>
          </a:prstGeom>
          <a:noFill/>
        </p:spPr>
        <p:txBody>
          <a:bodyPr wrap="square" lIns="0" tIns="0" rIns="0" bIns="0" rtlCol="1" anchor="t"/>
          <a:lstStyle/>
          <a:p>
            <a:pPr rtl="1" algn="r" marL="0" indent="0">
              <a:buNone/>
            </a:pPr>
            <a:r>
              <a:rPr lang="ar-SA" altLang="en-US" sz="2000" b="1" dirty="0">
                <a:solidFill>
                  <a:srgbClr val="89D7AD"/>
                </a:solidFill>
                <a:latin typeface="IBM Plex Sans Arabic"/>
                <a:cs typeface="IBM Plex Sans Arabic"/>
              </a:rPr>
              <a:t>المادة  ·  الصف  ·  الوحدة</a:t>
            </a:r>
            <a:endParaRPr lang="ar-SA" sz="2000" dirty="0"/>
          </a:p>
        </p:txBody>
      </p:sp>
      <p:sp>
        <p:nvSpPr>
          <p:cNvPr id="7" name="Text 7"/>
          <p:cNvSpPr txBox="1"/>
          <p:nvPr/>
        </p:nvSpPr>
        <p:spPr>
          <a:xfrm>
            <a:off x="457200" y="3657600"/>
            <a:ext cx="8229600" cy="32004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موقع الدرس في توزيع المنهج: </a:t>
            </a:r>
            <a:r>
              <a:rPr lang="ar-SA" altLang="en-US" sz="1300" b="1" dirty="0">
                <a:solidFill>
                  <a:srgbClr val="89D7AD"/>
                </a:solidFill>
                <a:latin typeface="IBM Plex Sans Arabic"/>
                <a:cs typeface="IBM Plex Sans Arabic"/>
              </a:rPr>
              <a:t>الأسبوع __ · الدرس __</a:t>
            </a:r>
            <a:endParaRPr lang="ar-SA" sz="1300" dirty="0"/>
          </a:p>
        </p:txBody>
      </p:sp>
      <p:sp>
        <p:nvSpPr>
          <p:cNvPr id="8" name="Text 8"/>
          <p:cNvSpPr txBox="1"/>
          <p:nvPr/>
        </p:nvSpPr>
        <p:spPr>
          <a:xfrm>
            <a:off x="457200" y="4005072"/>
            <a:ext cx="8229600" cy="36576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المعلم: </a:t>
            </a:r>
            <a:r>
              <a:rPr lang="ar-SA" altLang="en-US" sz="1300" b="1" dirty="0">
                <a:solidFill>
                  <a:srgbClr val="FFFFFF"/>
                </a:solidFill>
                <a:latin typeface="IBM Plex Sans Arabic"/>
                <a:cs typeface="IBM Plex Sans Arabic"/>
              </a:rPr>
              <a:t>اسم المعلم</a:t>
            </a:r>
            <a:r>
              <a:rPr lang="ar-SA" altLang="en-US" sz="1300" dirty="0">
                <a:solidFill>
                  <a:srgbClr val="A9BCB1"/>
                </a:solidFill>
                <a:latin typeface="IBM Plex Sans Arabic"/>
                <a:cs typeface="IBM Plex Sans Arabic"/>
              </a:rPr>
              <a:t>     ·     الحصة الثالثة     ·     1448/__/__ هـ</a:t>
            </a:r>
            <a:endParaRPr lang="ar-SA"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خطة الحصة</a:t>
            </a:r>
            <a:endParaRPr lang="ar-SA" sz="1200" dirty="0"/>
          </a:p>
        </p:txBody>
      </p:sp>
      <p:sp>
        <p:nvSpPr>
          <p:cNvPr id="4" name="Title 4"/>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رحلتنا اليوم في 50 دقيقة</a:t>
            </a:r>
            <a:endParaRPr lang="ar-SA" sz="3000" dirty="0"/>
          </a:p>
        </p:txBody>
      </p:sp>
      <p:sp>
        <p:nvSpPr>
          <p:cNvPr id="5" name="Slide Number 5"/>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6" name="Text 6"/>
          <p:cNvSpPr txBox="1"/>
          <p:nvPr/>
        </p:nvSpPr>
        <p:spPr>
          <a:xfrm>
            <a:off x="85039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0</a:t>
            </a:r>
            <a:endParaRPr lang="ar-SA" sz="1000" dirty="0"/>
          </a:p>
        </p:txBody>
      </p:sp>
      <p:sp>
        <p:nvSpPr>
          <p:cNvPr id="7" name="Shape 7"/>
          <p:cNvSpPr/>
          <p:nvPr/>
        </p:nvSpPr>
        <p:spPr>
          <a:xfrm>
            <a:off x="7863840" y="2377440"/>
            <a:ext cx="822960" cy="457200"/>
          </a:xfrm>
          <a:prstGeom prst="rect">
            <a:avLst/>
          </a:prstGeom>
          <a:solidFill>
            <a:srgbClr val="CCF2DB"/>
          </a:solidFill>
          <a:ln w="19050">
            <a:solidFill>
              <a:srgbClr val="FFFFFF"/>
            </a:solidFill>
            <a:prstDash val="solid"/>
          </a:ln>
        </p:spPr>
      </p:sp>
      <p:sp>
        <p:nvSpPr>
          <p:cNvPr id="8" name="Text 8"/>
          <p:cNvSpPr txBox="1"/>
          <p:nvPr/>
        </p:nvSpPr>
        <p:spPr>
          <a:xfrm>
            <a:off x="786384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5 د</a:t>
            </a:r>
            <a:endParaRPr lang="ar-SA" sz="1200" dirty="0"/>
          </a:p>
        </p:txBody>
      </p:sp>
      <p:sp>
        <p:nvSpPr>
          <p:cNvPr id="9" name="Text 9"/>
          <p:cNvSpPr txBox="1"/>
          <p:nvPr/>
        </p:nvSpPr>
        <p:spPr>
          <a:xfrm>
            <a:off x="76809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a:t>
            </a:r>
            <a:endParaRPr lang="ar-SA" sz="1000" dirty="0"/>
          </a:p>
        </p:txBody>
      </p:sp>
      <p:sp>
        <p:nvSpPr>
          <p:cNvPr id="10" name="Text 10"/>
          <p:cNvSpPr txBox="1"/>
          <p:nvPr/>
        </p:nvSpPr>
        <p:spPr>
          <a:xfrm>
            <a:off x="788212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التهيئة</a:t>
            </a:r>
            <a:endParaRPr lang="ar-SA" sz="1100" dirty="0"/>
          </a:p>
        </p:txBody>
      </p:sp>
      <p:sp>
        <p:nvSpPr>
          <p:cNvPr id="11" name="الانتقال إلى التهيئة 11">
            <a:hlinkClick r:id="rIdL0" action="ppaction://hlinksldjump"/>
          </p:cNvPr>
          <p:cNvSpPr/>
          <p:nvPr/>
        </p:nvSpPr>
        <p:spPr>
          <a:xfrm>
            <a:off x="7863840" y="2377440"/>
            <a:ext cx="822960" cy="1051560"/>
          </a:xfrm>
          <a:prstGeom prst="rect">
            <a:avLst/>
          </a:prstGeom>
          <a:solidFill>
            <a:srgbClr val="FFFFFF">
              <a:alpha val="0"/>
            </a:srgbClr>
          </a:solidFill>
          <a:ln>
            <a:noFill/>
          </a:ln>
        </p:spPr>
      </p:sp>
      <p:sp>
        <p:nvSpPr>
          <p:cNvPr id="12" name="Shape 12"/>
          <p:cNvSpPr/>
          <p:nvPr/>
        </p:nvSpPr>
        <p:spPr>
          <a:xfrm>
            <a:off x="7370064" y="2377440"/>
            <a:ext cx="493776" cy="457200"/>
          </a:xfrm>
          <a:prstGeom prst="rect">
            <a:avLst/>
          </a:prstGeom>
          <a:solidFill>
            <a:srgbClr val="CCF2DB"/>
          </a:solidFill>
          <a:ln w="19050">
            <a:solidFill>
              <a:srgbClr val="FFFFFF"/>
            </a:solidFill>
            <a:prstDash val="solid"/>
          </a:ln>
        </p:spPr>
      </p:sp>
      <p:sp>
        <p:nvSpPr>
          <p:cNvPr id="13" name="Text 13"/>
          <p:cNvSpPr txBox="1"/>
          <p:nvPr/>
        </p:nvSpPr>
        <p:spPr>
          <a:xfrm>
            <a:off x="7370064" y="2377440"/>
            <a:ext cx="49377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3 د</a:t>
            </a:r>
            <a:endParaRPr lang="ar-SA" sz="1200" dirty="0"/>
          </a:p>
        </p:txBody>
      </p:sp>
      <p:sp>
        <p:nvSpPr>
          <p:cNvPr id="14" name="Text 14"/>
          <p:cNvSpPr txBox="1"/>
          <p:nvPr/>
        </p:nvSpPr>
        <p:spPr>
          <a:xfrm>
            <a:off x="718718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8</a:t>
            </a:r>
            <a:endParaRPr lang="ar-SA" sz="1000" dirty="0"/>
          </a:p>
        </p:txBody>
      </p:sp>
      <p:sp>
        <p:nvSpPr>
          <p:cNvPr id="15" name="Text 15"/>
          <p:cNvSpPr txBox="1"/>
          <p:nvPr/>
        </p:nvSpPr>
        <p:spPr>
          <a:xfrm>
            <a:off x="7388352" y="2926080"/>
            <a:ext cx="45720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الأهداف</a:t>
            </a:r>
            <a:endParaRPr lang="ar-SA" sz="1100" dirty="0"/>
          </a:p>
        </p:txBody>
      </p:sp>
      <p:sp>
        <p:nvSpPr>
          <p:cNvPr id="16" name="الانتقال إلى الأهداف 16">
            <a:hlinkClick r:id="rIdL1" action="ppaction://hlinksldjump"/>
          </p:cNvPr>
          <p:cNvSpPr/>
          <p:nvPr/>
        </p:nvSpPr>
        <p:spPr>
          <a:xfrm>
            <a:off x="7370064" y="2377440"/>
            <a:ext cx="493776" cy="1051560"/>
          </a:xfrm>
          <a:prstGeom prst="rect">
            <a:avLst/>
          </a:prstGeom>
          <a:solidFill>
            <a:srgbClr val="FFFFFF">
              <a:alpha val="0"/>
            </a:srgbClr>
          </a:solidFill>
          <a:ln>
            <a:noFill/>
          </a:ln>
        </p:spPr>
      </p:sp>
      <p:sp>
        <p:nvSpPr>
          <p:cNvPr id="17" name="Shape 17"/>
          <p:cNvSpPr/>
          <p:nvPr/>
        </p:nvSpPr>
        <p:spPr>
          <a:xfrm>
            <a:off x="5724144" y="2377440"/>
            <a:ext cx="1645920" cy="457200"/>
          </a:xfrm>
          <a:prstGeom prst="rect">
            <a:avLst/>
          </a:prstGeom>
          <a:solidFill>
            <a:srgbClr val="3E6350"/>
          </a:solidFill>
          <a:ln w="19050">
            <a:solidFill>
              <a:srgbClr val="FFFFFF"/>
            </a:solidFill>
            <a:prstDash val="solid"/>
          </a:ln>
        </p:spPr>
      </p:sp>
      <p:sp>
        <p:nvSpPr>
          <p:cNvPr id="18" name="Text 18"/>
          <p:cNvSpPr txBox="1"/>
          <p:nvPr/>
        </p:nvSpPr>
        <p:spPr>
          <a:xfrm>
            <a:off x="5724144" y="2377440"/>
            <a:ext cx="164592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10 د</a:t>
            </a:r>
            <a:endParaRPr lang="ar-SA" sz="1200" dirty="0"/>
          </a:p>
        </p:txBody>
      </p:sp>
      <p:sp>
        <p:nvSpPr>
          <p:cNvPr id="19" name="Text 19"/>
          <p:cNvSpPr txBox="1"/>
          <p:nvPr/>
        </p:nvSpPr>
        <p:spPr>
          <a:xfrm>
            <a:off x="554126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18</a:t>
            </a:r>
            <a:endParaRPr lang="ar-SA" sz="1000" dirty="0"/>
          </a:p>
        </p:txBody>
      </p:sp>
      <p:sp>
        <p:nvSpPr>
          <p:cNvPr id="20" name="Text 20"/>
          <p:cNvSpPr txBox="1"/>
          <p:nvPr/>
        </p:nvSpPr>
        <p:spPr>
          <a:xfrm>
            <a:off x="5742432" y="2926080"/>
            <a:ext cx="160934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الشرح بالمثال</a:t>
            </a:r>
            <a:endParaRPr lang="ar-SA" sz="1100" dirty="0"/>
          </a:p>
        </p:txBody>
      </p:sp>
      <p:sp>
        <p:nvSpPr>
          <p:cNvPr id="21" name="الانتقال إلى الشرح بالمثال 21">
            <a:hlinkClick r:id="rIdL2" action="ppaction://hlinksldjump"/>
          </p:cNvPr>
          <p:cNvSpPr/>
          <p:nvPr/>
        </p:nvSpPr>
        <p:spPr>
          <a:xfrm>
            <a:off x="5724144" y="2377440"/>
            <a:ext cx="1645920" cy="1051560"/>
          </a:xfrm>
          <a:prstGeom prst="rect">
            <a:avLst/>
          </a:prstGeom>
          <a:solidFill>
            <a:srgbClr val="FFFFFF">
              <a:alpha val="0"/>
            </a:srgbClr>
          </a:solidFill>
          <a:ln>
            <a:noFill/>
          </a:ln>
        </p:spPr>
      </p:sp>
      <p:sp>
        <p:nvSpPr>
          <p:cNvPr id="22" name="Shape 22"/>
          <p:cNvSpPr/>
          <p:nvPr/>
        </p:nvSpPr>
        <p:spPr>
          <a:xfrm>
            <a:off x="3749040" y="2377440"/>
            <a:ext cx="1975104" cy="457200"/>
          </a:xfrm>
          <a:prstGeom prst="rect">
            <a:avLst/>
          </a:prstGeom>
          <a:solidFill>
            <a:srgbClr val="89D7AD"/>
          </a:solidFill>
          <a:ln w="19050">
            <a:solidFill>
              <a:srgbClr val="FFFFFF"/>
            </a:solidFill>
            <a:prstDash val="solid"/>
          </a:ln>
        </p:spPr>
      </p:sp>
      <p:sp>
        <p:nvSpPr>
          <p:cNvPr id="23" name="Text 23"/>
          <p:cNvSpPr txBox="1"/>
          <p:nvPr/>
        </p:nvSpPr>
        <p:spPr>
          <a:xfrm>
            <a:off x="3749040" y="2377440"/>
            <a:ext cx="1975104"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12 د</a:t>
            </a:r>
            <a:endParaRPr lang="ar-SA" sz="1200" dirty="0"/>
          </a:p>
        </p:txBody>
      </p:sp>
      <p:sp>
        <p:nvSpPr>
          <p:cNvPr id="24" name="Text 24"/>
          <p:cNvSpPr txBox="1"/>
          <p:nvPr/>
        </p:nvSpPr>
        <p:spPr>
          <a:xfrm>
            <a:off x="35661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30</a:t>
            </a:r>
            <a:endParaRPr lang="ar-SA" sz="1000" dirty="0"/>
          </a:p>
        </p:txBody>
      </p:sp>
      <p:sp>
        <p:nvSpPr>
          <p:cNvPr id="25" name="Text 25"/>
          <p:cNvSpPr txBox="1"/>
          <p:nvPr/>
        </p:nvSpPr>
        <p:spPr>
          <a:xfrm>
            <a:off x="3767328" y="2926080"/>
            <a:ext cx="193852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التعلم التعاوني</a:t>
            </a:r>
            <a:endParaRPr lang="ar-SA" sz="1100" dirty="0"/>
          </a:p>
        </p:txBody>
      </p:sp>
      <p:sp>
        <p:nvSpPr>
          <p:cNvPr id="26" name="الانتقال إلى التعلم التعاوني 26">
            <a:hlinkClick r:id="rIdL3" action="ppaction://hlinksldjump"/>
          </p:cNvPr>
          <p:cNvSpPr/>
          <p:nvPr/>
        </p:nvSpPr>
        <p:spPr>
          <a:xfrm>
            <a:off x="3749040" y="2377440"/>
            <a:ext cx="1975104" cy="1051560"/>
          </a:xfrm>
          <a:prstGeom prst="rect">
            <a:avLst/>
          </a:prstGeom>
          <a:solidFill>
            <a:srgbClr val="FFFFFF">
              <a:alpha val="0"/>
            </a:srgbClr>
          </a:solidFill>
          <a:ln>
            <a:noFill/>
          </a:ln>
        </p:spPr>
      </p:sp>
      <p:sp>
        <p:nvSpPr>
          <p:cNvPr id="27" name="Shape 27"/>
          <p:cNvSpPr/>
          <p:nvPr/>
        </p:nvSpPr>
        <p:spPr>
          <a:xfrm>
            <a:off x="2432304" y="2377440"/>
            <a:ext cx="1316736" cy="457200"/>
          </a:xfrm>
          <a:prstGeom prst="rect">
            <a:avLst/>
          </a:prstGeom>
          <a:solidFill>
            <a:srgbClr val="89D7AD"/>
          </a:solidFill>
          <a:ln w="19050">
            <a:solidFill>
              <a:srgbClr val="FFFFFF"/>
            </a:solidFill>
            <a:prstDash val="solid"/>
          </a:ln>
        </p:spPr>
      </p:sp>
      <p:sp>
        <p:nvSpPr>
          <p:cNvPr id="28" name="Text 28"/>
          <p:cNvSpPr txBox="1"/>
          <p:nvPr/>
        </p:nvSpPr>
        <p:spPr>
          <a:xfrm>
            <a:off x="2432304" y="2377440"/>
            <a:ext cx="131673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8 د</a:t>
            </a:r>
            <a:endParaRPr lang="ar-SA" sz="1200" dirty="0"/>
          </a:p>
        </p:txBody>
      </p:sp>
      <p:sp>
        <p:nvSpPr>
          <p:cNvPr id="29" name="Text 29"/>
          <p:cNvSpPr txBox="1"/>
          <p:nvPr/>
        </p:nvSpPr>
        <p:spPr>
          <a:xfrm>
            <a:off x="224942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38</a:t>
            </a:r>
            <a:endParaRPr lang="ar-SA" sz="1000" dirty="0"/>
          </a:p>
        </p:txBody>
      </p:sp>
      <p:sp>
        <p:nvSpPr>
          <p:cNvPr id="30" name="Text 30"/>
          <p:cNvSpPr txBox="1"/>
          <p:nvPr/>
        </p:nvSpPr>
        <p:spPr>
          <a:xfrm>
            <a:off x="2450592" y="2926080"/>
            <a:ext cx="128016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المهام المتمايزة</a:t>
            </a:r>
            <a:endParaRPr lang="ar-SA" sz="1100" dirty="0"/>
          </a:p>
        </p:txBody>
      </p:sp>
      <p:sp>
        <p:nvSpPr>
          <p:cNvPr id="31" name="الانتقال إلى المهام المتمايزة 31">
            <a:hlinkClick r:id="rIdL4" action="ppaction://hlinksldjump"/>
          </p:cNvPr>
          <p:cNvSpPr/>
          <p:nvPr/>
        </p:nvSpPr>
        <p:spPr>
          <a:xfrm>
            <a:off x="2432304" y="2377440"/>
            <a:ext cx="1316736" cy="1051560"/>
          </a:xfrm>
          <a:prstGeom prst="rect">
            <a:avLst/>
          </a:prstGeom>
          <a:solidFill>
            <a:srgbClr val="FFFFFF">
              <a:alpha val="0"/>
            </a:srgbClr>
          </a:solidFill>
          <a:ln>
            <a:noFill/>
          </a:ln>
        </p:spPr>
      </p:sp>
      <p:sp>
        <p:nvSpPr>
          <p:cNvPr id="32" name="Shape 32"/>
          <p:cNvSpPr/>
          <p:nvPr/>
        </p:nvSpPr>
        <p:spPr>
          <a:xfrm>
            <a:off x="1280160" y="2377440"/>
            <a:ext cx="1152144" cy="457200"/>
          </a:xfrm>
          <a:prstGeom prst="rect">
            <a:avLst/>
          </a:prstGeom>
          <a:solidFill>
            <a:srgbClr val="16301F"/>
          </a:solidFill>
          <a:ln w="19050">
            <a:solidFill>
              <a:srgbClr val="FFFFFF"/>
            </a:solidFill>
            <a:prstDash val="solid"/>
          </a:ln>
        </p:spPr>
      </p:sp>
      <p:sp>
        <p:nvSpPr>
          <p:cNvPr id="33" name="Text 33"/>
          <p:cNvSpPr txBox="1"/>
          <p:nvPr/>
        </p:nvSpPr>
        <p:spPr>
          <a:xfrm>
            <a:off x="1280160" y="2377440"/>
            <a:ext cx="1152144"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7 د</a:t>
            </a:r>
            <a:endParaRPr lang="ar-SA" sz="1200" dirty="0"/>
          </a:p>
        </p:txBody>
      </p:sp>
      <p:sp>
        <p:nvSpPr>
          <p:cNvPr id="34" name="Text 34"/>
          <p:cNvSpPr txBox="1"/>
          <p:nvPr/>
        </p:nvSpPr>
        <p:spPr>
          <a:xfrm>
            <a:off x="109728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45</a:t>
            </a:r>
            <a:endParaRPr lang="ar-SA" sz="1000" dirty="0"/>
          </a:p>
        </p:txBody>
      </p:sp>
      <p:sp>
        <p:nvSpPr>
          <p:cNvPr id="35" name="Text 35"/>
          <p:cNvSpPr txBox="1"/>
          <p:nvPr/>
        </p:nvSpPr>
        <p:spPr>
          <a:xfrm>
            <a:off x="1298448" y="2926080"/>
            <a:ext cx="111556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التقويم الختامي</a:t>
            </a:r>
            <a:endParaRPr lang="ar-SA" sz="1100" dirty="0"/>
          </a:p>
        </p:txBody>
      </p:sp>
      <p:sp>
        <p:nvSpPr>
          <p:cNvPr id="36" name="الانتقال إلى التقويم الختامي 36">
            <a:hlinkClick r:id="rIdL5" action="ppaction://hlinksldjump"/>
          </p:cNvPr>
          <p:cNvSpPr/>
          <p:nvPr/>
        </p:nvSpPr>
        <p:spPr>
          <a:xfrm>
            <a:off x="1280160" y="2377440"/>
            <a:ext cx="1152144" cy="1051560"/>
          </a:xfrm>
          <a:prstGeom prst="rect">
            <a:avLst/>
          </a:prstGeom>
          <a:solidFill>
            <a:srgbClr val="FFFFFF">
              <a:alpha val="0"/>
            </a:srgbClr>
          </a:solidFill>
          <a:ln>
            <a:noFill/>
          </a:ln>
        </p:spPr>
      </p:sp>
      <p:sp>
        <p:nvSpPr>
          <p:cNvPr id="37" name="Shape 37"/>
          <p:cNvSpPr/>
          <p:nvPr/>
        </p:nvSpPr>
        <p:spPr>
          <a:xfrm>
            <a:off x="457200" y="2377440"/>
            <a:ext cx="822960" cy="457200"/>
          </a:xfrm>
          <a:prstGeom prst="rect">
            <a:avLst/>
          </a:prstGeom>
          <a:solidFill>
            <a:srgbClr val="16301F"/>
          </a:solidFill>
          <a:ln w="19050">
            <a:solidFill>
              <a:srgbClr val="FFFFFF"/>
            </a:solidFill>
            <a:prstDash val="solid"/>
          </a:ln>
        </p:spPr>
      </p:sp>
      <p:sp>
        <p:nvSpPr>
          <p:cNvPr id="38" name="Text 38"/>
          <p:cNvSpPr txBox="1"/>
          <p:nvPr/>
        </p:nvSpPr>
        <p:spPr>
          <a:xfrm>
            <a:off x="45720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5 د</a:t>
            </a:r>
            <a:endParaRPr lang="ar-SA" sz="1200" dirty="0"/>
          </a:p>
        </p:txBody>
      </p:sp>
      <p:sp>
        <p:nvSpPr>
          <p:cNvPr id="39" name="Text 39"/>
          <p:cNvSpPr txBox="1"/>
          <p:nvPr/>
        </p:nvSpPr>
        <p:spPr>
          <a:xfrm>
            <a:off x="2743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50</a:t>
            </a:r>
            <a:endParaRPr lang="ar-SA" sz="1000" dirty="0"/>
          </a:p>
        </p:txBody>
      </p:sp>
      <p:sp>
        <p:nvSpPr>
          <p:cNvPr id="40" name="Text 40"/>
          <p:cNvSpPr txBox="1"/>
          <p:nvPr/>
        </p:nvSpPr>
        <p:spPr>
          <a:xfrm>
            <a:off x="47548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الخلاصة والواجب</a:t>
            </a:r>
            <a:endParaRPr lang="ar-SA" sz="1100" dirty="0"/>
          </a:p>
        </p:txBody>
      </p:sp>
      <p:sp>
        <p:nvSpPr>
          <p:cNvPr id="41" name="الانتقال إلى الخلاصة والواجب 41">
            <a:hlinkClick r:id="rIdL6" action="ppaction://hlinksldjump"/>
          </p:cNvPr>
          <p:cNvSpPr/>
          <p:nvPr/>
        </p:nvSpPr>
        <p:spPr>
          <a:xfrm>
            <a:off x="457200" y="2377440"/>
            <a:ext cx="822960" cy="1051560"/>
          </a:xfrm>
          <a:prstGeom prst="rect">
            <a:avLst/>
          </a:prstGeom>
          <a:solidFill>
            <a:srgbClr val="FFFFFF">
              <a:alpha val="0"/>
            </a:srgbClr>
          </a:solidFill>
          <a:ln>
            <a:noFill/>
          </a:ln>
        </p:spPr>
      </p:sp>
      <p:sp>
        <p:nvSpPr>
          <p:cNvPr id="42" name="Text 42"/>
          <p:cNvSpPr txBox="1"/>
          <p:nvPr/>
        </p:nvSpPr>
        <p:spPr>
          <a:xfrm>
            <a:off x="457200" y="3419856"/>
            <a:ext cx="8229600" cy="201168"/>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أي مرحلة للانتقال إليها، وعلى شارة المرحلة أعلى أي شريحة للعودة إلى هنا.</a:t>
            </a:r>
            <a:endParaRPr lang="ar-SA" sz="1000" dirty="0"/>
          </a:p>
        </p:txBody>
      </p:sp>
      <p:sp>
        <p:nvSpPr>
          <p:cNvPr id="43" name="Card 43"/>
          <p:cNvSpPr/>
          <p:nvPr/>
        </p:nvSpPr>
        <p:spPr>
          <a:xfrm>
            <a:off x="457200" y="3657600"/>
            <a:ext cx="8229600" cy="77724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4" name="Circle 44"/>
          <p:cNvSpPr/>
          <p:nvPr/>
        </p:nvSpPr>
        <p:spPr>
          <a:xfrm>
            <a:off x="8001000" y="3776472"/>
            <a:ext cx="548640" cy="548640"/>
          </a:xfrm>
          <a:prstGeom prst="ellipse">
            <a:avLst/>
          </a:prstGeom>
          <a:solidFill>
            <a:srgbClr val="89D7AD"/>
          </a:solidFill>
          <a:ln w="12700">
            <a:solidFill>
              <a:srgbClr val="89D7AD"/>
            </a:solidFill>
            <a:prstDash val="solid"/>
          </a:ln>
        </p:spPr>
      </p:sp>
      <p:pic>
        <p:nvPicPr>
          <p:cNvPr id="45" name="Image 45" descr="Eye"/>
          <p:cNvPicPr>
            <a:picLocks noChangeAspect="1"/>
          </p:cNvPicPr>
          <p:nvPr/>
        </p:nvPicPr>
        <p:blipFill>
          <a:blip r:embed="rId1"/>
          <a:stretch>
            <a:fillRect/>
          </a:stretch>
        </p:blipFill>
        <p:spPr>
          <a:xfrm>
            <a:off x="8119781" y="3895253"/>
            <a:ext cx="311079" cy="311079"/>
          </a:xfrm>
          <a:prstGeom prst="rect">
            <a:avLst/>
          </a:prstGeom>
        </p:spPr>
      </p:pic>
      <p:sp>
        <p:nvSpPr>
          <p:cNvPr id="46" name="Text 46"/>
          <p:cNvSpPr txBox="1"/>
          <p:nvPr/>
        </p:nvSpPr>
        <p:spPr>
          <a:xfrm>
            <a:off x="914400" y="3721608"/>
            <a:ext cx="6903720" cy="320040"/>
          </a:xfrm>
          <a:prstGeom prst="rect">
            <a:avLst/>
          </a:prstGeom>
          <a:noFill/>
        </p:spPr>
        <p:txBody>
          <a:bodyPr wrap="square" lIns="0" tIns="0" rIns="0" bIns="0" rtlCol="1" anchor="t"/>
          <a:lstStyle/>
          <a:p>
            <a:pPr rtl="1" algn="r" marL="0" indent="0">
              <a:buNone/>
            </a:pPr>
            <a:r>
              <a:rPr lang="ar-SA" altLang="en-US" sz="1400" b="1" dirty="0">
                <a:solidFill>
                  <a:srgbClr val="3E6350"/>
                </a:solidFill>
                <a:latin typeface="IBM Plex Sans Arabic"/>
                <a:cs typeface="IBM Plex Sans Arabic"/>
              </a:rPr>
              <a:t>التقويم التكويني مستمر طوال الحصة</a:t>
            </a:r>
            <a:endParaRPr lang="ar-SA" sz="1400" dirty="0"/>
          </a:p>
        </p:txBody>
      </p:sp>
      <p:sp>
        <p:nvSpPr>
          <p:cNvPr id="47" name="Text 47"/>
          <p:cNvSpPr txBox="1"/>
          <p:nvPr/>
        </p:nvSpPr>
        <p:spPr>
          <a:xfrm>
            <a:off x="914400" y="4041648"/>
            <a:ext cx="690372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أسئلة سريعة، وملاحظة عمل المجموعات، وبطاقات الاستجابة، وتغذية راجعة فورية.</a:t>
            </a:r>
            <a:endParaRPr lang="ar-SA"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بيئة صفية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اتفاقاتنا الصفية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7210958"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7697419" y="2212848"/>
            <a:ext cx="502920" cy="502920"/>
          </a:xfrm>
          <a:prstGeom prst="ellipse">
            <a:avLst/>
          </a:prstGeom>
          <a:solidFill>
            <a:srgbClr val="89D7AD"/>
          </a:solidFill>
          <a:ln w="12700">
            <a:solidFill>
              <a:srgbClr val="89D7AD"/>
            </a:solidFill>
            <a:prstDash val="solid"/>
          </a:ln>
        </p:spPr>
      </p:sp>
      <p:pic>
        <p:nvPicPr>
          <p:cNvPr id="9" name="Image 9" descr="Ear"/>
          <p:cNvPicPr>
            <a:picLocks noChangeAspect="1"/>
          </p:cNvPicPr>
          <p:nvPr/>
        </p:nvPicPr>
        <p:blipFill>
          <a:blip r:embed="rId1"/>
          <a:stretch>
            <a:fillRect/>
          </a:stretch>
        </p:blipFill>
        <p:spPr>
          <a:xfrm>
            <a:off x="7806301" y="2321730"/>
            <a:ext cx="285156" cy="285156"/>
          </a:xfrm>
          <a:prstGeom prst="rect">
            <a:avLst/>
          </a:prstGeom>
        </p:spPr>
      </p:pic>
      <p:sp>
        <p:nvSpPr>
          <p:cNvPr id="10" name="Text 10"/>
          <p:cNvSpPr txBox="1"/>
          <p:nvPr/>
        </p:nvSpPr>
        <p:spPr>
          <a:xfrm>
            <a:off x="7210958"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نُنصت باهتمام</a:t>
            </a:r>
            <a:endParaRPr lang="ar-SA" sz="1500" dirty="0"/>
          </a:p>
        </p:txBody>
      </p:sp>
      <p:sp>
        <p:nvSpPr>
          <p:cNvPr id="11" name="Text 11"/>
          <p:cNvSpPr txBox="1"/>
          <p:nvPr/>
        </p:nvSpPr>
        <p:spPr>
          <a:xfrm>
            <a:off x="7302398"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نستمع للمتحدث حتى يُنهي فكرته</a:t>
            </a:r>
            <a:endParaRPr lang="ar-SA" sz="1100" dirty="0"/>
          </a:p>
        </p:txBody>
      </p:sp>
      <p:sp>
        <p:nvSpPr>
          <p:cNvPr id="12" name="Card 12"/>
          <p:cNvSpPr/>
          <p:nvPr/>
        </p:nvSpPr>
        <p:spPr>
          <a:xfrm>
            <a:off x="5597957"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6084418" y="2212848"/>
            <a:ext cx="502920" cy="502920"/>
          </a:xfrm>
          <a:prstGeom prst="ellipse">
            <a:avLst/>
          </a:prstGeom>
          <a:solidFill>
            <a:srgbClr val="89D7AD"/>
          </a:solidFill>
          <a:ln w="12700">
            <a:solidFill>
              <a:srgbClr val="89D7AD"/>
            </a:solidFill>
            <a:prstDash val="solid"/>
          </a:ln>
        </p:spPr>
      </p:sp>
      <p:pic>
        <p:nvPicPr>
          <p:cNvPr id="14" name="Image 14" descr="Hand"/>
          <p:cNvPicPr>
            <a:picLocks noChangeAspect="1"/>
          </p:cNvPicPr>
          <p:nvPr/>
        </p:nvPicPr>
        <p:blipFill>
          <a:blip r:embed="rId2"/>
          <a:stretch>
            <a:fillRect/>
          </a:stretch>
        </p:blipFill>
        <p:spPr>
          <a:xfrm>
            <a:off x="6193300" y="2321730"/>
            <a:ext cx="285156" cy="285156"/>
          </a:xfrm>
          <a:prstGeom prst="rect">
            <a:avLst/>
          </a:prstGeom>
        </p:spPr>
      </p:pic>
      <p:sp>
        <p:nvSpPr>
          <p:cNvPr id="15" name="Text 15"/>
          <p:cNvSpPr txBox="1"/>
          <p:nvPr/>
        </p:nvSpPr>
        <p:spPr>
          <a:xfrm>
            <a:off x="5597957"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نرفع أيدينا</a:t>
            </a:r>
            <a:endParaRPr lang="ar-SA" sz="1500" dirty="0"/>
          </a:p>
        </p:txBody>
      </p:sp>
      <p:sp>
        <p:nvSpPr>
          <p:cNvPr id="16" name="Text 16"/>
          <p:cNvSpPr txBox="1"/>
          <p:nvPr/>
        </p:nvSpPr>
        <p:spPr>
          <a:xfrm>
            <a:off x="5689397"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نستأذن قبل المشاركة ونحترم الدور</a:t>
            </a:r>
            <a:endParaRPr lang="ar-SA" sz="1100" dirty="0"/>
          </a:p>
        </p:txBody>
      </p:sp>
      <p:sp>
        <p:nvSpPr>
          <p:cNvPr id="17" name="Card 17"/>
          <p:cNvSpPr/>
          <p:nvPr/>
        </p:nvSpPr>
        <p:spPr>
          <a:xfrm>
            <a:off x="3984955"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4471416" y="2212848"/>
            <a:ext cx="502920" cy="502920"/>
          </a:xfrm>
          <a:prstGeom prst="ellipse">
            <a:avLst/>
          </a:prstGeom>
          <a:solidFill>
            <a:srgbClr val="89D7AD"/>
          </a:solidFill>
          <a:ln w="12700">
            <a:solidFill>
              <a:srgbClr val="89D7AD"/>
            </a:solidFill>
            <a:prstDash val="solid"/>
          </a:ln>
        </p:spPr>
      </p:sp>
      <p:pic>
        <p:nvPicPr>
          <p:cNvPr id="19" name="Image 19" descr="Timer"/>
          <p:cNvPicPr>
            <a:picLocks noChangeAspect="1"/>
          </p:cNvPicPr>
          <p:nvPr/>
        </p:nvPicPr>
        <p:blipFill>
          <a:blip r:embed="rId3"/>
          <a:stretch>
            <a:fillRect/>
          </a:stretch>
        </p:blipFill>
        <p:spPr>
          <a:xfrm>
            <a:off x="4580298" y="2321730"/>
            <a:ext cx="285156" cy="285156"/>
          </a:xfrm>
          <a:prstGeom prst="rect">
            <a:avLst/>
          </a:prstGeom>
        </p:spPr>
      </p:pic>
      <p:sp>
        <p:nvSpPr>
          <p:cNvPr id="20" name="Text 20"/>
          <p:cNvSpPr txBox="1"/>
          <p:nvPr/>
        </p:nvSpPr>
        <p:spPr>
          <a:xfrm>
            <a:off x="3984955"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نلتزم بالوقت</a:t>
            </a:r>
            <a:endParaRPr lang="ar-SA" sz="1500" dirty="0"/>
          </a:p>
        </p:txBody>
      </p:sp>
      <p:sp>
        <p:nvSpPr>
          <p:cNvPr id="21" name="Text 21"/>
          <p:cNvSpPr txBox="1"/>
          <p:nvPr/>
        </p:nvSpPr>
        <p:spPr>
          <a:xfrm>
            <a:off x="4076395"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ننجز المهمة قبل انتهاء المؤقت</a:t>
            </a:r>
            <a:endParaRPr lang="ar-SA" sz="1100" dirty="0"/>
          </a:p>
        </p:txBody>
      </p:sp>
      <p:sp>
        <p:nvSpPr>
          <p:cNvPr id="22" name="Card 22"/>
          <p:cNvSpPr/>
          <p:nvPr/>
        </p:nvSpPr>
        <p:spPr>
          <a:xfrm>
            <a:off x="2371954"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2858414" y="2212848"/>
            <a:ext cx="502920" cy="502920"/>
          </a:xfrm>
          <a:prstGeom prst="ellipse">
            <a:avLst/>
          </a:prstGeom>
          <a:solidFill>
            <a:srgbClr val="89D7AD"/>
          </a:solidFill>
          <a:ln w="12700">
            <a:solidFill>
              <a:srgbClr val="89D7AD"/>
            </a:solidFill>
            <a:prstDash val="solid"/>
          </a:ln>
        </p:spPr>
      </p:sp>
      <p:pic>
        <p:nvPicPr>
          <p:cNvPr id="24" name="Image 24" descr="Handshake"/>
          <p:cNvPicPr>
            <a:picLocks noChangeAspect="1"/>
          </p:cNvPicPr>
          <p:nvPr/>
        </p:nvPicPr>
        <p:blipFill>
          <a:blip r:embed="rId4"/>
          <a:stretch>
            <a:fillRect/>
          </a:stretch>
        </p:blipFill>
        <p:spPr>
          <a:xfrm>
            <a:off x="2967297" y="2321730"/>
            <a:ext cx="285156" cy="285156"/>
          </a:xfrm>
          <a:prstGeom prst="rect">
            <a:avLst/>
          </a:prstGeom>
        </p:spPr>
      </p:pic>
      <p:sp>
        <p:nvSpPr>
          <p:cNvPr id="25" name="Text 25"/>
          <p:cNvSpPr txBox="1"/>
          <p:nvPr/>
        </p:nvSpPr>
        <p:spPr>
          <a:xfrm>
            <a:off x="2371954"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نتعاون ونحترم</a:t>
            </a:r>
            <a:endParaRPr lang="ar-SA" sz="1500" dirty="0"/>
          </a:p>
        </p:txBody>
      </p:sp>
      <p:sp>
        <p:nvSpPr>
          <p:cNvPr id="26" name="Text 26"/>
          <p:cNvSpPr txBox="1"/>
          <p:nvPr/>
        </p:nvSpPr>
        <p:spPr>
          <a:xfrm>
            <a:off x="2463394"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النقد للفكرة لا للشخص، والخطأ فرصة للتعلم</a:t>
            </a:r>
            <a:endParaRPr lang="ar-SA" sz="1100" dirty="0"/>
          </a:p>
        </p:txBody>
      </p:sp>
      <p:sp>
        <p:nvSpPr>
          <p:cNvPr id="27" name="Card 27"/>
          <p:cNvSpPr/>
          <p:nvPr/>
        </p:nvSpPr>
        <p:spPr>
          <a:xfrm>
            <a:off x="758952"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8" name="Circle 28"/>
          <p:cNvSpPr/>
          <p:nvPr/>
        </p:nvSpPr>
        <p:spPr>
          <a:xfrm>
            <a:off x="1245413" y="2212848"/>
            <a:ext cx="502920" cy="502920"/>
          </a:xfrm>
          <a:prstGeom prst="ellipse">
            <a:avLst/>
          </a:prstGeom>
          <a:solidFill>
            <a:srgbClr val="89D7AD"/>
          </a:solidFill>
          <a:ln w="12700">
            <a:solidFill>
              <a:srgbClr val="89D7AD"/>
            </a:solidFill>
            <a:prstDash val="solid"/>
          </a:ln>
        </p:spPr>
      </p:sp>
      <p:pic>
        <p:nvPicPr>
          <p:cNvPr id="29" name="Image 29" descr="ShieldCheck"/>
          <p:cNvPicPr>
            <a:picLocks noChangeAspect="1"/>
          </p:cNvPicPr>
          <p:nvPr/>
        </p:nvPicPr>
        <p:blipFill>
          <a:blip r:embed="rId5"/>
          <a:stretch>
            <a:fillRect/>
          </a:stretch>
        </p:blipFill>
        <p:spPr>
          <a:xfrm>
            <a:off x="1354295" y="2321730"/>
            <a:ext cx="285156" cy="285156"/>
          </a:xfrm>
          <a:prstGeom prst="rect">
            <a:avLst/>
          </a:prstGeom>
        </p:spPr>
      </p:pic>
      <p:sp>
        <p:nvSpPr>
          <p:cNvPr id="30" name="Text 30"/>
          <p:cNvSpPr txBox="1"/>
          <p:nvPr/>
        </p:nvSpPr>
        <p:spPr>
          <a:xfrm>
            <a:off x="758952"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نحافظ على صحتنا</a:t>
            </a:r>
            <a:endParaRPr lang="ar-SA" sz="1500" dirty="0"/>
          </a:p>
        </p:txBody>
      </p:sp>
      <p:sp>
        <p:nvSpPr>
          <p:cNvPr id="31" name="Text 31"/>
          <p:cNvSpPr txBox="1"/>
          <p:nvPr/>
        </p:nvSpPr>
        <p:spPr>
          <a:xfrm>
            <a:off x="850392"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جلسة صحيحة، ومكان نظيف ومرتب</a:t>
            </a:r>
            <a:endParaRPr lang="ar-SA" sz="1100" dirty="0"/>
          </a:p>
        </p:txBody>
      </p:sp>
      <p:sp>
        <p:nvSpPr>
          <p:cNvPr id="32" name="Card 32"/>
          <p:cNvSpPr/>
          <p:nvPr/>
        </p:nvSpPr>
        <p:spPr>
          <a:xfrm>
            <a:off x="758952" y="4023360"/>
            <a:ext cx="7927848" cy="457200"/>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33" name="Image 33" descr="كأس"/>
          <p:cNvPicPr>
            <a:picLocks noChangeAspect="1"/>
          </p:cNvPicPr>
          <p:nvPr/>
        </p:nvPicPr>
        <p:blipFill>
          <a:blip r:embed="rId6"/>
          <a:stretch>
            <a:fillRect/>
          </a:stretch>
        </p:blipFill>
        <p:spPr>
          <a:xfrm>
            <a:off x="8229600" y="4114800"/>
            <a:ext cx="274320" cy="274320"/>
          </a:xfrm>
          <a:prstGeom prst="rect">
            <a:avLst/>
          </a:prstGeom>
        </p:spPr>
      </p:pic>
      <p:sp>
        <p:nvSpPr>
          <p:cNvPr id="34" name="Text 34"/>
          <p:cNvSpPr txBox="1"/>
          <p:nvPr/>
        </p:nvSpPr>
        <p:spPr>
          <a:xfrm>
            <a:off x="2331720" y="4023360"/>
            <a:ext cx="5806440" cy="457200"/>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لوحة التميز: </a:t>
            </a:r>
            <a:r>
              <a:rPr lang="ar-SA" altLang="en-US" sz="1200" dirty="0">
                <a:solidFill>
                  <a:srgbClr val="1C3328"/>
                </a:solidFill>
                <a:latin typeface="IBM Plex Sans Arabic"/>
                <a:cs typeface="IBM Plex Sans Arabic"/>
              </a:rPr>
              <a:t>كل إجابة صحيحة أو تعاون مميز نجمةٌ لفريقك.</a:t>
            </a:r>
            <a:endParaRPr lang="ar-SA" sz="1200" dirty="0"/>
          </a:p>
        </p:txBody>
      </p:sp>
      <p:sp>
        <p:nvSpPr>
          <p:cNvPr id="35" name="زر ★ لوحة التميز 35">
            <a:hlinkClick r:id="rIdL1" action="ppaction://hlinksldjump"/>
          </p:cNvPr>
          <p:cNvSpPr/>
          <p:nvPr/>
        </p:nvSpPr>
        <p:spPr>
          <a:xfrm>
            <a:off x="896112" y="4105656"/>
            <a:ext cx="1325880" cy="292608"/>
          </a:xfrm>
          <a:prstGeom prst="roundRect">
            <a:avLst>
              <a:gd name="adj" fmla="val 5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1100" b="1" dirty="0">
                <a:solidFill>
                  <a:srgbClr val="9A7B22"/>
                </a:solidFill>
                <a:latin typeface="IBM Plex Sans Arabic"/>
                <a:cs typeface="IBM Plex Sans Arabic"/>
              </a:rPr>
              <a:t>★ لوحة التميز</a:t>
            </a:r>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التهيئة</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5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لنبدأ بسؤال</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Shape 12"/>
          <p:cNvSpPr/>
          <p:nvPr/>
        </p:nvSpPr>
        <p:spPr>
          <a:xfrm>
            <a:off x="457200" y="914400"/>
            <a:ext cx="3931920" cy="3611880"/>
          </a:xfrm>
          <a:prstGeom prst="roundRect">
            <a:avLst>
              <a:gd name="adj" fmla="val 4557"/>
            </a:avLst>
          </a:prstGeom>
          <a:solidFill>
            <a:srgbClr val="EDFAF2"/>
          </a:solidFill>
          <a:ln w="19050">
            <a:solidFill>
              <a:srgbClr val="CCF2DB"/>
            </a:solidFill>
            <a:prstDash val="dash"/>
          </a:ln>
        </p:spPr>
      </p:sp>
      <p:pic>
        <p:nvPicPr>
          <p:cNvPr id="13" name="Image 13" descr="صورة"/>
          <p:cNvPicPr>
            <a:picLocks noChangeAspect="1"/>
          </p:cNvPicPr>
          <p:nvPr/>
        </p:nvPicPr>
        <p:blipFill>
          <a:blip r:embed="rId2"/>
          <a:stretch>
            <a:fillRect/>
          </a:stretch>
        </p:blipFill>
        <p:spPr>
          <a:xfrm>
            <a:off x="2103120" y="2103120"/>
            <a:ext cx="640080" cy="640080"/>
          </a:xfrm>
          <a:prstGeom prst="rect">
            <a:avLst/>
          </a:prstGeom>
        </p:spPr>
      </p:pic>
      <p:sp>
        <p:nvSpPr>
          <p:cNvPr id="14" name="Text 14"/>
          <p:cNvSpPr txBox="1"/>
          <p:nvPr/>
        </p:nvSpPr>
        <p:spPr>
          <a:xfrm>
            <a:off x="731520" y="2880360"/>
            <a:ext cx="3383280" cy="640080"/>
          </a:xfrm>
          <a:prstGeom prst="rect">
            <a:avLst/>
          </a:prstGeom>
          <a:noFill/>
        </p:spPr>
        <p:txBody>
          <a:bodyPr wrap="square" lIns="0" tIns="0" rIns="0" bIns="0" rtlCol="1" anchor="t"/>
          <a:lstStyle/>
          <a:p>
            <a:pPr rtl="1" algn="ctr" marL="0" indent="0">
              <a:buNone/>
            </a:pPr>
            <a:r>
              <a:rPr lang="ar-SA" altLang="en-US" sz="1100" dirty="0">
                <a:solidFill>
                  <a:srgbClr val="5E7268"/>
                </a:solidFill>
                <a:latin typeface="IBM Plex Sans Arabic"/>
                <a:cs typeface="IBM Plex Sans Arabic"/>
              </a:rPr>
              <a:t>ضع هنا صورة أو مقطعًا مرئيًا أو صوتيًا أو مجسّمًا</a:t>
            </a:r>
            <a:endParaRPr lang="ar-SA" sz="1100" dirty="0"/>
          </a:p>
          <a:p>
            <a:pPr rtl="1" algn="ctr" marL="0" indent="0">
              <a:buNone/>
            </a:pPr>
            <a:r>
              <a:rPr lang="ar-SA" altLang="en-US" sz="1100" dirty="0">
                <a:solidFill>
                  <a:srgbClr val="5E7268"/>
                </a:solidFill>
                <a:latin typeface="IBM Plex Sans Arabic"/>
                <a:cs typeface="IBM Plex Sans Arabic"/>
              </a:rPr>
              <a:t>يثير التساؤل، ثم «إرسال إلى الخلف»</a:t>
            </a:r>
            <a:endParaRPr lang="ar-SA" sz="1100" dirty="0"/>
          </a:p>
        </p:txBody>
      </p:sp>
      <p:sp>
        <p:nvSpPr>
          <p:cNvPr id="15" name="Text 15"/>
          <p:cNvSpPr txBox="1"/>
          <p:nvPr/>
        </p:nvSpPr>
        <p:spPr>
          <a:xfrm>
            <a:off x="4754880" y="2103120"/>
            <a:ext cx="3931920" cy="1005840"/>
          </a:xfrm>
          <a:prstGeom prst="rect">
            <a:avLst/>
          </a:prstGeom>
          <a:noFill/>
        </p:spPr>
        <p:txBody>
          <a:bodyPr wrap="square" lIns="0" tIns="0" rIns="0" bIns="0" rtlCol="1" anchor="t"/>
          <a:lstStyle/>
          <a:p>
            <a:pPr rtl="1" algn="r" marL="0" indent="0">
              <a:lnSpc>
                <a:spcPct val="105000"/>
              </a:lnSpc>
              <a:buNone/>
            </a:pPr>
            <a:r>
              <a:rPr lang="ar-SA" altLang="en-US" sz="2000" b="1" dirty="0">
                <a:solidFill>
                  <a:srgbClr val="1C3328"/>
                </a:solidFill>
                <a:latin typeface="IBM Plex Sans Arabic"/>
                <a:cs typeface="IBM Plex Sans Arabic"/>
              </a:rPr>
              <a:t>اكتب هنا سؤالًا مثيرًا للتفكير يربط الدرس بحياة الطالب؟</a:t>
            </a:r>
            <a:endParaRPr lang="ar-SA" sz="2000" dirty="0"/>
          </a:p>
        </p:txBody>
      </p:sp>
      <p:sp>
        <p:nvSpPr>
          <p:cNvPr id="16" name="Text 16"/>
          <p:cNvSpPr txBox="1"/>
          <p:nvPr/>
        </p:nvSpPr>
        <p:spPr>
          <a:xfrm>
            <a:off x="4754880" y="3246120"/>
            <a:ext cx="393192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استراتيجية مقترحة: فكّر ← زاوج ← شارك</a:t>
            </a:r>
            <a:endParaRPr lang="ar-SA" sz="1300" dirty="0"/>
          </a:p>
        </p:txBody>
      </p:sp>
      <p:sp>
        <p:nvSpPr>
          <p:cNvPr id="17" name="Shape 17"/>
          <p:cNvSpPr/>
          <p:nvPr/>
        </p:nvSpPr>
        <p:spPr>
          <a:xfrm>
            <a:off x="7452360" y="3703320"/>
            <a:ext cx="1234440" cy="411480"/>
          </a:xfrm>
          <a:prstGeom prst="roundRect">
            <a:avLst>
              <a:gd name="adj" fmla="val 50000"/>
            </a:avLst>
          </a:prstGeom>
          <a:solidFill>
            <a:srgbClr val="FFFFFF"/>
          </a:solidFill>
          <a:ln w="12700">
            <a:solidFill>
              <a:srgbClr val="D5E7DC"/>
            </a:solidFill>
            <a:prstDash val="solid"/>
          </a:ln>
        </p:spPr>
      </p:sp>
      <p:sp>
        <p:nvSpPr>
          <p:cNvPr id="18" name="Text 18"/>
          <p:cNvSpPr txBox="1"/>
          <p:nvPr/>
        </p:nvSpPr>
        <p:spPr>
          <a:xfrm>
            <a:off x="745236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فكّر  </a:t>
            </a:r>
            <a:r>
              <a:rPr lang="ar-SA" altLang="en-US" sz="1100" dirty="0">
                <a:solidFill>
                  <a:srgbClr val="5E7268"/>
                </a:solidFill>
                <a:latin typeface="IBM Plex Sans Arabic"/>
                <a:cs typeface="IBM Plex Sans Arabic"/>
              </a:rPr>
              <a:t>دقيقة</a:t>
            </a:r>
            <a:endParaRPr lang="ar-SA" sz="1200" dirty="0"/>
          </a:p>
        </p:txBody>
      </p:sp>
      <p:sp>
        <p:nvSpPr>
          <p:cNvPr id="19" name="Shape 19"/>
          <p:cNvSpPr/>
          <p:nvPr/>
        </p:nvSpPr>
        <p:spPr>
          <a:xfrm>
            <a:off x="6126480" y="3703320"/>
            <a:ext cx="1234440" cy="411480"/>
          </a:xfrm>
          <a:prstGeom prst="roundRect">
            <a:avLst>
              <a:gd name="adj" fmla="val 50000"/>
            </a:avLst>
          </a:prstGeom>
          <a:solidFill>
            <a:srgbClr val="FFFFFF"/>
          </a:solidFill>
          <a:ln w="12700">
            <a:solidFill>
              <a:srgbClr val="D5E7DC"/>
            </a:solidFill>
            <a:prstDash val="solid"/>
          </a:ln>
        </p:spPr>
      </p:sp>
      <p:sp>
        <p:nvSpPr>
          <p:cNvPr id="20" name="Text 20"/>
          <p:cNvSpPr txBox="1"/>
          <p:nvPr/>
        </p:nvSpPr>
        <p:spPr>
          <a:xfrm>
            <a:off x="612648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زاوج  </a:t>
            </a:r>
            <a:r>
              <a:rPr lang="ar-SA" altLang="en-US" sz="1100" dirty="0">
                <a:solidFill>
                  <a:srgbClr val="5E7268"/>
                </a:solidFill>
                <a:latin typeface="IBM Plex Sans Arabic"/>
                <a:cs typeface="IBM Plex Sans Arabic"/>
              </a:rPr>
              <a:t>دقيقة</a:t>
            </a:r>
            <a:endParaRPr lang="ar-SA" sz="1200" dirty="0"/>
          </a:p>
        </p:txBody>
      </p:sp>
      <p:sp>
        <p:nvSpPr>
          <p:cNvPr id="21" name="Shape 21"/>
          <p:cNvSpPr/>
          <p:nvPr/>
        </p:nvSpPr>
        <p:spPr>
          <a:xfrm>
            <a:off x="4800600" y="3703320"/>
            <a:ext cx="1234440" cy="411480"/>
          </a:xfrm>
          <a:prstGeom prst="roundRect">
            <a:avLst>
              <a:gd name="adj" fmla="val 50000"/>
            </a:avLst>
          </a:prstGeom>
          <a:solidFill>
            <a:srgbClr val="FFFFFF"/>
          </a:solidFill>
          <a:ln w="12700">
            <a:solidFill>
              <a:srgbClr val="D5E7DC"/>
            </a:solidFill>
            <a:prstDash val="solid"/>
          </a:ln>
        </p:spPr>
      </p:sp>
      <p:sp>
        <p:nvSpPr>
          <p:cNvPr id="22" name="Text 22"/>
          <p:cNvSpPr txBox="1"/>
          <p:nvPr/>
        </p:nvSpPr>
        <p:spPr>
          <a:xfrm>
            <a:off x="480060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شارك  </a:t>
            </a:r>
            <a:r>
              <a:rPr lang="ar-SA" altLang="en-US" sz="1100" dirty="0">
                <a:solidFill>
                  <a:srgbClr val="5E7268"/>
                </a:solidFill>
                <a:latin typeface="IBM Plex Sans Arabic"/>
                <a:cs typeface="IBM Plex Sans Arabic"/>
              </a:rPr>
              <a:t>دقيقتان</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300000"/>
                                        <p:tgtEl>
                                          <p:spTgt spid="6"/>
                                        </p:tgtEl>
                                      </p:cBhvr>
                                    </p:animEffect>
                                    <p:set>
                                      <p:cBhvr>
                                        <p:cTn id="7" dur="1" fill="hold">
                                          <p:stCondLst>
                                            <p:cond delay="299999"/>
                                          </p:stCondLst>
                                        </p:cTn>
                                        <p:tgtEl>
                                          <p:spTgt spid="6"/>
                                        </p:tgtEl>
                                        <p:attrNameLst>
                                          <p:attrName>style.visibility</p:attrName>
                                        </p:attrNameLst>
                                      </p:cBhvr>
                                      <p:to>
                                        <p:strVal val="hidden"/>
                                      </p:to>
                                    </p:set>
                                  </p:childTnLst>
                                </p:cTn>
                              </p:par>
                            </p:childTnLst>
                          </p:cTn>
                        </p:par>
                        <p:par>
                          <p:cTn id="8" fill="hold">
                            <p:stCondLst>
                              <p:cond delay="30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السابق</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نعرف عن الموضوع؟</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608076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67712"/>
            <a:ext cx="502920" cy="502920"/>
          </a:xfrm>
          <a:prstGeom prst="ellipse">
            <a:avLst/>
          </a:prstGeom>
          <a:solidFill>
            <a:srgbClr val="89D7AD"/>
          </a:solidFill>
          <a:ln w="12700">
            <a:solidFill>
              <a:srgbClr val="89D7AD"/>
            </a:solidFill>
            <a:prstDash val="solid"/>
          </a:ln>
        </p:spPr>
      </p:sp>
      <p:pic>
        <p:nvPicPr>
          <p:cNvPr id="9" name="Image 9" descr="Brain"/>
          <p:cNvPicPr>
            <a:picLocks noChangeAspect="1"/>
          </p:cNvPicPr>
          <p:nvPr/>
        </p:nvPicPr>
        <p:blipFill>
          <a:blip r:embed="rId1"/>
          <a:stretch>
            <a:fillRect/>
          </a:stretch>
        </p:blipFill>
        <p:spPr>
          <a:xfrm>
            <a:off x="8109882" y="2376594"/>
            <a:ext cx="285156" cy="285156"/>
          </a:xfrm>
          <a:prstGeom prst="rect">
            <a:avLst/>
          </a:prstGeom>
        </p:spPr>
      </p:pic>
      <p:sp>
        <p:nvSpPr>
          <p:cNvPr id="10" name="Text 10"/>
          <p:cNvSpPr txBox="1"/>
          <p:nvPr/>
        </p:nvSpPr>
        <p:spPr>
          <a:xfrm>
            <a:off x="626364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أعرف؟</a:t>
            </a:r>
            <a:endParaRPr lang="ar-SA" sz="1600" dirty="0"/>
          </a:p>
        </p:txBody>
      </p:sp>
      <p:sp>
        <p:nvSpPr>
          <p:cNvPr id="11" name="Text 11"/>
          <p:cNvSpPr txBox="1"/>
          <p:nvPr/>
        </p:nvSpPr>
        <p:spPr>
          <a:xfrm>
            <a:off x="626364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ما نعرفه مسبقًا عن الموضوع من دروس سابقة أو من الحياة.</a:t>
            </a:r>
            <a:endParaRPr lang="ar-SA" sz="1200" dirty="0"/>
          </a:p>
        </p:txBody>
      </p:sp>
      <p:sp>
        <p:nvSpPr>
          <p:cNvPr id="12" name="Shape 12"/>
          <p:cNvSpPr/>
          <p:nvPr/>
        </p:nvSpPr>
        <p:spPr>
          <a:xfrm>
            <a:off x="6263640" y="3749040"/>
            <a:ext cx="2240280" cy="0"/>
          </a:xfrm>
          <a:prstGeom prst="line">
            <a:avLst/>
          </a:prstGeom>
          <a:noFill/>
          <a:ln w="9525">
            <a:solidFill>
              <a:srgbClr val="D5E7DC"/>
            </a:solidFill>
            <a:prstDash val="dash"/>
          </a:ln>
        </p:spPr>
      </p:sp>
      <p:sp>
        <p:nvSpPr>
          <p:cNvPr id="13" name="Shape 13"/>
          <p:cNvSpPr/>
          <p:nvPr/>
        </p:nvSpPr>
        <p:spPr>
          <a:xfrm>
            <a:off x="6263640" y="4069080"/>
            <a:ext cx="2240280" cy="0"/>
          </a:xfrm>
          <a:prstGeom prst="line">
            <a:avLst/>
          </a:prstGeom>
          <a:noFill/>
          <a:ln w="9525">
            <a:solidFill>
              <a:srgbClr val="D5E7DC"/>
            </a:solidFill>
            <a:prstDash val="dash"/>
          </a:ln>
        </p:spPr>
      </p:sp>
      <p:sp>
        <p:nvSpPr>
          <p:cNvPr id="14" name="Card 14"/>
          <p:cNvSpPr/>
          <p:nvPr/>
        </p:nvSpPr>
        <p:spPr>
          <a:xfrm>
            <a:off x="326898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5189220" y="2267712"/>
            <a:ext cx="502920" cy="502920"/>
          </a:xfrm>
          <a:prstGeom prst="ellipse">
            <a:avLst/>
          </a:prstGeom>
          <a:solidFill>
            <a:srgbClr val="89D7AD"/>
          </a:solidFill>
          <a:ln w="12700">
            <a:solidFill>
              <a:srgbClr val="89D7AD"/>
            </a:solidFill>
            <a:prstDash val="solid"/>
          </a:ln>
        </p:spPr>
      </p:sp>
      <p:pic>
        <p:nvPicPr>
          <p:cNvPr id="16" name="Image 16" descr="Search"/>
          <p:cNvPicPr>
            <a:picLocks noChangeAspect="1"/>
          </p:cNvPicPr>
          <p:nvPr/>
        </p:nvPicPr>
        <p:blipFill>
          <a:blip r:embed="rId2"/>
          <a:stretch>
            <a:fillRect/>
          </a:stretch>
        </p:blipFill>
        <p:spPr>
          <a:xfrm>
            <a:off x="5298102" y="2376594"/>
            <a:ext cx="285156" cy="285156"/>
          </a:xfrm>
          <a:prstGeom prst="rect">
            <a:avLst/>
          </a:prstGeom>
        </p:spPr>
      </p:pic>
      <p:sp>
        <p:nvSpPr>
          <p:cNvPr id="17" name="Text 17"/>
          <p:cNvSpPr txBox="1"/>
          <p:nvPr/>
        </p:nvSpPr>
        <p:spPr>
          <a:xfrm>
            <a:off x="345186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أريد أن أعرف؟</a:t>
            </a:r>
            <a:endParaRPr lang="ar-SA" sz="1600" dirty="0"/>
          </a:p>
        </p:txBody>
      </p:sp>
      <p:sp>
        <p:nvSpPr>
          <p:cNvPr id="18" name="Text 18"/>
          <p:cNvSpPr txBox="1"/>
          <p:nvPr/>
        </p:nvSpPr>
        <p:spPr>
          <a:xfrm>
            <a:off x="345186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الأسئلة التي نريد أن نجد إجابتها اليوم.</a:t>
            </a:r>
            <a:endParaRPr lang="ar-SA" sz="1200" dirty="0"/>
          </a:p>
        </p:txBody>
      </p:sp>
      <p:sp>
        <p:nvSpPr>
          <p:cNvPr id="19" name="Shape 19"/>
          <p:cNvSpPr/>
          <p:nvPr/>
        </p:nvSpPr>
        <p:spPr>
          <a:xfrm>
            <a:off x="3451860" y="3749040"/>
            <a:ext cx="2240280" cy="0"/>
          </a:xfrm>
          <a:prstGeom prst="line">
            <a:avLst/>
          </a:prstGeom>
          <a:noFill/>
          <a:ln w="9525">
            <a:solidFill>
              <a:srgbClr val="D5E7DC"/>
            </a:solidFill>
            <a:prstDash val="dash"/>
          </a:ln>
        </p:spPr>
      </p:sp>
      <p:sp>
        <p:nvSpPr>
          <p:cNvPr id="20" name="Shape 20"/>
          <p:cNvSpPr/>
          <p:nvPr/>
        </p:nvSpPr>
        <p:spPr>
          <a:xfrm>
            <a:off x="3451860" y="4069080"/>
            <a:ext cx="2240280" cy="0"/>
          </a:xfrm>
          <a:prstGeom prst="line">
            <a:avLst/>
          </a:prstGeom>
          <a:noFill/>
          <a:ln w="9525">
            <a:solidFill>
              <a:srgbClr val="D5E7DC"/>
            </a:solidFill>
            <a:prstDash val="dash"/>
          </a:ln>
        </p:spPr>
      </p:sp>
      <p:sp>
        <p:nvSpPr>
          <p:cNvPr id="21" name="Card 21"/>
          <p:cNvSpPr/>
          <p:nvPr/>
        </p:nvSpPr>
        <p:spPr>
          <a:xfrm>
            <a:off x="457200" y="2103120"/>
            <a:ext cx="2606040" cy="23317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2" name="Circle 22"/>
          <p:cNvSpPr/>
          <p:nvPr/>
        </p:nvSpPr>
        <p:spPr>
          <a:xfrm>
            <a:off x="2377440" y="2267712"/>
            <a:ext cx="502920" cy="502920"/>
          </a:xfrm>
          <a:prstGeom prst="ellipse">
            <a:avLst/>
          </a:prstGeom>
          <a:solidFill>
            <a:srgbClr val="89D7AD"/>
          </a:solidFill>
          <a:ln w="12700">
            <a:solidFill>
              <a:srgbClr val="89D7AD"/>
            </a:solidFill>
            <a:prstDash val="solid"/>
          </a:ln>
        </p:spPr>
      </p:sp>
      <p:pic>
        <p:nvPicPr>
          <p:cNvPr id="23" name="Image 23" descr="Sparkles"/>
          <p:cNvPicPr>
            <a:picLocks noChangeAspect="1"/>
          </p:cNvPicPr>
          <p:nvPr/>
        </p:nvPicPr>
        <p:blipFill>
          <a:blip r:embed="rId3"/>
          <a:stretch>
            <a:fillRect/>
          </a:stretch>
        </p:blipFill>
        <p:spPr>
          <a:xfrm>
            <a:off x="2486322" y="2376594"/>
            <a:ext cx="285156" cy="285156"/>
          </a:xfrm>
          <a:prstGeom prst="rect">
            <a:avLst/>
          </a:prstGeom>
        </p:spPr>
      </p:pic>
      <p:sp>
        <p:nvSpPr>
          <p:cNvPr id="24" name="Text 24"/>
          <p:cNvSpPr txBox="1"/>
          <p:nvPr/>
        </p:nvSpPr>
        <p:spPr>
          <a:xfrm>
            <a:off x="64008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تعلّمت؟</a:t>
            </a:r>
            <a:endParaRPr lang="ar-SA" sz="1600" dirty="0"/>
          </a:p>
        </p:txBody>
      </p:sp>
      <p:sp>
        <p:nvSpPr>
          <p:cNvPr id="25" name="Text 25"/>
          <p:cNvSpPr txBox="1"/>
          <p:nvPr/>
        </p:nvSpPr>
        <p:spPr>
          <a:xfrm>
            <a:off x="64008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نعود إليها في نهاية الحصة لنكتب ما تعلّمناه.</a:t>
            </a:r>
            <a:endParaRPr lang="ar-SA" sz="1200" dirty="0"/>
          </a:p>
        </p:txBody>
      </p:sp>
      <p:sp>
        <p:nvSpPr>
          <p:cNvPr id="26" name="Shape 26"/>
          <p:cNvSpPr/>
          <p:nvPr/>
        </p:nvSpPr>
        <p:spPr>
          <a:xfrm>
            <a:off x="640080" y="3749040"/>
            <a:ext cx="2240280" cy="0"/>
          </a:xfrm>
          <a:prstGeom prst="line">
            <a:avLst/>
          </a:prstGeom>
          <a:noFill/>
          <a:ln w="9525">
            <a:solidFill>
              <a:srgbClr val="D5E7DC"/>
            </a:solidFill>
            <a:prstDash val="dash"/>
          </a:ln>
        </p:spPr>
      </p:sp>
      <p:sp>
        <p:nvSpPr>
          <p:cNvPr id="27" name="Shape 27"/>
          <p:cNvSpPr/>
          <p:nvPr/>
        </p:nvSpPr>
        <p:spPr>
          <a:xfrm>
            <a:off x="640080" y="4069080"/>
            <a:ext cx="2240280" cy="0"/>
          </a:xfrm>
          <a:prstGeom prst="line">
            <a:avLst/>
          </a:prstGeom>
          <a:noFill/>
          <a:ln w="9525">
            <a:solidFill>
              <a:srgbClr val="D5E7DC"/>
            </a:solidFill>
            <a:prstDash val="dash"/>
          </a:ln>
        </p:spPr>
      </p:sp>
      <p:sp>
        <p:nvSpPr>
          <p:cNvPr id="28" name="رجوع 28"/>
          <p:cNvSpPr/>
          <p:nvPr/>
        </p:nvSpPr>
        <p:spPr>
          <a:xfrm>
            <a:off x="457200" y="4526280"/>
            <a:ext cx="868680" cy="256032"/>
          </a:xfrm>
          <a:prstGeom prst="roundRect">
            <a:avLst>
              <a:gd name="adj" fmla="val 50000"/>
            </a:avLst>
          </a:prstGeom>
          <a:solidFill>
            <a:srgbClr val="FFFFFF"/>
          </a:solidFill>
          <a:ln w="12700">
            <a:solidFill>
              <a:srgbClr val="D5E7DC"/>
            </a:solidFill>
            <a:prstDash val="solid"/>
          </a:ln>
        </p:spPr>
      </p:sp>
      <p:sp>
        <p:nvSpPr>
          <p:cNvPr id="29" name="Text 29"/>
          <p:cNvSpPr txBox="1"/>
          <p:nvPr/>
        </p:nvSpPr>
        <p:spPr>
          <a:xfrm>
            <a:off x="457200" y="4526280"/>
            <a:ext cx="868680" cy="256032"/>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 رجوع</a:t>
            </a:r>
            <a:endParaRPr lang="ar-SA" sz="1000" dirty="0"/>
          </a:p>
        </p:txBody>
      </p:sp>
      <p:sp>
        <p:nvSpPr>
          <p:cNvPr id="30" name="رجوع إلى آخر شريحة 30">
            <a:hlinkClick r:id="" action="ppaction://hlinkshowjump?jump=lastslideviewed"/>
          </p:cNvPr>
          <p:cNvSpPr/>
          <p:nvPr/>
        </p:nvSpPr>
        <p:spPr>
          <a:xfrm>
            <a:off x="457200" y="4526280"/>
            <a:ext cx="868680" cy="256032"/>
          </a:xfrm>
          <a:prstGeom prst="rect">
            <a:avLst/>
          </a:prstGeom>
          <a:solidFill>
            <a:srgbClr val="FFFFFF">
              <a:alpha val="0"/>
            </a:srgbClr>
          </a:solidFill>
          <a:ln>
            <a:noFill/>
          </a:ln>
        </p:spPr>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أهداف التعلم</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3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في نهاية الحصة سأكون قادرًا على</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383280" y="2103120"/>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183880" y="2231136"/>
            <a:ext cx="402336" cy="402336"/>
          </a:xfrm>
          <a:prstGeom prst="ellipse">
            <a:avLst/>
          </a:prstGeom>
          <a:solidFill>
            <a:srgbClr val="3E6350"/>
          </a:solidFill>
          <a:ln w="12700">
            <a:solidFill>
              <a:srgbClr val="3E6350"/>
            </a:solidFill>
            <a:prstDash val="solid"/>
          </a:ln>
        </p:spPr>
      </p:sp>
      <p:sp>
        <p:nvSpPr>
          <p:cNvPr id="14" name="Text 14"/>
          <p:cNvSpPr txBox="1"/>
          <p:nvPr/>
        </p:nvSpPr>
        <p:spPr>
          <a:xfrm>
            <a:off x="8183880" y="2231136"/>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1</a:t>
            </a:r>
            <a:endParaRPr lang="ar-SA" sz="1500" dirty="0"/>
          </a:p>
        </p:txBody>
      </p:sp>
      <p:sp>
        <p:nvSpPr>
          <p:cNvPr id="15" name="Text 15"/>
          <p:cNvSpPr txBox="1"/>
          <p:nvPr/>
        </p:nvSpPr>
        <p:spPr>
          <a:xfrm>
            <a:off x="4709160" y="2103120"/>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تعريف المفهوم الرئيس للدرس بأسلوبي الخاص.</a:t>
            </a:r>
            <a:endParaRPr lang="ar-SA" sz="1400" dirty="0"/>
          </a:p>
        </p:txBody>
      </p:sp>
      <p:sp>
        <p:nvSpPr>
          <p:cNvPr id="16" name="Shape 16"/>
          <p:cNvSpPr/>
          <p:nvPr/>
        </p:nvSpPr>
        <p:spPr>
          <a:xfrm>
            <a:off x="3520440" y="2286000"/>
            <a:ext cx="1051560" cy="292608"/>
          </a:xfrm>
          <a:prstGeom prst="roundRect">
            <a:avLst>
              <a:gd name="adj" fmla="val 50000"/>
            </a:avLst>
          </a:prstGeom>
          <a:solidFill>
            <a:srgbClr val="EDFAF2"/>
          </a:solidFill>
          <a:ln w="12700">
            <a:solidFill>
              <a:srgbClr val="CCF2DB"/>
            </a:solidFill>
            <a:prstDash val="solid"/>
          </a:ln>
        </p:spPr>
      </p:sp>
      <p:sp>
        <p:nvSpPr>
          <p:cNvPr id="17" name="Text 17"/>
          <p:cNvSpPr txBox="1"/>
          <p:nvPr/>
        </p:nvSpPr>
        <p:spPr>
          <a:xfrm>
            <a:off x="3520440" y="2286000"/>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تذكّر وفهم</a:t>
            </a:r>
            <a:endParaRPr lang="ar-SA" sz="1000" dirty="0"/>
          </a:p>
        </p:txBody>
      </p:sp>
      <p:sp>
        <p:nvSpPr>
          <p:cNvPr id="18" name="Card 18"/>
          <p:cNvSpPr/>
          <p:nvPr/>
        </p:nvSpPr>
        <p:spPr>
          <a:xfrm>
            <a:off x="3383280" y="2889504"/>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8183880" y="3017520"/>
            <a:ext cx="402336" cy="402336"/>
          </a:xfrm>
          <a:prstGeom prst="ellipse">
            <a:avLst/>
          </a:prstGeom>
          <a:solidFill>
            <a:srgbClr val="3E6350"/>
          </a:solidFill>
          <a:ln w="12700">
            <a:solidFill>
              <a:srgbClr val="3E6350"/>
            </a:solidFill>
            <a:prstDash val="solid"/>
          </a:ln>
        </p:spPr>
      </p:sp>
      <p:sp>
        <p:nvSpPr>
          <p:cNvPr id="20" name="Text 20"/>
          <p:cNvSpPr txBox="1"/>
          <p:nvPr/>
        </p:nvSpPr>
        <p:spPr>
          <a:xfrm>
            <a:off x="8183880" y="3017520"/>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2</a:t>
            </a:r>
            <a:endParaRPr lang="ar-SA" sz="1500" dirty="0"/>
          </a:p>
        </p:txBody>
      </p:sp>
      <p:sp>
        <p:nvSpPr>
          <p:cNvPr id="21" name="Text 21"/>
          <p:cNvSpPr txBox="1"/>
          <p:nvPr/>
        </p:nvSpPr>
        <p:spPr>
          <a:xfrm>
            <a:off x="4709160" y="2889504"/>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تطبيق المهارة أو القاعدة في مواقف جديدة.</a:t>
            </a:r>
            <a:endParaRPr lang="ar-SA" sz="1400" dirty="0"/>
          </a:p>
        </p:txBody>
      </p:sp>
      <p:sp>
        <p:nvSpPr>
          <p:cNvPr id="22" name="Shape 22"/>
          <p:cNvSpPr/>
          <p:nvPr/>
        </p:nvSpPr>
        <p:spPr>
          <a:xfrm>
            <a:off x="3520440" y="3072384"/>
            <a:ext cx="1051560" cy="292608"/>
          </a:xfrm>
          <a:prstGeom prst="roundRect">
            <a:avLst>
              <a:gd name="adj" fmla="val 50000"/>
            </a:avLst>
          </a:prstGeom>
          <a:solidFill>
            <a:srgbClr val="EDFAF2"/>
          </a:solidFill>
          <a:ln w="12700">
            <a:solidFill>
              <a:srgbClr val="CCF2DB"/>
            </a:solidFill>
            <a:prstDash val="solid"/>
          </a:ln>
        </p:spPr>
      </p:sp>
      <p:sp>
        <p:nvSpPr>
          <p:cNvPr id="23" name="Text 23"/>
          <p:cNvSpPr txBox="1"/>
          <p:nvPr/>
        </p:nvSpPr>
        <p:spPr>
          <a:xfrm>
            <a:off x="3520440" y="3072384"/>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تطبيق</a:t>
            </a:r>
            <a:endParaRPr lang="ar-SA" sz="1000" dirty="0"/>
          </a:p>
        </p:txBody>
      </p:sp>
      <p:sp>
        <p:nvSpPr>
          <p:cNvPr id="24" name="Card 24"/>
          <p:cNvSpPr/>
          <p:nvPr/>
        </p:nvSpPr>
        <p:spPr>
          <a:xfrm>
            <a:off x="3383280" y="3675888"/>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5" name="Circle 25"/>
          <p:cNvSpPr/>
          <p:nvPr/>
        </p:nvSpPr>
        <p:spPr>
          <a:xfrm>
            <a:off x="8183880" y="3803904"/>
            <a:ext cx="402336" cy="402336"/>
          </a:xfrm>
          <a:prstGeom prst="ellipse">
            <a:avLst/>
          </a:prstGeom>
          <a:solidFill>
            <a:srgbClr val="3E6350"/>
          </a:solidFill>
          <a:ln w="12700">
            <a:solidFill>
              <a:srgbClr val="3E6350"/>
            </a:solidFill>
            <a:prstDash val="solid"/>
          </a:ln>
        </p:spPr>
      </p:sp>
      <p:sp>
        <p:nvSpPr>
          <p:cNvPr id="26" name="Text 26"/>
          <p:cNvSpPr txBox="1"/>
          <p:nvPr/>
        </p:nvSpPr>
        <p:spPr>
          <a:xfrm>
            <a:off x="8183880" y="3803904"/>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3</a:t>
            </a:r>
            <a:endParaRPr lang="ar-SA" sz="1500" dirty="0"/>
          </a:p>
        </p:txBody>
      </p:sp>
      <p:sp>
        <p:nvSpPr>
          <p:cNvPr id="27" name="Text 27"/>
          <p:cNvSpPr txBox="1"/>
          <p:nvPr/>
        </p:nvSpPr>
        <p:spPr>
          <a:xfrm>
            <a:off x="4709160" y="3675888"/>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تحليل مثال واستنتاج العلاقة بين عناصره.</a:t>
            </a:r>
            <a:endParaRPr lang="ar-SA" sz="1400" dirty="0"/>
          </a:p>
        </p:txBody>
      </p:sp>
      <p:sp>
        <p:nvSpPr>
          <p:cNvPr id="28" name="Shape 28"/>
          <p:cNvSpPr/>
          <p:nvPr/>
        </p:nvSpPr>
        <p:spPr>
          <a:xfrm>
            <a:off x="3520440" y="3858768"/>
            <a:ext cx="1051560" cy="292608"/>
          </a:xfrm>
          <a:prstGeom prst="roundRect">
            <a:avLst>
              <a:gd name="adj" fmla="val 50000"/>
            </a:avLst>
          </a:prstGeom>
          <a:solidFill>
            <a:srgbClr val="EDFAF2"/>
          </a:solidFill>
          <a:ln w="12700">
            <a:solidFill>
              <a:srgbClr val="CCF2DB"/>
            </a:solidFill>
            <a:prstDash val="solid"/>
          </a:ln>
        </p:spPr>
      </p:sp>
      <p:sp>
        <p:nvSpPr>
          <p:cNvPr id="29" name="Text 29"/>
          <p:cNvSpPr txBox="1"/>
          <p:nvPr/>
        </p:nvSpPr>
        <p:spPr>
          <a:xfrm>
            <a:off x="3520440" y="3858768"/>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تفكير عليا</a:t>
            </a:r>
            <a:endParaRPr lang="ar-SA" sz="1000" dirty="0"/>
          </a:p>
        </p:txBody>
      </p:sp>
      <p:sp>
        <p:nvSpPr>
          <p:cNvPr id="30" name="Card 30"/>
          <p:cNvSpPr/>
          <p:nvPr/>
        </p:nvSpPr>
        <p:spPr>
          <a:xfrm>
            <a:off x="457200" y="2103120"/>
            <a:ext cx="274320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1" name="Circle 31"/>
          <p:cNvSpPr/>
          <p:nvPr/>
        </p:nvSpPr>
        <p:spPr>
          <a:xfrm>
            <a:off x="1572768" y="2240280"/>
            <a:ext cx="502920" cy="502920"/>
          </a:xfrm>
          <a:prstGeom prst="ellipse">
            <a:avLst/>
          </a:prstGeom>
          <a:solidFill>
            <a:srgbClr val="89D7AD"/>
          </a:solidFill>
          <a:ln w="12700">
            <a:solidFill>
              <a:srgbClr val="89D7AD"/>
            </a:solidFill>
            <a:prstDash val="solid"/>
          </a:ln>
        </p:spPr>
      </p:sp>
      <p:pic>
        <p:nvPicPr>
          <p:cNvPr id="32" name="Image 32" descr="Target"/>
          <p:cNvPicPr>
            <a:picLocks noChangeAspect="1"/>
          </p:cNvPicPr>
          <p:nvPr/>
        </p:nvPicPr>
        <p:blipFill>
          <a:blip r:embed="rId2"/>
          <a:stretch>
            <a:fillRect/>
          </a:stretch>
        </p:blipFill>
        <p:spPr>
          <a:xfrm>
            <a:off x="1681650" y="2349162"/>
            <a:ext cx="285156" cy="285156"/>
          </a:xfrm>
          <a:prstGeom prst="rect">
            <a:avLst/>
          </a:prstGeom>
        </p:spPr>
      </p:pic>
      <p:sp>
        <p:nvSpPr>
          <p:cNvPr id="33" name="Text 33"/>
          <p:cNvSpPr txBox="1"/>
          <p:nvPr/>
        </p:nvSpPr>
        <p:spPr>
          <a:xfrm>
            <a:off x="594360" y="2788920"/>
            <a:ext cx="246888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معايير النجاح</a:t>
            </a:r>
            <a:endParaRPr lang="ar-SA" sz="1500" dirty="0"/>
          </a:p>
        </p:txBody>
      </p:sp>
      <p:sp>
        <p:nvSpPr>
          <p:cNvPr id="34" name="Text 34"/>
          <p:cNvSpPr txBox="1"/>
          <p:nvPr/>
        </p:nvSpPr>
        <p:spPr>
          <a:xfrm>
            <a:off x="640080" y="3154680"/>
            <a:ext cx="2377440" cy="1097280"/>
          </a:xfrm>
          <a:prstGeom prst="rect">
            <a:avLst/>
          </a:prstGeom>
          <a:noFill/>
        </p:spPr>
        <p:txBody>
          <a:bodyPr wrap="square" lIns="0" tIns="0" rIns="0" bIns="0" rtlCol="1" anchor="t"/>
          <a:lstStyle/>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أشرح المفهوم لزميلي.</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أحل مثالًا جديدًا.</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أبرّر إجابتي.</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180000"/>
                                        <p:tgtEl>
                                          <p:spTgt spid="6"/>
                                        </p:tgtEl>
                                      </p:cBhvr>
                                    </p:animEffect>
                                    <p:set>
                                      <p:cBhvr>
                                        <p:cTn id="7" dur="1" fill="hold">
                                          <p:stCondLst>
                                            <p:cond delay="179999"/>
                                          </p:stCondLst>
                                        </p:cTn>
                                        <p:tgtEl>
                                          <p:spTgt spid="6"/>
                                        </p:tgtEl>
                                        <p:attrNameLst>
                                          <p:attrName>style.visibility</p:attrName>
                                        </p:attrNameLst>
                                      </p:cBhvr>
                                      <p:to>
                                        <p:strVal val="hidden"/>
                                      </p:to>
                                    </p:set>
                                  </p:childTnLst>
                                </p:cTn>
                              </p:par>
                            </p:childTnLst>
                          </p:cTn>
                        </p:par>
                        <p:par>
                          <p:cTn id="8" fill="hold">
                            <p:stCondLst>
                              <p:cond delay="18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مفردات الدرس</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مفاهيم نحتاجها اليوم</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10312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377440"/>
            <a:ext cx="502920" cy="502920"/>
          </a:xfrm>
          <a:prstGeom prst="ellipse">
            <a:avLst/>
          </a:prstGeom>
          <a:solidFill>
            <a:srgbClr val="89D7AD"/>
          </a:solidFill>
          <a:ln w="12700">
            <a:solidFill>
              <a:srgbClr val="89D7AD"/>
            </a:solidFill>
            <a:prstDash val="solid"/>
          </a:ln>
        </p:spPr>
      </p:sp>
      <p:pic>
        <p:nvPicPr>
          <p:cNvPr id="9" name="Image 9" descr="BookOpen"/>
          <p:cNvPicPr>
            <a:picLocks noChangeAspect="1"/>
          </p:cNvPicPr>
          <p:nvPr/>
        </p:nvPicPr>
        <p:blipFill>
          <a:blip r:embed="rId1"/>
          <a:stretch>
            <a:fillRect/>
          </a:stretch>
        </p:blipFill>
        <p:spPr>
          <a:xfrm>
            <a:off x="8109882" y="2486322"/>
            <a:ext cx="285156" cy="285156"/>
          </a:xfrm>
          <a:prstGeom prst="rect">
            <a:avLst/>
          </a:prstGeom>
        </p:spPr>
      </p:pic>
      <p:sp>
        <p:nvSpPr>
          <p:cNvPr id="10" name="Text 10"/>
          <p:cNvSpPr txBox="1"/>
          <p:nvPr/>
        </p:nvSpPr>
        <p:spPr>
          <a:xfrm>
            <a:off x="489204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الأول</a:t>
            </a:r>
            <a:endParaRPr lang="ar-SA" sz="1600" dirty="0"/>
          </a:p>
        </p:txBody>
      </p:sp>
      <p:sp>
        <p:nvSpPr>
          <p:cNvPr id="11" name="Text 11"/>
          <p:cNvSpPr txBox="1"/>
          <p:nvPr/>
        </p:nvSpPr>
        <p:spPr>
          <a:xfrm>
            <a:off x="489204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2" name="Card 12"/>
          <p:cNvSpPr/>
          <p:nvPr/>
        </p:nvSpPr>
        <p:spPr>
          <a:xfrm>
            <a:off x="457200" y="210312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3794760" y="2377440"/>
            <a:ext cx="502920" cy="502920"/>
          </a:xfrm>
          <a:prstGeom prst="ellipse">
            <a:avLst/>
          </a:prstGeom>
          <a:solidFill>
            <a:srgbClr val="89D7AD"/>
          </a:solidFill>
          <a:ln w="12700">
            <a:solidFill>
              <a:srgbClr val="89D7AD"/>
            </a:solidFill>
            <a:prstDash val="solid"/>
          </a:ln>
        </p:spPr>
      </p:sp>
      <p:pic>
        <p:nvPicPr>
          <p:cNvPr id="14" name="Image 14" descr="BookOpen"/>
          <p:cNvPicPr>
            <a:picLocks noChangeAspect="1"/>
          </p:cNvPicPr>
          <p:nvPr/>
        </p:nvPicPr>
        <p:blipFill>
          <a:blip r:embed="rId1"/>
          <a:stretch>
            <a:fillRect/>
          </a:stretch>
        </p:blipFill>
        <p:spPr>
          <a:xfrm>
            <a:off x="3903642" y="2486322"/>
            <a:ext cx="285156" cy="285156"/>
          </a:xfrm>
          <a:prstGeom prst="rect">
            <a:avLst/>
          </a:prstGeom>
        </p:spPr>
      </p:pic>
      <p:sp>
        <p:nvSpPr>
          <p:cNvPr id="15" name="Text 15"/>
          <p:cNvSpPr txBox="1"/>
          <p:nvPr/>
        </p:nvSpPr>
        <p:spPr>
          <a:xfrm>
            <a:off x="68580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الثاني</a:t>
            </a:r>
            <a:endParaRPr lang="ar-SA" sz="1600" dirty="0"/>
          </a:p>
        </p:txBody>
      </p:sp>
      <p:sp>
        <p:nvSpPr>
          <p:cNvPr id="16" name="Text 16"/>
          <p:cNvSpPr txBox="1"/>
          <p:nvPr/>
        </p:nvSpPr>
        <p:spPr>
          <a:xfrm>
            <a:off x="68580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7" name="Card 17"/>
          <p:cNvSpPr/>
          <p:nvPr/>
        </p:nvSpPr>
        <p:spPr>
          <a:xfrm>
            <a:off x="4663440" y="333756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8001000" y="3611880"/>
            <a:ext cx="502920" cy="502920"/>
          </a:xfrm>
          <a:prstGeom prst="ellipse">
            <a:avLst/>
          </a:prstGeom>
          <a:solidFill>
            <a:srgbClr val="89D7AD"/>
          </a:solidFill>
          <a:ln w="12700">
            <a:solidFill>
              <a:srgbClr val="89D7AD"/>
            </a:solidFill>
            <a:prstDash val="solid"/>
          </a:ln>
        </p:spPr>
      </p:sp>
      <p:pic>
        <p:nvPicPr>
          <p:cNvPr id="19" name="Image 19" descr="BookOpen"/>
          <p:cNvPicPr>
            <a:picLocks noChangeAspect="1"/>
          </p:cNvPicPr>
          <p:nvPr/>
        </p:nvPicPr>
        <p:blipFill>
          <a:blip r:embed="rId1"/>
          <a:stretch>
            <a:fillRect/>
          </a:stretch>
        </p:blipFill>
        <p:spPr>
          <a:xfrm>
            <a:off x="8109882" y="3720762"/>
            <a:ext cx="285156" cy="285156"/>
          </a:xfrm>
          <a:prstGeom prst="rect">
            <a:avLst/>
          </a:prstGeom>
        </p:spPr>
      </p:pic>
      <p:sp>
        <p:nvSpPr>
          <p:cNvPr id="20" name="Text 20"/>
          <p:cNvSpPr txBox="1"/>
          <p:nvPr/>
        </p:nvSpPr>
        <p:spPr>
          <a:xfrm>
            <a:off x="489204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الثالث</a:t>
            </a:r>
            <a:endParaRPr lang="ar-SA" sz="1600" dirty="0"/>
          </a:p>
        </p:txBody>
      </p:sp>
      <p:sp>
        <p:nvSpPr>
          <p:cNvPr id="21" name="Text 21"/>
          <p:cNvSpPr txBox="1"/>
          <p:nvPr/>
        </p:nvSpPr>
        <p:spPr>
          <a:xfrm>
            <a:off x="489204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22" name="Card 22"/>
          <p:cNvSpPr/>
          <p:nvPr/>
        </p:nvSpPr>
        <p:spPr>
          <a:xfrm>
            <a:off x="457200" y="333756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3794760" y="3611880"/>
            <a:ext cx="502920" cy="502920"/>
          </a:xfrm>
          <a:prstGeom prst="ellipse">
            <a:avLst/>
          </a:prstGeom>
          <a:solidFill>
            <a:srgbClr val="89D7AD"/>
          </a:solidFill>
          <a:ln w="12700">
            <a:solidFill>
              <a:srgbClr val="89D7AD"/>
            </a:solidFill>
            <a:prstDash val="solid"/>
          </a:ln>
        </p:spPr>
      </p:sp>
      <p:pic>
        <p:nvPicPr>
          <p:cNvPr id="24" name="Image 24" descr="BookOpen"/>
          <p:cNvPicPr>
            <a:picLocks noChangeAspect="1"/>
          </p:cNvPicPr>
          <p:nvPr/>
        </p:nvPicPr>
        <p:blipFill>
          <a:blip r:embed="rId1"/>
          <a:stretch>
            <a:fillRect/>
          </a:stretch>
        </p:blipFill>
        <p:spPr>
          <a:xfrm>
            <a:off x="3903642" y="3720762"/>
            <a:ext cx="285156" cy="285156"/>
          </a:xfrm>
          <a:prstGeom prst="rect">
            <a:avLst/>
          </a:prstGeom>
        </p:spPr>
      </p:pic>
      <p:sp>
        <p:nvSpPr>
          <p:cNvPr id="25" name="Text 25"/>
          <p:cNvSpPr txBox="1"/>
          <p:nvPr/>
        </p:nvSpPr>
        <p:spPr>
          <a:xfrm>
            <a:off x="68580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الرابع</a:t>
            </a:r>
            <a:endParaRPr lang="ar-SA" sz="1600" dirty="0"/>
          </a:p>
        </p:txBody>
      </p:sp>
      <p:sp>
        <p:nvSpPr>
          <p:cNvPr id="26" name="Text 26"/>
          <p:cNvSpPr txBox="1"/>
          <p:nvPr/>
        </p:nvSpPr>
        <p:spPr>
          <a:xfrm>
            <a:off x="68580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أنا أعمل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10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الشرح بالمثال</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Text 13"/>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الفكرة الرئيسة</a:t>
            </a:r>
            <a:endParaRPr lang="ar-SA" sz="1800" dirty="0"/>
          </a:p>
        </p:txBody>
      </p:sp>
      <p:sp>
        <p:nvSpPr>
          <p:cNvPr id="14" name="Text 14"/>
          <p:cNvSpPr txBox="1"/>
          <p:nvPr/>
        </p:nvSpPr>
        <p:spPr>
          <a:xfrm>
            <a:off x="4937760" y="2697480"/>
            <a:ext cx="3474720" cy="1645920"/>
          </a:xfrm>
          <a:prstGeom prst="rect">
            <a:avLst/>
          </a:prstGeom>
          <a:noFill/>
        </p:spPr>
        <p:txBody>
          <a:bodyPr wrap="square" lIns="0" tIns="0" rIns="0" bIns="0" rtlCol="1" anchor="t"/>
          <a:lstStyle/>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الأولى في جملة قصيرة.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الثانية مع رسم أو صورة.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الثالثة وربطها بالهدف.</a:t>
            </a:r>
            <a:endParaRPr lang="ar-SA" sz="1400" dirty="0"/>
          </a:p>
        </p:txBody>
      </p:sp>
      <p:sp>
        <p:nvSpPr>
          <p:cNvPr id="15" name="Card 15"/>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6" name="Text 16"/>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مثال محلول خطوة بخطوة</a:t>
            </a:r>
            <a:endParaRPr lang="ar-SA" sz="1800" dirty="0"/>
          </a:p>
        </p:txBody>
      </p:sp>
      <p:sp>
        <p:nvSpPr>
          <p:cNvPr id="17" name="Circle 17"/>
          <p:cNvSpPr/>
          <p:nvPr/>
        </p:nvSpPr>
        <p:spPr>
          <a:xfrm>
            <a:off x="3886200" y="2743200"/>
            <a:ext cx="365760" cy="365760"/>
          </a:xfrm>
          <a:prstGeom prst="ellipse">
            <a:avLst/>
          </a:prstGeom>
          <a:solidFill>
            <a:srgbClr val="89D7AD"/>
          </a:solidFill>
          <a:ln w="12700">
            <a:solidFill>
              <a:srgbClr val="89D7AD"/>
            </a:solidFill>
            <a:prstDash val="solid"/>
          </a:ln>
        </p:spPr>
      </p:sp>
      <p:sp>
        <p:nvSpPr>
          <p:cNvPr id="18" name="Text 18"/>
          <p:cNvSpPr txBox="1"/>
          <p:nvPr/>
        </p:nvSpPr>
        <p:spPr>
          <a:xfrm>
            <a:off x="3886200" y="274320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1</a:t>
            </a:r>
            <a:endParaRPr lang="ar-SA" sz="1300" dirty="0"/>
          </a:p>
        </p:txBody>
      </p:sp>
      <p:sp>
        <p:nvSpPr>
          <p:cNvPr id="19" name="Text 19"/>
          <p:cNvSpPr txBox="1"/>
          <p:nvPr/>
        </p:nvSpPr>
        <p:spPr>
          <a:xfrm>
            <a:off x="731520" y="274320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أقرأ المعطيات وأحدد المطلوب.</a:t>
            </a:r>
            <a:endParaRPr lang="ar-SA" sz="1300" dirty="0"/>
          </a:p>
        </p:txBody>
      </p:sp>
      <p:sp>
        <p:nvSpPr>
          <p:cNvPr id="20" name="Circle 20"/>
          <p:cNvSpPr/>
          <p:nvPr/>
        </p:nvSpPr>
        <p:spPr>
          <a:xfrm>
            <a:off x="3886200" y="3291840"/>
            <a:ext cx="365760" cy="365760"/>
          </a:xfrm>
          <a:prstGeom prst="ellipse">
            <a:avLst/>
          </a:prstGeom>
          <a:solidFill>
            <a:srgbClr val="89D7AD"/>
          </a:solidFill>
          <a:ln w="12700">
            <a:solidFill>
              <a:srgbClr val="89D7AD"/>
            </a:solidFill>
            <a:prstDash val="solid"/>
          </a:ln>
        </p:spPr>
      </p:sp>
      <p:sp>
        <p:nvSpPr>
          <p:cNvPr id="21" name="Text 21"/>
          <p:cNvSpPr txBox="1"/>
          <p:nvPr/>
        </p:nvSpPr>
        <p:spPr>
          <a:xfrm>
            <a:off x="3886200" y="329184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2</a:t>
            </a:r>
            <a:endParaRPr lang="ar-SA" sz="1300" dirty="0"/>
          </a:p>
        </p:txBody>
      </p:sp>
      <p:sp>
        <p:nvSpPr>
          <p:cNvPr id="22" name="Text 22"/>
          <p:cNvSpPr txBox="1"/>
          <p:nvPr/>
        </p:nvSpPr>
        <p:spPr>
          <a:xfrm>
            <a:off x="731520" y="329184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أختار القاعدة أو الإستراتيجية.</a:t>
            </a:r>
            <a:endParaRPr lang="ar-SA" sz="1300" dirty="0"/>
          </a:p>
        </p:txBody>
      </p:sp>
      <p:sp>
        <p:nvSpPr>
          <p:cNvPr id="23" name="Circle 23"/>
          <p:cNvSpPr/>
          <p:nvPr/>
        </p:nvSpPr>
        <p:spPr>
          <a:xfrm>
            <a:off x="3886200" y="3840480"/>
            <a:ext cx="365760" cy="365760"/>
          </a:xfrm>
          <a:prstGeom prst="ellipse">
            <a:avLst/>
          </a:prstGeom>
          <a:solidFill>
            <a:srgbClr val="89D7AD"/>
          </a:solidFill>
          <a:ln w="12700">
            <a:solidFill>
              <a:srgbClr val="89D7AD"/>
            </a:solidFill>
            <a:prstDash val="solid"/>
          </a:ln>
        </p:spPr>
      </p:sp>
      <p:sp>
        <p:nvSpPr>
          <p:cNvPr id="24" name="Text 24"/>
          <p:cNvSpPr txBox="1"/>
          <p:nvPr/>
        </p:nvSpPr>
        <p:spPr>
          <a:xfrm>
            <a:off x="3886200" y="384048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3</a:t>
            </a:r>
            <a:endParaRPr lang="ar-SA" sz="1300" dirty="0"/>
          </a:p>
        </p:txBody>
      </p:sp>
      <p:sp>
        <p:nvSpPr>
          <p:cNvPr id="25" name="Text 25"/>
          <p:cNvSpPr txBox="1"/>
          <p:nvPr/>
        </p:nvSpPr>
        <p:spPr>
          <a:xfrm>
            <a:off x="731520" y="384048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أنفّذ وأتحقق من الإجابة.</a:t>
            </a:r>
            <a:endParaRPr lang="ar-SA" sz="13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500"/>
                                        <p:tgtEl>
                                          <p:spTgt spid="1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500"/>
                                        <p:tgtEl>
                                          <p:spTgt spid="1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9"/>
                                        </p:tgtEl>
                                        <p:attrNameLst>
                                          <p:attrName>style.visibility</p:attrName>
                                        </p:attrNameLst>
                                      </p:cBhvr>
                                      <p:to>
                                        <p:strVal val="visible"/>
                                      </p:to>
                                    </p:set>
                                    <p:animEffect transition="in" filter="fade">
                                      <p:cBhvr>
                                        <p:cTn id="13" dur="500"/>
                                        <p:tgtEl>
                                          <p:spTgt spid="1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500"/>
                                        <p:tgtEl>
                                          <p:spTgt spid="2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500"/>
                                        <p:tgtEl>
                                          <p:spTgt spid="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23"/>
                                        </p:tgtEl>
                                        <p:attrNameLst>
                                          <p:attrName>style.visibility</p:attrName>
                                        </p:attrNameLst>
                                      </p:cBhvr>
                                      <p:to>
                                        <p:strVal val="visible"/>
                                      </p:to>
                                    </p:set>
                                    <p:animEffect transition="in" filter="fade">
                                      <p:cBhvr>
                                        <p:cTn id="29" dur="500"/>
                                        <p:tgtEl>
                                          <p:spTgt spid="2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4"/>
                                        </p:tgtEl>
                                        <p:attrNameLst>
                                          <p:attrName>style.visibility</p:attrName>
                                        </p:attrNameLst>
                                      </p:cBhvr>
                                      <p:to>
                                        <p:strVal val="visible"/>
                                      </p:to>
                                    </p:set>
                                    <p:animEffect transition="in" filter="fade">
                                      <p:cBhvr>
                                        <p:cTn id="32" dur="500"/>
                                        <p:tgtEl>
                                          <p:spTgt spid="2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5"/>
                                        </p:tgtEl>
                                        <p:attrNameLst>
                                          <p:attrName>style.visibility</p:attrName>
                                        </p:attrNameLst>
                                      </p:cBhvr>
                                      <p:to>
                                        <p:strVal val="visible"/>
                                      </p:to>
                                    </p:set>
                                    <p:animEffect transition="in" filter="fade">
                                      <p:cBhvr>
                                        <p:cTn id="3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6" restart="whenNotActive" fill="hold" evtFilter="cancelBubble" nodeType="interactiveSeq">
                <p:stCondLst>
                  <p:cond evt="onClick" delay="0">
                    <p:tgtEl>
                      <p:spTgt spid="4"/>
                    </p:tgtEl>
                  </p:cond>
                </p:stCondLst>
                <p:endSync evt="end" delay="0">
                  <p:rtn val="all"/>
                </p:endSync>
                <p:childTnLst>
                  <p:par>
                    <p:cTn id="37" fill="hold">
                      <p:stCondLst>
                        <p:cond delay="0"/>
                      </p:stCondLst>
                      <p:childTnLst>
                        <p:par>
                          <p:cTn id="38" fill="hold">
                            <p:stCondLst>
                              <p:cond delay="0"/>
                            </p:stCondLst>
                            <p:childTnLst>
                              <p:par>
                                <p:cTn id="39" presetID="22" presetClass="exit" presetSubtype="8" fill="hold" grpId="0" nodeType="clickEffect">
                                  <p:stCondLst>
                                    <p:cond delay="0"/>
                                  </p:stCondLst>
                                  <p:childTnLst>
                                    <p:animEffect transition="out" filter="wipe(left)">
                                      <p:cBhvr>
                                        <p:cTn id="40" dur="600000"/>
                                        <p:tgtEl>
                                          <p:spTgt spid="6"/>
                                        </p:tgtEl>
                                      </p:cBhvr>
                                    </p:animEffect>
                                    <p:set>
                                      <p:cBhvr>
                                        <p:cTn id="41" dur="1" fill="hold">
                                          <p:stCondLst>
                                            <p:cond delay="599999"/>
                                          </p:stCondLst>
                                        </p:cTn>
                                        <p:tgtEl>
                                          <p:spTgt spid="6"/>
                                        </p:tgtEl>
                                        <p:attrNameLst>
                                          <p:attrName>style.visibility</p:attrName>
                                        </p:attrNameLst>
                                      </p:cBhvr>
                                      <p:to>
                                        <p:strVal val="hidden"/>
                                      </p:to>
                                    </p:set>
                                  </p:childTnLst>
                                </p:cTn>
                              </p:par>
                            </p:childTnLst>
                          </p:cTn>
                        </p:par>
                        <p:par>
                          <p:cTn id="42" fill="hold">
                            <p:stCondLst>
                              <p:cond delay="600000"/>
                            </p:stCondLst>
                            <p:childTnLst>
                              <p:par>
                                <p:cTn id="43" presetID="10" presetClass="entr" presetSubtype="0"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subTnLst>
                                    <p:audio>
                                      <p:cMediaNode showWhenStopped="0">
                                        <p:cTn id="46" display="0" masterRel="sameClick">
                                          <p:stCondLst>
                                            <p:cond delay="0"/>
                                          </p:stCondLst>
                                          <p:endCondLst>
                                            <p:cond evt="onNext" delay="0">
                                              <p:tgtEl>
                                                <p:sldTgt/>
                                              </p:tgtEl>
                                            </p:cond>
                                          </p:endCondLst>
                                        </p:cTn>
                                        <p:tgtEl>
                                          <p:sndTgt r:embed="rIdS0" name="timeup.wav"/>
                                        </p:tgtEl>
                                      </p:cMediaNode>
                                    </p:audio>
                                  </p:subTnLst>
                                </p:cTn>
                              </p:par>
                              <p:par>
                                <p:cTn id="47" presetID="10"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animEffect transition="in" filter="fade">
                                      <p:cBhvr>
                                        <p:cTn id="49"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تكويني</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تحقّق من فهمك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457200" y="2011680"/>
            <a:ext cx="8229600" cy="502920"/>
          </a:xfrm>
          <a:prstGeom prst="rect">
            <a:avLst/>
          </a:prstGeom>
          <a:noFill/>
        </p:spPr>
        <p:txBody>
          <a:bodyPr wrap="square" lIns="0" tIns="0" rIns="0" bIns="0" rtlCol="1" anchor="ctr"/>
          <a:lstStyle/>
          <a:p>
            <a:pPr rtl="1" algn="r" marL="0" indent="0">
              <a:buNone/>
            </a:pPr>
            <a:r>
              <a:rPr lang="ar-SA" altLang="en-US" sz="1800" b="1" dirty="0">
                <a:solidFill>
                  <a:srgbClr val="1C3328"/>
                </a:solidFill>
                <a:latin typeface="IBM Plex Sans Arabic"/>
                <a:cs typeface="IBM Plex Sans Arabic"/>
              </a:rPr>
              <a:t>اكتب هنا سؤالًا يكشف الخطأ الشائع في هذا الدرس؟</a:t>
            </a:r>
            <a:endParaRPr lang="ar-SA" sz="1800" dirty="0"/>
          </a:p>
        </p:txBody>
      </p:sp>
      <p:sp>
        <p:nvSpPr>
          <p:cNvPr id="8" name="زر الخيار أ 8"/>
          <p:cNvSpPr/>
          <p:nvPr/>
        </p:nvSpPr>
        <p:spPr>
          <a:xfrm>
            <a:off x="466344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الأول</a:t>
            </a:r>
          </a:p>
        </p:txBody>
      </p:sp>
      <p:sp>
        <p:nvSpPr>
          <p:cNvPr id="9" name="Circle 9"/>
          <p:cNvSpPr/>
          <p:nvPr/>
        </p:nvSpPr>
        <p:spPr>
          <a:xfrm>
            <a:off x="8092440" y="2825496"/>
            <a:ext cx="457200" cy="457200"/>
          </a:xfrm>
          <a:prstGeom prst="ellipse">
            <a:avLst/>
          </a:prstGeom>
          <a:solidFill>
            <a:srgbClr val="89D7AD"/>
          </a:solidFill>
          <a:ln w="12700">
            <a:solidFill>
              <a:srgbClr val="89D7AD"/>
            </a:solidFill>
            <a:prstDash val="solid"/>
          </a:ln>
        </p:spPr>
      </p:sp>
      <p:sp>
        <p:nvSpPr>
          <p:cNvPr id="10" name="Text 10"/>
          <p:cNvSpPr txBox="1"/>
          <p:nvPr/>
        </p:nvSpPr>
        <p:spPr>
          <a:xfrm>
            <a:off x="809244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أ</a:t>
            </a:r>
            <a:endParaRPr lang="ar-SA" sz="1700" dirty="0"/>
          </a:p>
        </p:txBody>
      </p:sp>
      <p:sp>
        <p:nvSpPr>
          <p:cNvPr id="11" name="إطار التغذية الراجعة 11"/>
          <p:cNvSpPr/>
          <p:nvPr/>
        </p:nvSpPr>
        <p:spPr>
          <a:xfrm>
            <a:off x="4663440" y="2697480"/>
            <a:ext cx="4023360" cy="713232"/>
          </a:xfrm>
          <a:prstGeom prst="roundRect">
            <a:avLst>
              <a:gd name="adj" fmla="val 12000"/>
            </a:avLst>
          </a:prstGeom>
          <a:noFill/>
          <a:ln w="38100">
            <a:solidFill>
              <a:srgbClr val="3E6350"/>
            </a:solidFill>
            <a:prstDash val="solid"/>
          </a:ln>
        </p:spPr>
      </p:sp>
      <p:sp>
        <p:nvSpPr>
          <p:cNvPr id="12" name="شارة التغذية الراجعة 12"/>
          <p:cNvSpPr/>
          <p:nvPr/>
        </p:nvSpPr>
        <p:spPr>
          <a:xfrm>
            <a:off x="4846320" y="2898648"/>
            <a:ext cx="1234440" cy="310896"/>
          </a:xfrm>
          <a:prstGeom prst="roundRect">
            <a:avLst>
              <a:gd name="adj" fmla="val 50000"/>
            </a:avLst>
          </a:prstGeom>
          <a:solidFill>
            <a:srgbClr val="3E6350"/>
          </a:solidFill>
          <a:ln w="12700">
            <a:solidFill>
              <a:srgbClr val="3E6350"/>
            </a:solidFill>
            <a:prstDash val="solid"/>
          </a:ln>
        </p:spPr>
      </p:sp>
      <p:sp>
        <p:nvSpPr>
          <p:cNvPr id="13" name="Text 13"/>
          <p:cNvSpPr txBox="1"/>
          <p:nvPr/>
        </p:nvSpPr>
        <p:spPr>
          <a:xfrm>
            <a:off x="484632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إجابة صحيحة</a:t>
            </a:r>
            <a:endParaRPr lang="ar-SA" sz="1100" dirty="0"/>
          </a:p>
        </p:txBody>
      </p:sp>
      <p:sp>
        <p:nvSpPr>
          <p:cNvPr id="14" name="زر الخيار ب 14"/>
          <p:cNvSpPr/>
          <p:nvPr/>
        </p:nvSpPr>
        <p:spPr>
          <a:xfrm>
            <a:off x="45720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الثاني</a:t>
            </a:r>
          </a:p>
        </p:txBody>
      </p:sp>
      <p:sp>
        <p:nvSpPr>
          <p:cNvPr id="15" name="Circle 15"/>
          <p:cNvSpPr/>
          <p:nvPr/>
        </p:nvSpPr>
        <p:spPr>
          <a:xfrm>
            <a:off x="3886200" y="2825496"/>
            <a:ext cx="457200" cy="457200"/>
          </a:xfrm>
          <a:prstGeom prst="ellipse">
            <a:avLst/>
          </a:prstGeom>
          <a:solidFill>
            <a:srgbClr val="89D7AD"/>
          </a:solidFill>
          <a:ln w="12700">
            <a:solidFill>
              <a:srgbClr val="89D7AD"/>
            </a:solidFill>
            <a:prstDash val="solid"/>
          </a:ln>
        </p:spPr>
      </p:sp>
      <p:sp>
        <p:nvSpPr>
          <p:cNvPr id="16" name="Text 16"/>
          <p:cNvSpPr txBox="1"/>
          <p:nvPr/>
        </p:nvSpPr>
        <p:spPr>
          <a:xfrm>
            <a:off x="388620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ب</a:t>
            </a:r>
            <a:endParaRPr lang="ar-SA" sz="1700" dirty="0"/>
          </a:p>
        </p:txBody>
      </p:sp>
      <p:sp>
        <p:nvSpPr>
          <p:cNvPr id="17" name="إطار التغذية الراجعة 17"/>
          <p:cNvSpPr/>
          <p:nvPr/>
        </p:nvSpPr>
        <p:spPr>
          <a:xfrm>
            <a:off x="457200" y="2697480"/>
            <a:ext cx="4023360" cy="713232"/>
          </a:xfrm>
          <a:prstGeom prst="roundRect">
            <a:avLst>
              <a:gd name="adj" fmla="val 12000"/>
            </a:avLst>
          </a:prstGeom>
          <a:noFill/>
          <a:ln w="38100">
            <a:solidFill>
              <a:srgbClr val="A23B3B"/>
            </a:solidFill>
            <a:prstDash val="solid"/>
          </a:ln>
        </p:spPr>
      </p:sp>
      <p:sp>
        <p:nvSpPr>
          <p:cNvPr id="18" name="شارة التغذية الراجعة 18"/>
          <p:cNvSpPr/>
          <p:nvPr/>
        </p:nvSpPr>
        <p:spPr>
          <a:xfrm>
            <a:off x="640080" y="2898648"/>
            <a:ext cx="1234440" cy="310896"/>
          </a:xfrm>
          <a:prstGeom prst="roundRect">
            <a:avLst>
              <a:gd name="adj" fmla="val 50000"/>
            </a:avLst>
          </a:prstGeom>
          <a:solidFill>
            <a:srgbClr val="A23B3B"/>
          </a:solidFill>
          <a:ln w="12700">
            <a:solidFill>
              <a:srgbClr val="A23B3B"/>
            </a:solidFill>
            <a:prstDash val="solid"/>
          </a:ln>
        </p:spPr>
      </p:sp>
      <p:sp>
        <p:nvSpPr>
          <p:cNvPr id="19" name="Text 19"/>
          <p:cNvSpPr txBox="1"/>
          <p:nvPr/>
        </p:nvSpPr>
        <p:spPr>
          <a:xfrm>
            <a:off x="64008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20" name="زر الخيار ج 20"/>
          <p:cNvSpPr/>
          <p:nvPr/>
        </p:nvSpPr>
        <p:spPr>
          <a:xfrm>
            <a:off x="466344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الثالث</a:t>
            </a:r>
          </a:p>
        </p:txBody>
      </p:sp>
      <p:sp>
        <p:nvSpPr>
          <p:cNvPr id="21" name="Circle 21"/>
          <p:cNvSpPr/>
          <p:nvPr/>
        </p:nvSpPr>
        <p:spPr>
          <a:xfrm>
            <a:off x="8092440" y="3694176"/>
            <a:ext cx="457200" cy="457200"/>
          </a:xfrm>
          <a:prstGeom prst="ellipse">
            <a:avLst/>
          </a:prstGeom>
          <a:solidFill>
            <a:srgbClr val="89D7AD"/>
          </a:solidFill>
          <a:ln w="12700">
            <a:solidFill>
              <a:srgbClr val="89D7AD"/>
            </a:solidFill>
            <a:prstDash val="solid"/>
          </a:ln>
        </p:spPr>
      </p:sp>
      <p:sp>
        <p:nvSpPr>
          <p:cNvPr id="22" name="Text 22"/>
          <p:cNvSpPr txBox="1"/>
          <p:nvPr/>
        </p:nvSpPr>
        <p:spPr>
          <a:xfrm>
            <a:off x="809244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ج</a:t>
            </a:r>
            <a:endParaRPr lang="ar-SA" sz="1700" dirty="0"/>
          </a:p>
        </p:txBody>
      </p:sp>
      <p:sp>
        <p:nvSpPr>
          <p:cNvPr id="23" name="إطار التغذية الراجعة 23"/>
          <p:cNvSpPr/>
          <p:nvPr/>
        </p:nvSpPr>
        <p:spPr>
          <a:xfrm>
            <a:off x="4663440" y="3566160"/>
            <a:ext cx="4023360" cy="713232"/>
          </a:xfrm>
          <a:prstGeom prst="roundRect">
            <a:avLst>
              <a:gd name="adj" fmla="val 12000"/>
            </a:avLst>
          </a:prstGeom>
          <a:noFill/>
          <a:ln w="38100">
            <a:solidFill>
              <a:srgbClr val="A23B3B"/>
            </a:solidFill>
            <a:prstDash val="solid"/>
          </a:ln>
        </p:spPr>
      </p:sp>
      <p:sp>
        <p:nvSpPr>
          <p:cNvPr id="24" name="شارة التغذية الراجعة 24"/>
          <p:cNvSpPr/>
          <p:nvPr/>
        </p:nvSpPr>
        <p:spPr>
          <a:xfrm>
            <a:off x="4846320" y="3767328"/>
            <a:ext cx="1234440" cy="310896"/>
          </a:xfrm>
          <a:prstGeom prst="roundRect">
            <a:avLst>
              <a:gd name="adj" fmla="val 50000"/>
            </a:avLst>
          </a:prstGeom>
          <a:solidFill>
            <a:srgbClr val="A23B3B"/>
          </a:solidFill>
          <a:ln w="12700">
            <a:solidFill>
              <a:srgbClr val="A23B3B"/>
            </a:solidFill>
            <a:prstDash val="solid"/>
          </a:ln>
        </p:spPr>
      </p:sp>
      <p:sp>
        <p:nvSpPr>
          <p:cNvPr id="25" name="Text 25"/>
          <p:cNvSpPr txBox="1"/>
          <p:nvPr/>
        </p:nvSpPr>
        <p:spPr>
          <a:xfrm>
            <a:off x="484632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26" name="زر الخيار د 26"/>
          <p:cNvSpPr/>
          <p:nvPr/>
        </p:nvSpPr>
        <p:spPr>
          <a:xfrm>
            <a:off x="45720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txBody>
          <a:bodyPr wrap="square" lIns="1554480" tIns="0" rIns="731520" bIns="0" rtlCol="1" anchor="ctr"/>
          <a:lstStyle/>
          <a:p>
            <a:pPr rtl="1" algn="r">
              <a:buNone/>
            </a:pPr>
            <a:r>
              <a:rPr lang="ar-SA" altLang="en-US" sz="1500" dirty="0">
                <a:solidFill>
                  <a:srgbClr val="1C3328"/>
                </a:solidFill>
                <a:latin typeface="IBM Plex Sans Arabic"/>
                <a:cs typeface="IBM Plex Sans Arabic"/>
              </a:rPr>
              <a:t>الخيار الرابع</a:t>
            </a:r>
          </a:p>
        </p:txBody>
      </p:sp>
      <p:sp>
        <p:nvSpPr>
          <p:cNvPr id="27" name="Circle 27"/>
          <p:cNvSpPr/>
          <p:nvPr/>
        </p:nvSpPr>
        <p:spPr>
          <a:xfrm>
            <a:off x="3886200" y="3694176"/>
            <a:ext cx="457200" cy="457200"/>
          </a:xfrm>
          <a:prstGeom prst="ellipse">
            <a:avLst/>
          </a:prstGeom>
          <a:solidFill>
            <a:srgbClr val="89D7AD"/>
          </a:solidFill>
          <a:ln w="12700">
            <a:solidFill>
              <a:srgbClr val="89D7AD"/>
            </a:solidFill>
            <a:prstDash val="solid"/>
          </a:ln>
        </p:spPr>
      </p:sp>
      <p:sp>
        <p:nvSpPr>
          <p:cNvPr id="28" name="Text 28"/>
          <p:cNvSpPr txBox="1"/>
          <p:nvPr/>
        </p:nvSpPr>
        <p:spPr>
          <a:xfrm>
            <a:off x="388620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د</a:t>
            </a:r>
            <a:endParaRPr lang="ar-SA" sz="1700" dirty="0"/>
          </a:p>
        </p:txBody>
      </p:sp>
      <p:sp>
        <p:nvSpPr>
          <p:cNvPr id="29" name="إطار التغذية الراجعة 29"/>
          <p:cNvSpPr/>
          <p:nvPr/>
        </p:nvSpPr>
        <p:spPr>
          <a:xfrm>
            <a:off x="457200" y="3566160"/>
            <a:ext cx="4023360" cy="713232"/>
          </a:xfrm>
          <a:prstGeom prst="roundRect">
            <a:avLst>
              <a:gd name="adj" fmla="val 12000"/>
            </a:avLst>
          </a:prstGeom>
          <a:noFill/>
          <a:ln w="38100">
            <a:solidFill>
              <a:srgbClr val="A23B3B"/>
            </a:solidFill>
            <a:prstDash val="solid"/>
          </a:ln>
        </p:spPr>
      </p:sp>
      <p:sp>
        <p:nvSpPr>
          <p:cNvPr id="30" name="شارة التغذية الراجعة 30"/>
          <p:cNvSpPr/>
          <p:nvPr/>
        </p:nvSpPr>
        <p:spPr>
          <a:xfrm>
            <a:off x="640080" y="3767328"/>
            <a:ext cx="1234440" cy="310896"/>
          </a:xfrm>
          <a:prstGeom prst="roundRect">
            <a:avLst>
              <a:gd name="adj" fmla="val 50000"/>
            </a:avLst>
          </a:prstGeom>
          <a:solidFill>
            <a:srgbClr val="A23B3B"/>
          </a:solidFill>
          <a:ln w="12700">
            <a:solidFill>
              <a:srgbClr val="A23B3B"/>
            </a:solidFill>
            <a:prstDash val="solid"/>
          </a:ln>
        </p:spPr>
      </p:sp>
      <p:sp>
        <p:nvSpPr>
          <p:cNvPr id="31" name="Text 31"/>
          <p:cNvSpPr txBox="1"/>
          <p:nvPr/>
        </p:nvSpPr>
        <p:spPr>
          <a:xfrm>
            <a:off x="64008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32" name="Text 32"/>
          <p:cNvSpPr txBox="1"/>
          <p:nvPr/>
        </p:nvSpPr>
        <p:spPr>
          <a:xfrm>
            <a:off x="457200" y="4343400"/>
            <a:ext cx="822960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الخيار الذي اختاره أغلب الطلاب ليظهر إن كان صحيحًا.</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8"/>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subTnLst>
                                    <p:audio>
                                      <p:cMediaNode showWhenStopped="0">
                                        <p:cTn id="8" display="0" masterRel="sameClick">
                                          <p:stCondLst>
                                            <p:cond delay="0"/>
                                          </p:stCondLst>
                                          <p:endCondLst>
                                            <p:cond evt="onNext" delay="0">
                                              <p:tgtEl>
                                                <p:sldTgt/>
                                              </p:tgtEl>
                                            </p:cond>
                                          </p:endCondLst>
                                        </p:cTn>
                                        <p:tgtEl>
                                          <p:sndTgt r:embed="rIdS0" name="correct.wav"/>
                                        </p:tgtEl>
                                      </p:cMediaNode>
                                    </p:audio>
                                  </p:subTnLst>
                                </p:cTn>
                              </p:par>
                              <p:par>
                                <p:cTn id="9" presetID="10"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00"/>
                                        <p:tgtEl>
                                          <p:spTgt spid="1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00"/>
                                        <p:tgtEl>
                                          <p:spTgt spid="13"/>
                                        </p:tgtEl>
                                      </p:cBhvr>
                                    </p:animEffect>
                                  </p:childTnLst>
                                </p:cTn>
                              </p:par>
                            </p:childTnLst>
                          </p:cTn>
                        </p:par>
                      </p:childTnLst>
                    </p:cTn>
                  </p:par>
                </p:childTnLst>
              </p:cTn>
              <p:nextCondLst>
                <p:cond evt="onNext" delay="0">
                  <p:tgtEl>
                    <p:sldTgt/>
                  </p:tgtEl>
                </p:cond>
              </p:nextCondLst>
            </p:seq>
            <p:seq concurrent="1" nextAc="seek">
              <p:cTn id="15" restart="whenNotActive" fill="hold" evtFilter="cancelBubble" nodeType="interactiveSeq">
                <p:stCondLst>
                  <p:cond evt="onClick" delay="0">
                    <p:tgtEl>
                      <p:spTgt spid="14"/>
                    </p:tgtEl>
                  </p:cond>
                </p:stCondLst>
                <p:endSync evt="end" delay="0">
                  <p:rtn val="all"/>
                </p:endSync>
                <p:childTnLst>
                  <p:par>
                    <p:cTn id="16" fill="hold">
                      <p:stCondLst>
                        <p:cond delay="0"/>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fade">
                                      <p:cBhvr>
                                        <p:cTn id="20" dur="300"/>
                                        <p:tgtEl>
                                          <p:spTgt spid="17"/>
                                        </p:tgtEl>
                                      </p:cBhvr>
                                    </p:animEffect>
                                  </p:childTnLst>
                                  <p:subTnLst>
                                    <p:audio>
                                      <p:cMediaNode showWhenStopped="0">
                                        <p:cTn id="21" display="0" masterRel="sameClick">
                                          <p:stCondLst>
                                            <p:cond delay="0"/>
                                          </p:stCondLst>
                                          <p:endCondLst>
                                            <p:cond evt="onNext" delay="0">
                                              <p:tgtEl>
                                                <p:sldTgt/>
                                              </p:tgtEl>
                                            </p:cond>
                                          </p:endCondLst>
                                        </p:cTn>
                                        <p:tgtEl>
                                          <p:sndTgt r:embed="rIdS1" name="wrong.wav"/>
                                        </p:tgtEl>
                                      </p:cMediaNode>
                                    </p:audio>
                                  </p:subTnLst>
                                </p:cTn>
                              </p:par>
                              <p:par>
                                <p:cTn id="22" presetID="10" presetClass="entr" presetSubtype="0" fill="hold" grpId="0" nodeType="withEffect">
                                  <p:stCondLst>
                                    <p:cond delay="0"/>
                                  </p:stCondLst>
                                  <p:childTnLst>
                                    <p:set>
                                      <p:cBhvr>
                                        <p:cTn id="23" dur="1" fill="hold">
                                          <p:stCondLst>
                                            <p:cond delay="0"/>
                                          </p:stCondLst>
                                        </p:cTn>
                                        <p:tgtEl>
                                          <p:spTgt spid="18"/>
                                        </p:tgtEl>
                                        <p:attrNameLst>
                                          <p:attrName>style.visibility</p:attrName>
                                        </p:attrNameLst>
                                      </p:cBhvr>
                                      <p:to>
                                        <p:strVal val="visible"/>
                                      </p:to>
                                    </p:set>
                                    <p:animEffect transition="in" filter="fade">
                                      <p:cBhvr>
                                        <p:cTn id="24" dur="300"/>
                                        <p:tgtEl>
                                          <p:spTgt spid="18"/>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fade">
                                      <p:cBhvr>
                                        <p:cTn id="27" dur="300"/>
                                        <p:tgtEl>
                                          <p:spTgt spid="19"/>
                                        </p:tgtEl>
                                      </p:cBhvr>
                                    </p:animEffect>
                                  </p:childTnLst>
                                </p:cTn>
                              </p:par>
                            </p:childTnLst>
                          </p:cTn>
                        </p:par>
                      </p:childTnLst>
                    </p:cTn>
                  </p:par>
                </p:childTnLst>
              </p:cTn>
              <p:nextCondLst>
                <p:cond evt="onNext" delay="0">
                  <p:tgtEl>
                    <p:sldTgt/>
                  </p:tgtEl>
                </p:cond>
              </p:nextCondLst>
            </p:seq>
            <p:seq concurrent="1" nextAc="seek">
              <p:cTn id="28" restart="whenNotActive" fill="hold" evtFilter="cancelBubble" nodeType="interactiveSeq">
                <p:stCondLst>
                  <p:cond evt="onClick" delay="0">
                    <p:tgtEl>
                      <p:spTgt spid="20"/>
                    </p:tgtEl>
                  </p:cond>
                </p:stCondLst>
                <p:endSync evt="end" delay="0">
                  <p:rtn val="all"/>
                </p:endSync>
                <p:childTnLst>
                  <p:par>
                    <p:cTn id="29" fill="hold">
                      <p:stCondLst>
                        <p:cond delay="0"/>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3"/>
                                        </p:tgtEl>
                                        <p:attrNameLst>
                                          <p:attrName>style.visibility</p:attrName>
                                        </p:attrNameLst>
                                      </p:cBhvr>
                                      <p:to>
                                        <p:strVal val="visible"/>
                                      </p:to>
                                    </p:set>
                                    <p:animEffect transition="in" filter="fade">
                                      <p:cBhvr>
                                        <p:cTn id="33" dur="300"/>
                                        <p:tgtEl>
                                          <p:spTgt spid="23"/>
                                        </p:tgtEl>
                                      </p:cBhvr>
                                    </p:animEffect>
                                  </p:childTnLst>
                                  <p:subTnLst>
                                    <p:audio>
                                      <p:cMediaNode showWhenStopped="0">
                                        <p:cTn id="34" display="0" masterRel="sameClick">
                                          <p:stCondLst>
                                            <p:cond delay="0"/>
                                          </p:stCondLst>
                                          <p:endCondLst>
                                            <p:cond evt="onNext" delay="0">
                                              <p:tgtEl>
                                                <p:sldTgt/>
                                              </p:tgtEl>
                                            </p:cond>
                                          </p:endCondLst>
                                        </p:cTn>
                                        <p:tgtEl>
                                          <p:sndTgt r:embed="rIdS1" name="wrong.wav"/>
                                        </p:tgtEl>
                                      </p:cMediaNode>
                                    </p:audio>
                                  </p:sub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3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300"/>
                                        <p:tgtEl>
                                          <p:spTgt spid="25"/>
                                        </p:tgtEl>
                                      </p:cBhvr>
                                    </p:animEffect>
                                  </p:childTnLst>
                                </p:cTn>
                              </p:par>
                            </p:childTnLst>
                          </p:cTn>
                        </p:par>
                      </p:childTnLst>
                    </p:cTn>
                  </p:par>
                </p:childTnLst>
              </p:cTn>
              <p:nextCondLst>
                <p:cond evt="onNext" delay="0">
                  <p:tgtEl>
                    <p:sldTgt/>
                  </p:tgtEl>
                </p:cond>
              </p:nextCondLst>
            </p:seq>
            <p:seq concurrent="1" nextAc="seek">
              <p:cTn id="41" restart="whenNotActive" fill="hold" evtFilter="cancelBubble" nodeType="interactiveSeq">
                <p:stCondLst>
                  <p:cond evt="onClick" delay="0">
                    <p:tgtEl>
                      <p:spTgt spid="26"/>
                    </p:tgtEl>
                  </p:cond>
                </p:stCondLst>
                <p:endSync evt="end" delay="0">
                  <p:rtn val="all"/>
                </p:endSync>
                <p:childTnLst>
                  <p:par>
                    <p:cTn id="42" fill="hold">
                      <p:stCondLst>
                        <p:cond delay="0"/>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9"/>
                                        </p:tgtEl>
                                        <p:attrNameLst>
                                          <p:attrName>style.visibility</p:attrName>
                                        </p:attrNameLst>
                                      </p:cBhvr>
                                      <p:to>
                                        <p:strVal val="visible"/>
                                      </p:to>
                                    </p:set>
                                    <p:animEffect transition="in" filter="fade">
                                      <p:cBhvr>
                                        <p:cTn id="46" dur="300"/>
                                        <p:tgtEl>
                                          <p:spTgt spid="29"/>
                                        </p:tgtEl>
                                      </p:cBhvr>
                                    </p:animEffect>
                                  </p:childTnLst>
                                  <p:subTnLst>
                                    <p:audio>
                                      <p:cMediaNode showWhenStopped="0">
                                        <p:cTn id="47" display="0" masterRel="sameClick">
                                          <p:stCondLst>
                                            <p:cond delay="0"/>
                                          </p:stCondLst>
                                          <p:endCondLst>
                                            <p:cond evt="onNext" delay="0">
                                              <p:tgtEl>
                                                <p:sldTgt/>
                                              </p:tgtEl>
                                            </p:cond>
                                          </p:endCondLst>
                                        </p:cTn>
                                        <p:tgtEl>
                                          <p:sndTgt r:embed="rIdS1" name="wrong.wav"/>
                                        </p:tgtEl>
                                      </p:cMediaNode>
                                    </p:audio>
                                  </p:subTnLst>
                                </p:cTn>
                              </p:par>
                              <p:par>
                                <p:cTn id="48" presetID="10" presetClass="entr" presetSubtype="0" fill="hold" grpId="0"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300"/>
                                        <p:tgtEl>
                                          <p:spTgt spid="3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animEffect transition="in" filter="fade">
                                      <p:cBhvr>
                                        <p:cTn id="53" dur="300"/>
                                        <p:tgtEl>
                                          <p:spTgt spid="31"/>
                                        </p:tgtEl>
                                      </p:cBhvr>
                                    </p:animEffect>
                                  </p:childTnLst>
                                </p:cTn>
                              </p:par>
                            </p:childTnLst>
                          </p:cTn>
                        </p:par>
                      </p:childTnLst>
                    </p:cTn>
                  </p:par>
                </p:childTnLst>
              </p:cTn>
              <p:nextCondLst>
                <p:cond evt="onNext" delay="0">
                  <p:tgtEl>
                    <p:sldTgt/>
                  </p:tgtEl>
                </p:cond>
              </p:nextCondLst>
            </p:seq>
          </p:childTnLst>
        </p:cTn>
      </p:par>
    </p:tnLst>
    <p:bldLst>
      <p:bldP spid="11" grpId="0" animBg="1"/>
      <p:bldP spid="12" grpId="0" animBg="1"/>
      <p:bldP spid="13" grpId="0" animBg="1"/>
      <p:bldP spid="17" grpId="0" animBg="1"/>
      <p:bldP spid="18" grpId="0" animBg="1"/>
      <p:bldP spid="19" grpId="0" animBg="1"/>
      <p:bldP spid="23" grpId="0" animBg="1"/>
      <p:bldP spid="24" grpId="0" animBg="1"/>
      <p:bldP spid="25" grpId="0" animBg="1"/>
      <p:bldP spid="29" grpId="0" animBg="1"/>
      <p:bldP spid="30" grpId="0" animBg="1"/>
      <p:bldP spid="3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نحن نعمل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12 دقيقة</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نشاط تعاوني</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703320" y="2103120"/>
            <a:ext cx="4983480" cy="237744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001000" y="2240280"/>
            <a:ext cx="502920" cy="502920"/>
          </a:xfrm>
          <a:prstGeom prst="ellipse">
            <a:avLst/>
          </a:prstGeom>
          <a:solidFill>
            <a:srgbClr val="89D7AD"/>
          </a:solidFill>
          <a:ln w="12700">
            <a:solidFill>
              <a:srgbClr val="89D7AD"/>
            </a:solidFill>
            <a:prstDash val="solid"/>
          </a:ln>
        </p:spPr>
      </p:sp>
      <p:pic>
        <p:nvPicPr>
          <p:cNvPr id="14" name="Image 14" descr="Users"/>
          <p:cNvPicPr>
            <a:picLocks noChangeAspect="1"/>
          </p:cNvPicPr>
          <p:nvPr/>
        </p:nvPicPr>
        <p:blipFill>
          <a:blip r:embed="rId2"/>
          <a:stretch>
            <a:fillRect/>
          </a:stretch>
        </p:blipFill>
        <p:spPr>
          <a:xfrm>
            <a:off x="8109882" y="2349162"/>
            <a:ext cx="285156" cy="285156"/>
          </a:xfrm>
          <a:prstGeom prst="rect">
            <a:avLst/>
          </a:prstGeom>
        </p:spPr>
      </p:pic>
      <p:sp>
        <p:nvSpPr>
          <p:cNvPr id="15" name="Text 15"/>
          <p:cNvSpPr txBox="1"/>
          <p:nvPr/>
        </p:nvSpPr>
        <p:spPr>
          <a:xfrm>
            <a:off x="3931920" y="2240280"/>
            <a:ext cx="393192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مهمة المجموعة</a:t>
            </a:r>
            <a:endParaRPr lang="ar-SA" sz="1800" dirty="0"/>
          </a:p>
        </p:txBody>
      </p:sp>
      <p:sp>
        <p:nvSpPr>
          <p:cNvPr id="16" name="Text 16"/>
          <p:cNvSpPr txBox="1"/>
          <p:nvPr/>
        </p:nvSpPr>
        <p:spPr>
          <a:xfrm>
            <a:off x="3931920" y="2834640"/>
            <a:ext cx="4526280" cy="1097280"/>
          </a:xfrm>
          <a:prstGeom prst="rect">
            <a:avLst/>
          </a:prstGeom>
          <a:noFill/>
        </p:spPr>
        <p:txBody>
          <a:bodyPr wrap="square" lIns="0" tIns="0" rIns="0" bIns="0" rtlCol="1" anchor="t"/>
          <a:lstStyle/>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اقرؤوا النص أو البيانات في البطاقة وحدّدوا المطلوب.</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احسبوا أو نظّموا المعلومات في جدول.</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اكتبوا الحل بجمل كاملة، واعرضوه في دقيقة.</a:t>
            </a:r>
            <a:endParaRPr lang="ar-SA" sz="1300" dirty="0"/>
          </a:p>
        </p:txBody>
      </p:sp>
      <p:sp>
        <p:nvSpPr>
          <p:cNvPr id="17" name="Shape 17"/>
          <p:cNvSpPr/>
          <p:nvPr/>
        </p:nvSpPr>
        <p:spPr>
          <a:xfrm>
            <a:off x="7452360" y="3950208"/>
            <a:ext cx="1005840" cy="329184"/>
          </a:xfrm>
          <a:prstGeom prst="roundRect">
            <a:avLst>
              <a:gd name="adj" fmla="val 50000"/>
            </a:avLst>
          </a:prstGeom>
          <a:solidFill>
            <a:srgbClr val="EDFAF2"/>
          </a:solidFill>
          <a:ln w="12700">
            <a:solidFill>
              <a:srgbClr val="CCF2DB"/>
            </a:solidFill>
            <a:prstDash val="solid"/>
          </a:ln>
        </p:spPr>
      </p:sp>
      <p:pic>
        <p:nvPicPr>
          <p:cNvPr id="18" name="Image 18" descr="قراءة"/>
          <p:cNvPicPr>
            <a:picLocks noChangeAspect="1"/>
          </p:cNvPicPr>
          <p:nvPr/>
        </p:nvPicPr>
        <p:blipFill>
          <a:blip r:embed="rId3"/>
          <a:stretch>
            <a:fillRect/>
          </a:stretch>
        </p:blipFill>
        <p:spPr>
          <a:xfrm>
            <a:off x="8165592" y="4023360"/>
            <a:ext cx="182880" cy="182880"/>
          </a:xfrm>
          <a:prstGeom prst="rect">
            <a:avLst/>
          </a:prstGeom>
        </p:spPr>
      </p:pic>
      <p:sp>
        <p:nvSpPr>
          <p:cNvPr id="19" name="Text 19"/>
          <p:cNvSpPr txBox="1"/>
          <p:nvPr/>
        </p:nvSpPr>
        <p:spPr>
          <a:xfrm>
            <a:off x="754380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قراءة</a:t>
            </a:r>
            <a:endParaRPr lang="ar-SA" sz="1100" dirty="0"/>
          </a:p>
        </p:txBody>
      </p:sp>
      <p:sp>
        <p:nvSpPr>
          <p:cNvPr id="20" name="Shape 20"/>
          <p:cNvSpPr/>
          <p:nvPr/>
        </p:nvSpPr>
        <p:spPr>
          <a:xfrm>
            <a:off x="6355080" y="3950208"/>
            <a:ext cx="1005840" cy="329184"/>
          </a:xfrm>
          <a:prstGeom prst="roundRect">
            <a:avLst>
              <a:gd name="adj" fmla="val 50000"/>
            </a:avLst>
          </a:prstGeom>
          <a:solidFill>
            <a:srgbClr val="EDFAF2"/>
          </a:solidFill>
          <a:ln w="12700">
            <a:solidFill>
              <a:srgbClr val="CCF2DB"/>
            </a:solidFill>
            <a:prstDash val="solid"/>
          </a:ln>
        </p:spPr>
      </p:sp>
      <p:pic>
        <p:nvPicPr>
          <p:cNvPr id="21" name="Image 21" descr="حساب"/>
          <p:cNvPicPr>
            <a:picLocks noChangeAspect="1"/>
          </p:cNvPicPr>
          <p:nvPr/>
        </p:nvPicPr>
        <p:blipFill>
          <a:blip r:embed="rId4"/>
          <a:stretch>
            <a:fillRect/>
          </a:stretch>
        </p:blipFill>
        <p:spPr>
          <a:xfrm>
            <a:off x="7068312" y="4023360"/>
            <a:ext cx="182880" cy="182880"/>
          </a:xfrm>
          <a:prstGeom prst="rect">
            <a:avLst/>
          </a:prstGeom>
        </p:spPr>
      </p:pic>
      <p:sp>
        <p:nvSpPr>
          <p:cNvPr id="22" name="Text 22"/>
          <p:cNvSpPr txBox="1"/>
          <p:nvPr/>
        </p:nvSpPr>
        <p:spPr>
          <a:xfrm>
            <a:off x="644652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حساب</a:t>
            </a:r>
            <a:endParaRPr lang="ar-SA" sz="1100" dirty="0"/>
          </a:p>
        </p:txBody>
      </p:sp>
      <p:sp>
        <p:nvSpPr>
          <p:cNvPr id="23" name="Shape 23"/>
          <p:cNvSpPr/>
          <p:nvPr/>
        </p:nvSpPr>
        <p:spPr>
          <a:xfrm>
            <a:off x="5257800" y="3950208"/>
            <a:ext cx="1005840" cy="329184"/>
          </a:xfrm>
          <a:prstGeom prst="roundRect">
            <a:avLst>
              <a:gd name="adj" fmla="val 50000"/>
            </a:avLst>
          </a:prstGeom>
          <a:solidFill>
            <a:srgbClr val="EDFAF2"/>
          </a:solidFill>
          <a:ln w="12700">
            <a:solidFill>
              <a:srgbClr val="CCF2DB"/>
            </a:solidFill>
            <a:prstDash val="solid"/>
          </a:ln>
        </p:spPr>
      </p:sp>
      <p:pic>
        <p:nvPicPr>
          <p:cNvPr id="24" name="Image 24" descr="كتابة"/>
          <p:cNvPicPr>
            <a:picLocks noChangeAspect="1"/>
          </p:cNvPicPr>
          <p:nvPr/>
        </p:nvPicPr>
        <p:blipFill>
          <a:blip r:embed="rId5"/>
          <a:stretch>
            <a:fillRect/>
          </a:stretch>
        </p:blipFill>
        <p:spPr>
          <a:xfrm>
            <a:off x="5971032" y="4023360"/>
            <a:ext cx="182880" cy="182880"/>
          </a:xfrm>
          <a:prstGeom prst="rect">
            <a:avLst/>
          </a:prstGeom>
        </p:spPr>
      </p:pic>
      <p:sp>
        <p:nvSpPr>
          <p:cNvPr id="25" name="Text 25"/>
          <p:cNvSpPr txBox="1"/>
          <p:nvPr/>
        </p:nvSpPr>
        <p:spPr>
          <a:xfrm>
            <a:off x="534924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كتابة</a:t>
            </a:r>
            <a:endParaRPr lang="ar-SA" sz="1100" dirty="0"/>
          </a:p>
        </p:txBody>
      </p:sp>
      <p:sp>
        <p:nvSpPr>
          <p:cNvPr id="26" name="Card 26"/>
          <p:cNvSpPr/>
          <p:nvPr/>
        </p:nvSpPr>
        <p:spPr>
          <a:xfrm>
            <a:off x="196596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7" name="Circle 27"/>
          <p:cNvSpPr/>
          <p:nvPr/>
        </p:nvSpPr>
        <p:spPr>
          <a:xfrm>
            <a:off x="2450592" y="2194560"/>
            <a:ext cx="438912" cy="438912"/>
          </a:xfrm>
          <a:prstGeom prst="ellipse">
            <a:avLst/>
          </a:prstGeom>
          <a:solidFill>
            <a:srgbClr val="89D7AD"/>
          </a:solidFill>
          <a:ln w="12700">
            <a:solidFill>
              <a:srgbClr val="89D7AD"/>
            </a:solidFill>
            <a:prstDash val="solid"/>
          </a:ln>
        </p:spPr>
      </p:sp>
      <p:pic>
        <p:nvPicPr>
          <p:cNvPr id="28" name="Image 28" descr="Crown"/>
          <p:cNvPicPr>
            <a:picLocks noChangeAspect="1"/>
          </p:cNvPicPr>
          <p:nvPr/>
        </p:nvPicPr>
        <p:blipFill>
          <a:blip r:embed="rId6"/>
          <a:stretch>
            <a:fillRect/>
          </a:stretch>
        </p:blipFill>
        <p:spPr>
          <a:xfrm>
            <a:off x="2545616" y="2289584"/>
            <a:ext cx="248863" cy="248863"/>
          </a:xfrm>
          <a:prstGeom prst="rect">
            <a:avLst/>
          </a:prstGeom>
        </p:spPr>
      </p:pic>
      <p:sp>
        <p:nvSpPr>
          <p:cNvPr id="29" name="Text 29"/>
          <p:cNvSpPr txBox="1"/>
          <p:nvPr/>
        </p:nvSpPr>
        <p:spPr>
          <a:xfrm>
            <a:off x="196596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القائد</a:t>
            </a:r>
            <a:endParaRPr lang="ar-SA" sz="1300" dirty="0"/>
          </a:p>
        </p:txBody>
      </p:sp>
      <p:sp>
        <p:nvSpPr>
          <p:cNvPr id="30" name="Text 30"/>
          <p:cNvSpPr txBox="1"/>
          <p:nvPr/>
        </p:nvSpPr>
        <p:spPr>
          <a:xfrm>
            <a:off x="196596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ينظّم العمل</a:t>
            </a:r>
            <a:endParaRPr lang="ar-SA" sz="1000" dirty="0"/>
          </a:p>
        </p:txBody>
      </p:sp>
      <p:sp>
        <p:nvSpPr>
          <p:cNvPr id="31" name="Card 31"/>
          <p:cNvSpPr/>
          <p:nvPr/>
        </p:nvSpPr>
        <p:spPr>
          <a:xfrm>
            <a:off x="45720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2" name="Circle 32"/>
          <p:cNvSpPr/>
          <p:nvPr/>
        </p:nvSpPr>
        <p:spPr>
          <a:xfrm>
            <a:off x="941832" y="2194560"/>
            <a:ext cx="438912" cy="438912"/>
          </a:xfrm>
          <a:prstGeom prst="ellipse">
            <a:avLst/>
          </a:prstGeom>
          <a:solidFill>
            <a:srgbClr val="89D7AD"/>
          </a:solidFill>
          <a:ln w="12700">
            <a:solidFill>
              <a:srgbClr val="89D7AD"/>
            </a:solidFill>
            <a:prstDash val="solid"/>
          </a:ln>
        </p:spPr>
      </p:sp>
      <p:pic>
        <p:nvPicPr>
          <p:cNvPr id="33" name="Image 33" descr="Pencil"/>
          <p:cNvPicPr>
            <a:picLocks noChangeAspect="1"/>
          </p:cNvPicPr>
          <p:nvPr/>
        </p:nvPicPr>
        <p:blipFill>
          <a:blip r:embed="rId7"/>
          <a:stretch>
            <a:fillRect/>
          </a:stretch>
        </p:blipFill>
        <p:spPr>
          <a:xfrm>
            <a:off x="1036856" y="2289584"/>
            <a:ext cx="248863" cy="248863"/>
          </a:xfrm>
          <a:prstGeom prst="rect">
            <a:avLst/>
          </a:prstGeom>
        </p:spPr>
      </p:pic>
      <p:sp>
        <p:nvSpPr>
          <p:cNvPr id="34" name="Text 34"/>
          <p:cNvSpPr txBox="1"/>
          <p:nvPr/>
        </p:nvSpPr>
        <p:spPr>
          <a:xfrm>
            <a:off x="45720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المقرّر</a:t>
            </a:r>
            <a:endParaRPr lang="ar-SA" sz="1300" dirty="0"/>
          </a:p>
        </p:txBody>
      </p:sp>
      <p:sp>
        <p:nvSpPr>
          <p:cNvPr id="35" name="Text 35"/>
          <p:cNvSpPr txBox="1"/>
          <p:nvPr/>
        </p:nvSpPr>
        <p:spPr>
          <a:xfrm>
            <a:off x="45720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يدوّن الإجابة</a:t>
            </a:r>
            <a:endParaRPr lang="ar-SA" sz="1000" dirty="0"/>
          </a:p>
        </p:txBody>
      </p:sp>
      <p:sp>
        <p:nvSpPr>
          <p:cNvPr id="36" name="Card 36"/>
          <p:cNvSpPr/>
          <p:nvPr/>
        </p:nvSpPr>
        <p:spPr>
          <a:xfrm>
            <a:off x="196596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7" name="Circle 37"/>
          <p:cNvSpPr/>
          <p:nvPr/>
        </p:nvSpPr>
        <p:spPr>
          <a:xfrm>
            <a:off x="2450592" y="3429000"/>
            <a:ext cx="438912" cy="438912"/>
          </a:xfrm>
          <a:prstGeom prst="ellipse">
            <a:avLst/>
          </a:prstGeom>
          <a:solidFill>
            <a:srgbClr val="89D7AD"/>
          </a:solidFill>
          <a:ln w="12700">
            <a:solidFill>
              <a:srgbClr val="89D7AD"/>
            </a:solidFill>
            <a:prstDash val="solid"/>
          </a:ln>
        </p:spPr>
      </p:sp>
      <p:pic>
        <p:nvPicPr>
          <p:cNvPr id="38" name="Image 38" descr="Timer"/>
          <p:cNvPicPr>
            <a:picLocks noChangeAspect="1"/>
          </p:cNvPicPr>
          <p:nvPr/>
        </p:nvPicPr>
        <p:blipFill>
          <a:blip r:embed="rId8"/>
          <a:stretch>
            <a:fillRect/>
          </a:stretch>
        </p:blipFill>
        <p:spPr>
          <a:xfrm>
            <a:off x="2545616" y="3524024"/>
            <a:ext cx="248863" cy="248863"/>
          </a:xfrm>
          <a:prstGeom prst="rect">
            <a:avLst/>
          </a:prstGeom>
        </p:spPr>
      </p:pic>
      <p:sp>
        <p:nvSpPr>
          <p:cNvPr id="39" name="Text 39"/>
          <p:cNvSpPr txBox="1"/>
          <p:nvPr/>
        </p:nvSpPr>
        <p:spPr>
          <a:xfrm>
            <a:off x="196596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مراقب الوقت</a:t>
            </a:r>
            <a:endParaRPr lang="ar-SA" sz="1300" dirty="0"/>
          </a:p>
        </p:txBody>
      </p:sp>
      <p:sp>
        <p:nvSpPr>
          <p:cNvPr id="40" name="Text 40"/>
          <p:cNvSpPr txBox="1"/>
          <p:nvPr/>
        </p:nvSpPr>
        <p:spPr>
          <a:xfrm>
            <a:off x="196596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ينبّه للزمن</a:t>
            </a:r>
            <a:endParaRPr lang="ar-SA" sz="1000" dirty="0"/>
          </a:p>
        </p:txBody>
      </p:sp>
      <p:sp>
        <p:nvSpPr>
          <p:cNvPr id="41" name="Card 41"/>
          <p:cNvSpPr/>
          <p:nvPr/>
        </p:nvSpPr>
        <p:spPr>
          <a:xfrm>
            <a:off x="45720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2" name="Circle 42"/>
          <p:cNvSpPr/>
          <p:nvPr/>
        </p:nvSpPr>
        <p:spPr>
          <a:xfrm>
            <a:off x="941832" y="3429000"/>
            <a:ext cx="438912" cy="438912"/>
          </a:xfrm>
          <a:prstGeom prst="ellipse">
            <a:avLst/>
          </a:prstGeom>
          <a:solidFill>
            <a:srgbClr val="89D7AD"/>
          </a:solidFill>
          <a:ln w="12700">
            <a:solidFill>
              <a:srgbClr val="89D7AD"/>
            </a:solidFill>
            <a:prstDash val="solid"/>
          </a:ln>
        </p:spPr>
      </p:sp>
      <p:pic>
        <p:nvPicPr>
          <p:cNvPr id="43" name="Image 43" descr="Mic"/>
          <p:cNvPicPr>
            <a:picLocks noChangeAspect="1"/>
          </p:cNvPicPr>
          <p:nvPr/>
        </p:nvPicPr>
        <p:blipFill>
          <a:blip r:embed="rId9"/>
          <a:stretch>
            <a:fillRect/>
          </a:stretch>
        </p:blipFill>
        <p:spPr>
          <a:xfrm>
            <a:off x="1036856" y="3524024"/>
            <a:ext cx="248863" cy="248863"/>
          </a:xfrm>
          <a:prstGeom prst="rect">
            <a:avLst/>
          </a:prstGeom>
        </p:spPr>
      </p:pic>
      <p:sp>
        <p:nvSpPr>
          <p:cNvPr id="44" name="Text 44"/>
          <p:cNvSpPr txBox="1"/>
          <p:nvPr/>
        </p:nvSpPr>
        <p:spPr>
          <a:xfrm>
            <a:off x="45720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المتحدث</a:t>
            </a:r>
            <a:endParaRPr lang="ar-SA" sz="1300" dirty="0"/>
          </a:p>
        </p:txBody>
      </p:sp>
      <p:sp>
        <p:nvSpPr>
          <p:cNvPr id="45" name="Text 45"/>
          <p:cNvSpPr txBox="1"/>
          <p:nvPr/>
        </p:nvSpPr>
        <p:spPr>
          <a:xfrm>
            <a:off x="45720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يعرض النتيجة</a:t>
            </a:r>
            <a:endParaRPr lang="ar-SA" sz="10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720000"/>
                                        <p:tgtEl>
                                          <p:spTgt spid="6"/>
                                        </p:tgtEl>
                                      </p:cBhvr>
                                    </p:animEffect>
                                    <p:set>
                                      <p:cBhvr>
                                        <p:cTn id="7" dur="1" fill="hold">
                                          <p:stCondLst>
                                            <p:cond delay="719999"/>
                                          </p:stCondLst>
                                        </p:cTn>
                                        <p:tgtEl>
                                          <p:spTgt spid="6"/>
                                        </p:tgtEl>
                                        <p:attrNameLst>
                                          <p:attrName>style.visibility</p:attrName>
                                        </p:attrNameLst>
                                      </p:cBhvr>
                                      <p:to>
                                        <p:strVal val="hidden"/>
                                      </p:to>
                                    </p:set>
                                  </p:childTnLst>
                                </p:cTn>
                              </p:par>
                            </p:childTnLst>
                          </p:cTn>
                        </p:par>
                        <p:par>
                          <p:cTn id="8" fill="hold">
                            <p:stCondLst>
                              <p:cond delay="72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الأقران</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قيّم زميلك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3520440" y="2103120"/>
          <a:ext cx="5166360" cy="1828800"/>
        </p:xfrm>
        <a:graphic>
          <a:graphicData uri="http://schemas.openxmlformats.org/drawingml/2006/table">
            <a:tbl>
              <a:tblPr rtl="1" firstRow="1" bandRow="1"/>
              <a:tblGrid>
                <a:gridCol w="1280160"/>
                <a:gridCol w="1280160"/>
                <a:gridCol w="1280160"/>
                <a:gridCol w="1325880"/>
              </a:tblGrid>
              <a:tr h="457200">
                <a:tc>
                  <a:txBody>
                    <a:bodyPr/>
                    <a:lstStyle/>
                    <a:p>
                      <a:pPr rtl="1" algn="ctr"/>
                      <a:r>
                        <a:rPr lang="ar-SA" altLang="en-US" sz="1100" b="1" dirty="0">
                          <a:solidFill>
                            <a:srgbClr val="FFFFFF"/>
                          </a:solidFill>
                          <a:latin typeface="IBM Plex Sans Arabic"/>
                          <a:cs typeface="IBM Plex Sans Arabic"/>
                        </a:rPr>
                        <a:t>يحتاج تحسينًا (1)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جيد (2)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متميز (3)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المحك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457200">
                <a:tc>
                  <a:txBody>
                    <a:bodyPr/>
                    <a:lstStyle/>
                    <a:p>
                      <a:pPr rtl="1" algn="r"/>
                      <a:r>
                        <a:rPr lang="ar-SA" altLang="en-US" sz="1100" dirty="0">
                          <a:solidFill>
                            <a:srgbClr val="1C3328"/>
                          </a:solidFill>
                          <a:latin typeface="IBM Plex Sans Arabic"/>
                          <a:cs typeface="IBM Plex Sans Arabic"/>
                        </a:rPr>
                        <a:t>فيه أخطاء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دون تبرير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ومبرَّر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صحة الحل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457200">
                <a:tc>
                  <a:txBody>
                    <a:bodyPr/>
                    <a:lstStyle/>
                    <a:p>
                      <a:pPr rtl="1" algn="r"/>
                      <a:r>
                        <a:rPr lang="ar-SA" altLang="en-US" sz="1100" dirty="0">
                          <a:solidFill>
                            <a:srgbClr val="1C3328"/>
                          </a:solidFill>
                          <a:latin typeface="IBM Plex Sans Arabic"/>
                          <a:cs typeface="IBM Plex Sans Arabic"/>
                        </a:rPr>
                        <a:t>غير واضح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وطويل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ومنظّم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وضوح العرض</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457200">
                <a:tc>
                  <a:txBody>
                    <a:bodyPr/>
                    <a:lstStyle/>
                    <a:p>
                      <a:pPr rtl="1" algn="r"/>
                      <a:r>
                        <a:rPr lang="ar-SA" altLang="en-US" sz="1100" dirty="0">
                          <a:solidFill>
                            <a:srgbClr val="1C3328"/>
                          </a:solidFill>
                          <a:latin typeface="IBM Plex Sans Arabic"/>
                          <a:cs typeface="IBM Plex Sans Arabic"/>
                        </a:rPr>
                        <a:t>عمل فرد واحد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أغلبهم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الجميع بأدوارهم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التعاون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
        <p:nvSpPr>
          <p:cNvPr id="8" name="Text 8"/>
          <p:cNvSpPr txBox="1"/>
          <p:nvPr/>
        </p:nvSpPr>
        <p:spPr>
          <a:xfrm>
            <a:off x="3520440" y="4069080"/>
            <a:ext cx="516636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يقيّم كل فريق فريقًا آخر، ويعلن رأيه في 30 ثانية.</a:t>
            </a:r>
            <a:endParaRPr lang="ar-SA" sz="1200" dirty="0"/>
          </a:p>
        </p:txBody>
      </p:sp>
      <p:sp>
        <p:nvSpPr>
          <p:cNvPr id="9" name="Card 9"/>
          <p:cNvSpPr/>
          <p:nvPr/>
        </p:nvSpPr>
        <p:spPr>
          <a:xfrm>
            <a:off x="457200" y="2103120"/>
            <a:ext cx="2834640" cy="2286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0" name="Text 10"/>
          <p:cNvSpPr txBox="1"/>
          <p:nvPr/>
        </p:nvSpPr>
        <p:spPr>
          <a:xfrm>
            <a:off x="640080" y="2212848"/>
            <a:ext cx="2468880" cy="365760"/>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نجمتان وأمنية</a:t>
            </a:r>
            <a:endParaRPr lang="ar-SA" sz="1700" dirty="0"/>
          </a:p>
        </p:txBody>
      </p:sp>
      <p:sp>
        <p:nvSpPr>
          <p:cNvPr id="11" name="Circle 11"/>
          <p:cNvSpPr/>
          <p:nvPr/>
        </p:nvSpPr>
        <p:spPr>
          <a:xfrm>
            <a:off x="2743200" y="2743200"/>
            <a:ext cx="365760" cy="365760"/>
          </a:xfrm>
          <a:prstGeom prst="ellipse">
            <a:avLst/>
          </a:prstGeom>
          <a:solidFill>
            <a:srgbClr val="89D7AD"/>
          </a:solidFill>
          <a:ln w="12700">
            <a:solidFill>
              <a:srgbClr val="89D7AD"/>
            </a:solidFill>
            <a:prstDash val="solid"/>
          </a:ln>
        </p:spPr>
      </p:sp>
      <p:pic>
        <p:nvPicPr>
          <p:cNvPr id="12" name="Image 12" descr="Star"/>
          <p:cNvPicPr>
            <a:picLocks noChangeAspect="1"/>
          </p:cNvPicPr>
          <p:nvPr/>
        </p:nvPicPr>
        <p:blipFill>
          <a:blip r:embed="rId1"/>
          <a:stretch>
            <a:fillRect/>
          </a:stretch>
        </p:blipFill>
        <p:spPr>
          <a:xfrm>
            <a:off x="2822387" y="2822387"/>
            <a:ext cx="207386" cy="207386"/>
          </a:xfrm>
          <a:prstGeom prst="rect">
            <a:avLst/>
          </a:prstGeom>
        </p:spPr>
      </p:pic>
      <p:sp>
        <p:nvSpPr>
          <p:cNvPr id="13" name="Text 13"/>
          <p:cNvSpPr txBox="1"/>
          <p:nvPr/>
        </p:nvSpPr>
        <p:spPr>
          <a:xfrm>
            <a:off x="640080" y="274320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أعجبني في عرضكم ...</a:t>
            </a:r>
            <a:endParaRPr lang="ar-SA" sz="1300" dirty="0"/>
          </a:p>
        </p:txBody>
      </p:sp>
      <p:sp>
        <p:nvSpPr>
          <p:cNvPr id="14" name="Circle 14"/>
          <p:cNvSpPr/>
          <p:nvPr/>
        </p:nvSpPr>
        <p:spPr>
          <a:xfrm>
            <a:off x="2743200" y="3246120"/>
            <a:ext cx="365760" cy="365760"/>
          </a:xfrm>
          <a:prstGeom prst="ellipse">
            <a:avLst/>
          </a:prstGeom>
          <a:solidFill>
            <a:srgbClr val="89D7AD"/>
          </a:solidFill>
          <a:ln w="12700">
            <a:solidFill>
              <a:srgbClr val="89D7AD"/>
            </a:solidFill>
            <a:prstDash val="solid"/>
          </a:ln>
        </p:spPr>
      </p:sp>
      <p:pic>
        <p:nvPicPr>
          <p:cNvPr id="15" name="Image 15" descr="Star"/>
          <p:cNvPicPr>
            <a:picLocks noChangeAspect="1"/>
          </p:cNvPicPr>
          <p:nvPr/>
        </p:nvPicPr>
        <p:blipFill>
          <a:blip r:embed="rId1"/>
          <a:stretch>
            <a:fillRect/>
          </a:stretch>
        </p:blipFill>
        <p:spPr>
          <a:xfrm>
            <a:off x="2822387" y="3325307"/>
            <a:ext cx="207386" cy="207386"/>
          </a:xfrm>
          <a:prstGeom prst="rect">
            <a:avLst/>
          </a:prstGeom>
        </p:spPr>
      </p:pic>
      <p:sp>
        <p:nvSpPr>
          <p:cNvPr id="16" name="Text 16"/>
          <p:cNvSpPr txBox="1"/>
          <p:nvPr/>
        </p:nvSpPr>
        <p:spPr>
          <a:xfrm>
            <a:off x="640080" y="324612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أحسنتم في ...</a:t>
            </a:r>
            <a:endParaRPr lang="ar-SA" sz="1300" dirty="0"/>
          </a:p>
        </p:txBody>
      </p:sp>
      <p:sp>
        <p:nvSpPr>
          <p:cNvPr id="17" name="Circle 17"/>
          <p:cNvSpPr/>
          <p:nvPr/>
        </p:nvSpPr>
        <p:spPr>
          <a:xfrm>
            <a:off x="2743200" y="3749040"/>
            <a:ext cx="365760" cy="365760"/>
          </a:xfrm>
          <a:prstGeom prst="ellipse">
            <a:avLst/>
          </a:prstGeom>
          <a:solidFill>
            <a:srgbClr val="89D7AD"/>
          </a:solidFill>
          <a:ln w="12700">
            <a:solidFill>
              <a:srgbClr val="89D7AD"/>
            </a:solidFill>
            <a:prstDash val="solid"/>
          </a:ln>
        </p:spPr>
      </p:sp>
      <p:pic>
        <p:nvPicPr>
          <p:cNvPr id="18" name="Image 18" descr="Lightbulb"/>
          <p:cNvPicPr>
            <a:picLocks noChangeAspect="1"/>
          </p:cNvPicPr>
          <p:nvPr/>
        </p:nvPicPr>
        <p:blipFill>
          <a:blip r:embed="rId2"/>
          <a:stretch>
            <a:fillRect/>
          </a:stretch>
        </p:blipFill>
        <p:spPr>
          <a:xfrm>
            <a:off x="2822387" y="3828227"/>
            <a:ext cx="207386" cy="207386"/>
          </a:xfrm>
          <a:prstGeom prst="rect">
            <a:avLst/>
          </a:prstGeom>
        </p:spPr>
      </p:pic>
      <p:sp>
        <p:nvSpPr>
          <p:cNvPr id="19" name="Text 19"/>
          <p:cNvSpPr txBox="1"/>
          <p:nvPr/>
        </p:nvSpPr>
        <p:spPr>
          <a:xfrm>
            <a:off x="640080" y="374904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أقترح عليكم ...</a:t>
            </a:r>
            <a:endParaRPr lang="ar-SA" sz="13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7772400" y="777240"/>
            <a:ext cx="914400" cy="1097280"/>
          </a:xfrm>
          <a:prstGeom prst="rect">
            <a:avLst/>
          </a:prstGeom>
          <a:noFill/>
        </p:spPr>
        <p:txBody>
          <a:bodyPr wrap="square" lIns="0" tIns="0" rIns="0" bIns="0" rtlCol="1" anchor="ctr"/>
          <a:lstStyle/>
          <a:p>
            <a:pPr rtl="1" algn="r" marL="0" indent="0">
              <a:buNone/>
            </a:pPr>
            <a:r>
              <a:rPr lang="ar-SA" altLang="en-US" sz="9600" b="1" dirty="0">
                <a:solidFill>
                  <a:srgbClr val="89D7AD"/>
                </a:solidFill>
                <a:latin typeface="IBM Plex Sans Arabic"/>
                <a:cs typeface="IBM Plex Sans Arabic"/>
              </a:rPr>
              <a:t>؟</a:t>
            </a:r>
            <a:endParaRPr lang="ar-SA" sz="9600" dirty="0"/>
          </a:p>
        </p:txBody>
      </p:sp>
      <p:sp>
        <p:nvSpPr>
          <p:cNvPr id="3" name="Text 3"/>
          <p:cNvSpPr txBox="1"/>
          <p:nvPr/>
        </p:nvSpPr>
        <p:spPr>
          <a:xfrm>
            <a:off x="822960" y="1920240"/>
            <a:ext cx="7863840" cy="1463040"/>
          </a:xfrm>
          <a:prstGeom prst="rect">
            <a:avLst/>
          </a:prstGeom>
          <a:noFill/>
        </p:spPr>
        <p:txBody>
          <a:bodyPr wrap="square" lIns="0" tIns="0" rIns="0" bIns="0" rtlCol="1" anchor="ctr"/>
          <a:lstStyle/>
          <a:p>
            <a:pPr rtl="1" algn="r" marL="0" indent="0">
              <a:buNone/>
            </a:pPr>
            <a:r>
              <a:rPr lang="ar-SA" altLang="en-US" sz="3200" b="1" dirty="0">
                <a:solidFill>
                  <a:srgbClr val="FFFFFF"/>
                </a:solidFill>
                <a:latin typeface="IBM Plex Sans Arabic"/>
                <a:cs typeface="IBM Plex Sans Arabic"/>
              </a:rPr>
              <a:t>ماذا لو ...؟  وكيف يمكن أن ...؟</a:t>
            </a:r>
            <a:endParaRPr lang="ar-SA" sz="3200" dirty="0"/>
          </a:p>
        </p:txBody>
      </p:sp>
      <p:sp>
        <p:nvSpPr>
          <p:cNvPr id="4" name="شريط وقت الانتظار 4"/>
          <p:cNvSpPr/>
          <p:nvPr/>
        </p:nvSpPr>
        <p:spPr>
          <a:xfrm>
            <a:off x="822960" y="3456432"/>
            <a:ext cx="7863840" cy="45720"/>
          </a:xfrm>
          <a:prstGeom prst="rect">
            <a:avLst/>
          </a:prstGeom>
          <a:solidFill>
            <a:srgbClr val="89D7AD"/>
          </a:solidFill>
          <a:ln>
            <a:noFill/>
          </a:ln>
        </p:spPr>
      </p:sp>
      <p:sp>
        <p:nvSpPr>
          <p:cNvPr id="5" name="وقت التفكير 5"/>
          <p:cNvSpPr txBox="1"/>
          <p:nvPr/>
        </p:nvSpPr>
        <p:spPr>
          <a:xfrm>
            <a:off x="822960" y="3566160"/>
            <a:ext cx="7863840" cy="274320"/>
          </a:xfrm>
          <a:prstGeom prst="rect">
            <a:avLst/>
          </a:prstGeom>
          <a:noFill/>
        </p:spPr>
        <p:txBody>
          <a:bodyPr wrap="square" lIns="0" tIns="0" rIns="0" bIns="0" rtlCol="1" anchor="t"/>
          <a:lstStyle/>
          <a:p>
            <a:pPr rtl="1" algn="r" marL="0" indent="0">
              <a:buNone/>
            </a:pPr>
            <a:r>
              <a:rPr lang="ar-SA" altLang="en-US" sz="1200" dirty="0">
                <a:solidFill>
                  <a:srgbClr val="A9BCB1"/>
                </a:solidFill>
                <a:latin typeface="IBM Plex Sans Arabic"/>
                <a:cs typeface="IBM Plex Sans Arabic"/>
              </a:rPr>
              <a:t>وقت التفكير ...</a:t>
            </a:r>
            <a:endParaRPr lang="ar-SA" sz="1200" dirty="0"/>
          </a:p>
        </p:txBody>
      </p:sp>
      <p:sp>
        <p:nvSpPr>
          <p:cNvPr id="6" name="Text 6"/>
          <p:cNvSpPr txBox="1"/>
          <p:nvPr/>
        </p:nvSpPr>
        <p:spPr>
          <a:xfrm>
            <a:off x="822960" y="3520440"/>
            <a:ext cx="7863840" cy="365760"/>
          </a:xfrm>
          <a:prstGeom prst="rect">
            <a:avLst/>
          </a:prstGeom>
          <a:noFill/>
        </p:spPr>
        <p:txBody>
          <a:bodyPr wrap="square" lIns="0" tIns="0" rIns="0" bIns="0" rtlCol="1" anchor="t"/>
          <a:lstStyle/>
          <a:p>
            <a:pPr rtl="1" algn="r" marL="0" indent="0">
              <a:buNone/>
            </a:pPr>
            <a:r>
              <a:rPr lang="ar-SA" altLang="en-US" sz="1500" dirty="0">
                <a:solidFill>
                  <a:srgbClr val="89D7AD"/>
                </a:solidFill>
                <a:latin typeface="IBM Plex Sans Arabic"/>
                <a:cs typeface="IBM Plex Sans Arabic"/>
              </a:rPr>
              <a:t>فكّر بمفردك 30 ثانية، ثم ناقش زميلك، ثم شارك.</a:t>
            </a:r>
            <a:endParaRPr lang="ar-SA" sz="1500" dirty="0"/>
          </a:p>
        </p:txBody>
      </p:sp>
      <p:sp>
        <p:nvSpPr>
          <p:cNvPr id="7" name="Slide Number 7"/>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A9BCB1"/>
                </a:solidFill>
                <a:latin typeface="IBM Plex Sans Arabic"/>
                <a:cs typeface="IBM Plex Sans Arabic"/>
              </a:rPr>
              <a:t>‹#›</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5000"/>
                                        <p:tgtEl>
                                          <p:spTgt spid="4"/>
                                        </p:tgtEl>
                                      </p:cBhvr>
                                    </p:animEffect>
                                    <p:set>
                                      <p:cBhvr>
                                        <p:cTn id="7" dur="1" fill="hold">
                                          <p:stCondLst>
                                            <p:cond delay="4999"/>
                                          </p:stCondLst>
                                        </p:cTn>
                                        <p:tgtEl>
                                          <p:spTgt spid="4"/>
                                        </p:tgtEl>
                                        <p:attrNameLst>
                                          <p:attrName>style.visibility</p:attrName>
                                        </p:attrNameLst>
                                      </p:cBhvr>
                                      <p:to>
                                        <p:strVal val="hidden"/>
                                      </p:to>
                                    </p:set>
                                  </p:childTnLst>
                                </p:cTn>
                              </p:par>
                              <p:par>
                                <p:cTn id="8" presetID="22" presetClass="exit" presetSubtype="8" fill="hold" grpId="0" nodeType="withEffect">
                                  <p:stCondLst>
                                    <p:cond delay="0"/>
                                  </p:stCondLst>
                                  <p:childTnLst>
                                    <p:animEffect transition="out" filter="wipe(left)">
                                      <p:cBhvr>
                                        <p:cTn id="9" dur="5000"/>
                                        <p:tgtEl>
                                          <p:spTgt spid="5"/>
                                        </p:tgtEl>
                                      </p:cBhvr>
                                    </p:animEffect>
                                    <p:set>
                                      <p:cBhvr>
                                        <p:cTn id="10" dur="1" fill="hold">
                                          <p:stCondLst>
                                            <p:cond delay="4999"/>
                                          </p:stCondLst>
                                        </p:cTn>
                                        <p:tgtEl>
                                          <p:spTgt spid="5"/>
                                        </p:tgtEl>
                                        <p:attrNameLst>
                                          <p:attrName>style.visibility</p:attrName>
                                        </p:attrNameLst>
                                      </p:cBhvr>
                                      <p:to>
                                        <p:strVal val="hidden"/>
                                      </p:to>
                                    </p:set>
                                  </p:childTnLst>
                                </p:cTn>
                              </p:par>
                            </p:childTnLst>
                          </p:cTn>
                        </p:par>
                        <p:par>
                          <p:cTn id="11" fill="hold">
                            <p:stCondLst>
                              <p:cond delay="5000"/>
                            </p:stCondLst>
                            <p:childTnLst>
                              <p:par>
                                <p:cTn id="12" presetID="10" presetClass="entr" presetSubtype="0" fill="hold" grpId="0" nodeType="after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أثر التعلم</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علاقة الدرس بحياتنا وقيمنا؟</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758952" y="1965960"/>
            <a:ext cx="7927848" cy="27432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يُكمل الطالب كل عبارة بنفسه شفهيًا أو كتابةً:</a:t>
            </a:r>
            <a:endParaRPr lang="ar-SA" sz="1200" dirty="0"/>
          </a:p>
        </p:txBody>
      </p:sp>
      <p:sp>
        <p:nvSpPr>
          <p:cNvPr id="8" name="Card 8"/>
          <p:cNvSpPr/>
          <p:nvPr/>
        </p:nvSpPr>
        <p:spPr>
          <a:xfrm>
            <a:off x="6766560"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9" name="Circle 9"/>
          <p:cNvSpPr/>
          <p:nvPr/>
        </p:nvSpPr>
        <p:spPr>
          <a:xfrm>
            <a:off x="7452360" y="2468880"/>
            <a:ext cx="548640" cy="548640"/>
          </a:xfrm>
          <a:prstGeom prst="ellipse">
            <a:avLst/>
          </a:prstGeom>
          <a:solidFill>
            <a:srgbClr val="89D7AD"/>
          </a:solidFill>
          <a:ln w="12700">
            <a:solidFill>
              <a:srgbClr val="89D7AD"/>
            </a:solidFill>
            <a:prstDash val="solid"/>
          </a:ln>
        </p:spPr>
      </p:sp>
      <p:pic>
        <p:nvPicPr>
          <p:cNvPr id="10" name="Image 10" descr="House"/>
          <p:cNvPicPr>
            <a:picLocks noChangeAspect="1"/>
          </p:cNvPicPr>
          <p:nvPr/>
        </p:nvPicPr>
        <p:blipFill>
          <a:blip r:embed="rId1"/>
          <a:stretch>
            <a:fillRect/>
          </a:stretch>
        </p:blipFill>
        <p:spPr>
          <a:xfrm>
            <a:off x="7571141" y="2587661"/>
            <a:ext cx="311079" cy="311079"/>
          </a:xfrm>
          <a:prstGeom prst="rect">
            <a:avLst/>
          </a:prstGeom>
        </p:spPr>
      </p:pic>
      <p:sp>
        <p:nvSpPr>
          <p:cNvPr id="11" name="Text 11"/>
          <p:cNvSpPr txBox="1"/>
          <p:nvPr/>
        </p:nvSpPr>
        <p:spPr>
          <a:xfrm>
            <a:off x="6766560"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في حياتي</a:t>
            </a:r>
            <a:endParaRPr lang="ar-SA" sz="1600" dirty="0"/>
          </a:p>
        </p:txBody>
      </p:sp>
      <p:sp>
        <p:nvSpPr>
          <p:cNvPr id="12" name="Text 12"/>
          <p:cNvSpPr txBox="1"/>
          <p:nvPr/>
        </p:nvSpPr>
        <p:spPr>
          <a:xfrm>
            <a:off x="6903720"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أستعمل ما تعلّمته عندما ...</a:t>
            </a:r>
            <a:endParaRPr lang="ar-SA" sz="1200" dirty="0"/>
          </a:p>
        </p:txBody>
      </p:sp>
      <p:sp>
        <p:nvSpPr>
          <p:cNvPr id="13" name="Card 13"/>
          <p:cNvSpPr/>
          <p:nvPr/>
        </p:nvSpPr>
        <p:spPr>
          <a:xfrm>
            <a:off x="4764024"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4" name="Circle 14"/>
          <p:cNvSpPr/>
          <p:nvPr/>
        </p:nvSpPr>
        <p:spPr>
          <a:xfrm>
            <a:off x="5449824" y="2468880"/>
            <a:ext cx="548640" cy="548640"/>
          </a:xfrm>
          <a:prstGeom prst="ellipse">
            <a:avLst/>
          </a:prstGeom>
          <a:solidFill>
            <a:srgbClr val="89D7AD"/>
          </a:solidFill>
          <a:ln w="12700">
            <a:solidFill>
              <a:srgbClr val="89D7AD"/>
            </a:solidFill>
            <a:prstDash val="solid"/>
          </a:ln>
        </p:spPr>
      </p:sp>
      <p:pic>
        <p:nvPicPr>
          <p:cNvPr id="15" name="Image 15" descr="Heart"/>
          <p:cNvPicPr>
            <a:picLocks noChangeAspect="1"/>
          </p:cNvPicPr>
          <p:nvPr/>
        </p:nvPicPr>
        <p:blipFill>
          <a:blip r:embed="rId2"/>
          <a:stretch>
            <a:fillRect/>
          </a:stretch>
        </p:blipFill>
        <p:spPr>
          <a:xfrm>
            <a:off x="5568605" y="2587661"/>
            <a:ext cx="311079" cy="311079"/>
          </a:xfrm>
          <a:prstGeom prst="rect">
            <a:avLst/>
          </a:prstGeom>
        </p:spPr>
      </p:pic>
      <p:sp>
        <p:nvSpPr>
          <p:cNvPr id="16" name="Text 16"/>
          <p:cNvSpPr txBox="1"/>
          <p:nvPr/>
        </p:nvSpPr>
        <p:spPr>
          <a:xfrm>
            <a:off x="4764024"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قيمة أعتز بها</a:t>
            </a:r>
            <a:endParaRPr lang="ar-SA" sz="1600" dirty="0"/>
          </a:p>
        </p:txBody>
      </p:sp>
      <p:sp>
        <p:nvSpPr>
          <p:cNvPr id="17" name="Text 17"/>
          <p:cNvSpPr txBox="1"/>
          <p:nvPr/>
        </p:nvSpPr>
        <p:spPr>
          <a:xfrm>
            <a:off x="4901184"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من هذا الدرس أعتز بقيمة ...</a:t>
            </a:r>
            <a:endParaRPr lang="ar-SA" sz="1200" dirty="0"/>
          </a:p>
        </p:txBody>
      </p:sp>
      <p:sp>
        <p:nvSpPr>
          <p:cNvPr id="18" name="Card 18"/>
          <p:cNvSpPr/>
          <p:nvPr/>
        </p:nvSpPr>
        <p:spPr>
          <a:xfrm>
            <a:off x="2761488"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3447288" y="2468880"/>
            <a:ext cx="548640" cy="548640"/>
          </a:xfrm>
          <a:prstGeom prst="ellipse">
            <a:avLst/>
          </a:prstGeom>
          <a:solidFill>
            <a:srgbClr val="89D7AD"/>
          </a:solidFill>
          <a:ln w="12700">
            <a:solidFill>
              <a:srgbClr val="89D7AD"/>
            </a:solidFill>
            <a:prstDash val="solid"/>
          </a:ln>
        </p:spPr>
      </p:sp>
      <p:pic>
        <p:nvPicPr>
          <p:cNvPr id="20" name="Image 20" descr="Flag"/>
          <p:cNvPicPr>
            <a:picLocks noChangeAspect="1"/>
          </p:cNvPicPr>
          <p:nvPr/>
        </p:nvPicPr>
        <p:blipFill>
          <a:blip r:embed="rId3"/>
          <a:stretch>
            <a:fillRect/>
          </a:stretch>
        </p:blipFill>
        <p:spPr>
          <a:xfrm>
            <a:off x="3566069" y="2587661"/>
            <a:ext cx="311079" cy="311079"/>
          </a:xfrm>
          <a:prstGeom prst="rect">
            <a:avLst/>
          </a:prstGeom>
        </p:spPr>
      </p:pic>
      <p:sp>
        <p:nvSpPr>
          <p:cNvPr id="21" name="Text 21"/>
          <p:cNvSpPr txBox="1"/>
          <p:nvPr/>
        </p:nvSpPr>
        <p:spPr>
          <a:xfrm>
            <a:off x="2761488"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وطني</a:t>
            </a:r>
            <a:endParaRPr lang="ar-SA" sz="1600" dirty="0"/>
          </a:p>
        </p:txBody>
      </p:sp>
      <p:sp>
        <p:nvSpPr>
          <p:cNvPr id="22" name="Text 22"/>
          <p:cNvSpPr txBox="1"/>
          <p:nvPr/>
        </p:nvSpPr>
        <p:spPr>
          <a:xfrm>
            <a:off x="2898648"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إنجاز أو موروث وطني يرتبط بالدرس ...</a:t>
            </a:r>
            <a:endParaRPr lang="ar-SA" sz="1200" dirty="0"/>
          </a:p>
        </p:txBody>
      </p:sp>
      <p:sp>
        <p:nvSpPr>
          <p:cNvPr id="23" name="Card 23"/>
          <p:cNvSpPr/>
          <p:nvPr/>
        </p:nvSpPr>
        <p:spPr>
          <a:xfrm>
            <a:off x="758952"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4" name="Circle 24"/>
          <p:cNvSpPr/>
          <p:nvPr/>
        </p:nvSpPr>
        <p:spPr>
          <a:xfrm>
            <a:off x="1444752" y="2468880"/>
            <a:ext cx="548640" cy="548640"/>
          </a:xfrm>
          <a:prstGeom prst="ellipse">
            <a:avLst/>
          </a:prstGeom>
          <a:solidFill>
            <a:srgbClr val="89D7AD"/>
          </a:solidFill>
          <a:ln w="12700">
            <a:solidFill>
              <a:srgbClr val="89D7AD"/>
            </a:solidFill>
            <a:prstDash val="solid"/>
          </a:ln>
        </p:spPr>
      </p:sp>
      <p:pic>
        <p:nvPicPr>
          <p:cNvPr id="25" name="Image 25" descr="Globe"/>
          <p:cNvPicPr>
            <a:picLocks noChangeAspect="1"/>
          </p:cNvPicPr>
          <p:nvPr/>
        </p:nvPicPr>
        <p:blipFill>
          <a:blip r:embed="rId4"/>
          <a:stretch>
            <a:fillRect/>
          </a:stretch>
        </p:blipFill>
        <p:spPr>
          <a:xfrm>
            <a:off x="1563533" y="2587661"/>
            <a:ext cx="311079" cy="311079"/>
          </a:xfrm>
          <a:prstGeom prst="rect">
            <a:avLst/>
          </a:prstGeom>
        </p:spPr>
      </p:pic>
      <p:sp>
        <p:nvSpPr>
          <p:cNvPr id="26" name="Text 26"/>
          <p:cNvSpPr txBox="1"/>
          <p:nvPr/>
        </p:nvSpPr>
        <p:spPr>
          <a:xfrm>
            <a:off x="758952"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ثقافات العالم</a:t>
            </a:r>
            <a:endParaRPr lang="ar-SA" sz="1600" dirty="0"/>
          </a:p>
        </p:txBody>
      </p:sp>
      <p:sp>
        <p:nvSpPr>
          <p:cNvPr id="27" name="Text 27"/>
          <p:cNvSpPr txBox="1"/>
          <p:nvPr/>
        </p:nvSpPr>
        <p:spPr>
          <a:xfrm>
            <a:off x="896112"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كيف يُرى هذا في ثقافات أخرى؟ وماذا نتعلّم منها؟</a:t>
            </a:r>
            <a:endParaRPr lang="ar-SA" sz="12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أنت تعمل</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8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مهام متمايزة</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6766560"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110728" y="2240280"/>
            <a:ext cx="438912" cy="438912"/>
          </a:xfrm>
          <a:prstGeom prst="ellipse">
            <a:avLst/>
          </a:prstGeom>
          <a:solidFill>
            <a:srgbClr val="89D7AD"/>
          </a:solidFill>
          <a:ln w="12700">
            <a:solidFill>
              <a:srgbClr val="89D7AD"/>
            </a:solidFill>
            <a:prstDash val="solid"/>
          </a:ln>
        </p:spPr>
      </p:sp>
      <p:pic>
        <p:nvPicPr>
          <p:cNvPr id="14" name="Image 14" descr="Accessibility"/>
          <p:cNvPicPr>
            <a:picLocks noChangeAspect="1"/>
          </p:cNvPicPr>
          <p:nvPr/>
        </p:nvPicPr>
        <p:blipFill>
          <a:blip r:embed="rId2"/>
          <a:stretch>
            <a:fillRect/>
          </a:stretch>
        </p:blipFill>
        <p:spPr>
          <a:xfrm>
            <a:off x="8205752" y="2335304"/>
            <a:ext cx="248863" cy="248863"/>
          </a:xfrm>
          <a:prstGeom prst="rect">
            <a:avLst/>
          </a:prstGeom>
        </p:spPr>
      </p:pic>
      <p:sp>
        <p:nvSpPr>
          <p:cNvPr id="15" name="Text 15"/>
          <p:cNvSpPr txBox="1"/>
          <p:nvPr/>
        </p:nvSpPr>
        <p:spPr>
          <a:xfrm>
            <a:off x="6903720"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ادعمني</a:t>
            </a:r>
            <a:endParaRPr lang="ar-SA" sz="1700" dirty="0"/>
          </a:p>
        </p:txBody>
      </p:sp>
      <p:sp>
        <p:nvSpPr>
          <p:cNvPr id="16" name="Text 16"/>
          <p:cNvSpPr txBox="1"/>
          <p:nvPr/>
        </p:nvSpPr>
        <p:spPr>
          <a:xfrm>
            <a:off x="6903720"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دعم فردي</a:t>
            </a:r>
            <a:endParaRPr lang="ar-SA" sz="1000" dirty="0"/>
          </a:p>
        </p:txBody>
      </p:sp>
      <p:sp>
        <p:nvSpPr>
          <p:cNvPr id="17" name="Text 17"/>
          <p:cNvSpPr txBox="1"/>
          <p:nvPr/>
        </p:nvSpPr>
        <p:spPr>
          <a:xfrm>
            <a:off x="6903720"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مبسّطة بوسائل حسية أو صوتية، مع توجيه من المعلم.</a:t>
            </a:r>
            <a:endParaRPr lang="ar-SA" sz="1200" dirty="0"/>
          </a:p>
        </p:txBody>
      </p:sp>
      <p:sp>
        <p:nvSpPr>
          <p:cNvPr id="18" name="Card 18"/>
          <p:cNvSpPr/>
          <p:nvPr/>
        </p:nvSpPr>
        <p:spPr>
          <a:xfrm>
            <a:off x="4764024" y="2103120"/>
            <a:ext cx="1920240" cy="18288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6108192" y="2240280"/>
            <a:ext cx="438912" cy="438912"/>
          </a:xfrm>
          <a:prstGeom prst="ellipse">
            <a:avLst/>
          </a:prstGeom>
          <a:solidFill>
            <a:srgbClr val="89D7AD"/>
          </a:solidFill>
          <a:ln w="12700">
            <a:solidFill>
              <a:srgbClr val="89D7AD"/>
            </a:solidFill>
            <a:prstDash val="solid"/>
          </a:ln>
        </p:spPr>
      </p:sp>
      <p:pic>
        <p:nvPicPr>
          <p:cNvPr id="20" name="Image 20" descr="Sprout"/>
          <p:cNvPicPr>
            <a:picLocks noChangeAspect="1"/>
          </p:cNvPicPr>
          <p:nvPr/>
        </p:nvPicPr>
        <p:blipFill>
          <a:blip r:embed="rId3"/>
          <a:stretch>
            <a:fillRect/>
          </a:stretch>
        </p:blipFill>
        <p:spPr>
          <a:xfrm>
            <a:off x="6203216" y="2335304"/>
            <a:ext cx="248863" cy="248863"/>
          </a:xfrm>
          <a:prstGeom prst="rect">
            <a:avLst/>
          </a:prstGeom>
        </p:spPr>
      </p:pic>
      <p:sp>
        <p:nvSpPr>
          <p:cNvPr id="21" name="Text 21"/>
          <p:cNvSpPr txBox="1"/>
          <p:nvPr/>
        </p:nvSpPr>
        <p:spPr>
          <a:xfrm>
            <a:off x="4901184"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انطلق</a:t>
            </a:r>
            <a:endParaRPr lang="ar-SA" sz="1700" dirty="0"/>
          </a:p>
        </p:txBody>
      </p:sp>
      <p:sp>
        <p:nvSpPr>
          <p:cNvPr id="22" name="Text 22"/>
          <p:cNvSpPr txBox="1"/>
          <p:nvPr/>
        </p:nvSpPr>
        <p:spPr>
          <a:xfrm>
            <a:off x="4901184"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الأساسي</a:t>
            </a:r>
            <a:endParaRPr lang="ar-SA" sz="1000" dirty="0"/>
          </a:p>
        </p:txBody>
      </p:sp>
      <p:sp>
        <p:nvSpPr>
          <p:cNvPr id="23" name="Text 23"/>
          <p:cNvSpPr txBox="1"/>
          <p:nvPr/>
        </p:nvSpPr>
        <p:spPr>
          <a:xfrm>
            <a:off x="4901184"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تتحقق من الفهم الأساسي، مع مثال مساعد.</a:t>
            </a:r>
            <a:endParaRPr lang="ar-SA" sz="1200" dirty="0"/>
          </a:p>
        </p:txBody>
      </p:sp>
      <p:sp>
        <p:nvSpPr>
          <p:cNvPr id="24" name="Text 24"/>
          <p:cNvSpPr txBox="1"/>
          <p:nvPr/>
        </p:nvSpPr>
        <p:spPr>
          <a:xfrm>
            <a:off x="4901184"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25" name="Card 25"/>
          <p:cNvSpPr/>
          <p:nvPr/>
        </p:nvSpPr>
        <p:spPr>
          <a:xfrm>
            <a:off x="2761488"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6" name="Circle 26"/>
          <p:cNvSpPr/>
          <p:nvPr/>
        </p:nvSpPr>
        <p:spPr>
          <a:xfrm>
            <a:off x="4105656" y="2240280"/>
            <a:ext cx="438912" cy="438912"/>
          </a:xfrm>
          <a:prstGeom prst="ellipse">
            <a:avLst/>
          </a:prstGeom>
          <a:solidFill>
            <a:srgbClr val="89D7AD"/>
          </a:solidFill>
          <a:ln w="12700">
            <a:solidFill>
              <a:srgbClr val="89D7AD"/>
            </a:solidFill>
            <a:prstDash val="solid"/>
          </a:ln>
        </p:spPr>
      </p:sp>
      <p:pic>
        <p:nvPicPr>
          <p:cNvPr id="27" name="Image 27" descr="Mountain"/>
          <p:cNvPicPr>
            <a:picLocks noChangeAspect="1"/>
          </p:cNvPicPr>
          <p:nvPr/>
        </p:nvPicPr>
        <p:blipFill>
          <a:blip r:embed="rId4"/>
          <a:stretch>
            <a:fillRect/>
          </a:stretch>
        </p:blipFill>
        <p:spPr>
          <a:xfrm>
            <a:off x="4200680" y="2335304"/>
            <a:ext cx="248863" cy="248863"/>
          </a:xfrm>
          <a:prstGeom prst="rect">
            <a:avLst/>
          </a:prstGeom>
        </p:spPr>
      </p:pic>
      <p:sp>
        <p:nvSpPr>
          <p:cNvPr id="28" name="Text 28"/>
          <p:cNvSpPr txBox="1"/>
          <p:nvPr/>
        </p:nvSpPr>
        <p:spPr>
          <a:xfrm>
            <a:off x="2898648"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تقدّم</a:t>
            </a:r>
            <a:endParaRPr lang="ar-SA" sz="1700" dirty="0"/>
          </a:p>
        </p:txBody>
      </p:sp>
      <p:sp>
        <p:nvSpPr>
          <p:cNvPr id="29" name="Text 29"/>
          <p:cNvSpPr txBox="1"/>
          <p:nvPr/>
        </p:nvSpPr>
        <p:spPr>
          <a:xfrm>
            <a:off x="2898648"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المتوسط</a:t>
            </a:r>
            <a:endParaRPr lang="ar-SA" sz="1000" dirty="0"/>
          </a:p>
        </p:txBody>
      </p:sp>
      <p:sp>
        <p:nvSpPr>
          <p:cNvPr id="30" name="Text 30"/>
          <p:cNvSpPr txBox="1"/>
          <p:nvPr/>
        </p:nvSpPr>
        <p:spPr>
          <a:xfrm>
            <a:off x="2898648"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تطبيق في موقف جديد دون مساعدة.</a:t>
            </a:r>
            <a:endParaRPr lang="ar-SA" sz="1200" dirty="0"/>
          </a:p>
        </p:txBody>
      </p:sp>
      <p:sp>
        <p:nvSpPr>
          <p:cNvPr id="31" name="Text 31"/>
          <p:cNvSpPr txBox="1"/>
          <p:nvPr/>
        </p:nvSpPr>
        <p:spPr>
          <a:xfrm>
            <a:off x="2898648"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32" name="Card 32"/>
          <p:cNvSpPr/>
          <p:nvPr/>
        </p:nvSpPr>
        <p:spPr>
          <a:xfrm>
            <a:off x="758952" y="2103120"/>
            <a:ext cx="1920240" cy="1828800"/>
          </a:xfrm>
          <a:prstGeom prst="roundRect">
            <a:avLst>
              <a:gd name="adj" fmla="val 6000"/>
            </a:avLst>
          </a:prstGeom>
          <a:solidFill>
            <a:srgbClr val="3E6350"/>
          </a:solidFill>
          <a:ln w="12700">
            <a:solidFill>
              <a:srgbClr val="D5E7DC"/>
            </a:solidFill>
            <a:prstDash val="solid"/>
          </a:ln>
          <a:effectLst>
            <a:outerShdw blurRad="127000" dist="38100" dir="5400000" algn="bl" rotWithShape="0">
              <a:srgbClr val="3E6350">
                <a:alpha val="12000"/>
              </a:srgbClr>
            </a:outerShdw>
          </a:effectLst>
        </p:spPr>
      </p:sp>
      <p:sp>
        <p:nvSpPr>
          <p:cNvPr id="33" name="Circle 33"/>
          <p:cNvSpPr/>
          <p:nvPr/>
        </p:nvSpPr>
        <p:spPr>
          <a:xfrm>
            <a:off x="2103120" y="2240280"/>
            <a:ext cx="438912" cy="438912"/>
          </a:xfrm>
          <a:prstGeom prst="ellipse">
            <a:avLst/>
          </a:prstGeom>
          <a:solidFill>
            <a:srgbClr val="89D7AD"/>
          </a:solidFill>
          <a:ln w="12700">
            <a:solidFill>
              <a:srgbClr val="89D7AD"/>
            </a:solidFill>
            <a:prstDash val="solid"/>
          </a:ln>
        </p:spPr>
      </p:sp>
      <p:pic>
        <p:nvPicPr>
          <p:cNvPr id="34" name="Image 34" descr="Rocket"/>
          <p:cNvPicPr>
            <a:picLocks noChangeAspect="1"/>
          </p:cNvPicPr>
          <p:nvPr/>
        </p:nvPicPr>
        <p:blipFill>
          <a:blip r:embed="rId5"/>
          <a:stretch>
            <a:fillRect/>
          </a:stretch>
        </p:blipFill>
        <p:spPr>
          <a:xfrm>
            <a:off x="2198144" y="2335304"/>
            <a:ext cx="248863" cy="248863"/>
          </a:xfrm>
          <a:prstGeom prst="rect">
            <a:avLst/>
          </a:prstGeom>
        </p:spPr>
      </p:pic>
      <p:sp>
        <p:nvSpPr>
          <p:cNvPr id="35" name="Text 35"/>
          <p:cNvSpPr txBox="1"/>
          <p:nvPr/>
        </p:nvSpPr>
        <p:spPr>
          <a:xfrm>
            <a:off x="896112"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89D7AD"/>
                </a:solidFill>
                <a:latin typeface="IBM Plex Sans Arabic"/>
                <a:cs typeface="IBM Plex Sans Arabic"/>
              </a:rPr>
              <a:t>تحدَّ</a:t>
            </a:r>
            <a:endParaRPr lang="ar-SA" sz="1700" dirty="0"/>
          </a:p>
        </p:txBody>
      </p:sp>
      <p:sp>
        <p:nvSpPr>
          <p:cNvPr id="36" name="Text 36"/>
          <p:cNvSpPr txBox="1"/>
          <p:nvPr/>
        </p:nvSpPr>
        <p:spPr>
          <a:xfrm>
            <a:off x="896112"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CCF2DB"/>
                </a:solidFill>
                <a:latin typeface="IBM Plex Sans Arabic"/>
                <a:cs typeface="IBM Plex Sans Arabic"/>
              </a:rPr>
              <a:t>المستوى المتقدم</a:t>
            </a:r>
            <a:endParaRPr lang="ar-SA" sz="1000" dirty="0"/>
          </a:p>
        </p:txBody>
      </p:sp>
      <p:sp>
        <p:nvSpPr>
          <p:cNvPr id="37" name="Text 37"/>
          <p:cNvSpPr txBox="1"/>
          <p:nvPr/>
        </p:nvSpPr>
        <p:spPr>
          <a:xfrm>
            <a:off x="896112"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FFFFFF"/>
                </a:solidFill>
                <a:latin typeface="IBM Plex Sans Arabic"/>
                <a:cs typeface="IBM Plex Sans Arabic"/>
              </a:rPr>
              <a:t>ابحث في مصدر رقمي موثوق، ثم حلّل وقدّم حلًا لمشكلة مفتوحة.</a:t>
            </a:r>
            <a:endParaRPr lang="ar-SA" sz="1200" dirty="0"/>
          </a:p>
        </p:txBody>
      </p:sp>
      <p:sp>
        <p:nvSpPr>
          <p:cNvPr id="38" name="Text 38"/>
          <p:cNvSpPr txBox="1"/>
          <p:nvPr/>
        </p:nvSpPr>
        <p:spPr>
          <a:xfrm>
            <a:off x="896112"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D9B45A"/>
                </a:solidFill>
                <a:latin typeface="IBM Plex Sans Arabic"/>
                <a:cs typeface="IBM Plex Sans Arabic"/>
              </a:rPr>
              <a:t>★★★</a:t>
            </a:r>
            <a:endParaRPr lang="ar-SA" sz="1400" dirty="0"/>
          </a:p>
        </p:txBody>
      </p:sp>
      <p:sp>
        <p:nvSpPr>
          <p:cNvPr id="39" name="Card 39"/>
          <p:cNvSpPr/>
          <p:nvPr/>
        </p:nvSpPr>
        <p:spPr>
          <a:xfrm>
            <a:off x="758952" y="4041648"/>
            <a:ext cx="7927848" cy="438912"/>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40" name="Image 40" descr="انطلاق"/>
          <p:cNvPicPr>
            <a:picLocks noChangeAspect="1"/>
          </p:cNvPicPr>
          <p:nvPr/>
        </p:nvPicPr>
        <p:blipFill>
          <a:blip r:embed="rId6"/>
          <a:stretch>
            <a:fillRect/>
          </a:stretch>
        </p:blipFill>
        <p:spPr>
          <a:xfrm>
            <a:off x="8229600" y="4123944"/>
            <a:ext cx="274320" cy="274320"/>
          </a:xfrm>
          <a:prstGeom prst="rect">
            <a:avLst/>
          </a:prstGeom>
        </p:spPr>
      </p:pic>
      <p:sp>
        <p:nvSpPr>
          <p:cNvPr id="41" name="Text 41"/>
          <p:cNvSpPr txBox="1"/>
          <p:nvPr/>
        </p:nvSpPr>
        <p:spPr>
          <a:xfrm>
            <a:off x="960120" y="4041648"/>
            <a:ext cx="7178040" cy="438912"/>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أنهيت مهمتك؟ أكمل وحدك: </a:t>
            </a:r>
            <a:r>
              <a:rPr lang="ar-SA" altLang="en-US" sz="1200" dirty="0">
                <a:solidFill>
                  <a:srgbClr val="1C3328"/>
                </a:solidFill>
                <a:latin typeface="IBM Plex Sans Arabic"/>
                <a:cs typeface="IBM Plex Sans Arabic"/>
              </a:rPr>
              <a:t>انتقل إلى المستوى التالي، أو تعلّم ذاتيًا من مصدر الإثراء.</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480000"/>
                                        <p:tgtEl>
                                          <p:spTgt spid="6"/>
                                        </p:tgtEl>
                                      </p:cBhvr>
                                    </p:animEffect>
                                    <p:set>
                                      <p:cBhvr>
                                        <p:cTn id="7" dur="1" fill="hold">
                                          <p:stCondLst>
                                            <p:cond delay="479999"/>
                                          </p:stCondLst>
                                        </p:cTn>
                                        <p:tgtEl>
                                          <p:spTgt spid="6"/>
                                        </p:tgtEl>
                                        <p:attrNameLst>
                                          <p:attrName>style.visibility</p:attrName>
                                        </p:attrNameLst>
                                      </p:cBhvr>
                                      <p:to>
                                        <p:strVal val="hidden"/>
                                      </p:to>
                                    </p:set>
                                  </p:childTnLst>
                                </p:cTn>
                              </p:par>
                            </p:childTnLst>
                          </p:cTn>
                        </p:par>
                        <p:par>
                          <p:cTn id="8" fill="hold">
                            <p:stCondLst>
                              <p:cond delay="48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التقويم الختامي</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7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بطاقة الخروج 3 - 2 - 1</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3291840" y="2103120"/>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8092440" y="2194560"/>
            <a:ext cx="475488" cy="475488"/>
          </a:xfrm>
          <a:prstGeom prst="ellipse">
            <a:avLst/>
          </a:prstGeom>
          <a:solidFill>
            <a:srgbClr val="3E6350"/>
          </a:solidFill>
          <a:ln w="12700">
            <a:solidFill>
              <a:srgbClr val="3E6350"/>
            </a:solidFill>
            <a:prstDash val="solid"/>
          </a:ln>
        </p:spPr>
      </p:sp>
      <p:sp>
        <p:nvSpPr>
          <p:cNvPr id="14" name="Text 14"/>
          <p:cNvSpPr txBox="1"/>
          <p:nvPr/>
        </p:nvSpPr>
        <p:spPr>
          <a:xfrm>
            <a:off x="8092440" y="2194560"/>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3</a:t>
            </a:r>
            <a:endParaRPr lang="ar-SA" sz="2000" dirty="0"/>
          </a:p>
        </p:txBody>
      </p:sp>
      <p:sp>
        <p:nvSpPr>
          <p:cNvPr id="15" name="Text 15"/>
          <p:cNvSpPr txBox="1"/>
          <p:nvPr/>
        </p:nvSpPr>
        <p:spPr>
          <a:xfrm>
            <a:off x="3520440" y="2103120"/>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أشياء تعلّمتها اليوم</a:t>
            </a:r>
            <a:endParaRPr lang="ar-SA" sz="1600" dirty="0"/>
          </a:p>
        </p:txBody>
      </p:sp>
      <p:sp>
        <p:nvSpPr>
          <p:cNvPr id="16" name="Card 16"/>
          <p:cNvSpPr/>
          <p:nvPr/>
        </p:nvSpPr>
        <p:spPr>
          <a:xfrm>
            <a:off x="3291840" y="2889504"/>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7" name="Circle 17"/>
          <p:cNvSpPr/>
          <p:nvPr/>
        </p:nvSpPr>
        <p:spPr>
          <a:xfrm>
            <a:off x="8092440" y="2980944"/>
            <a:ext cx="475488" cy="475488"/>
          </a:xfrm>
          <a:prstGeom prst="ellipse">
            <a:avLst/>
          </a:prstGeom>
          <a:solidFill>
            <a:srgbClr val="3E6350"/>
          </a:solidFill>
          <a:ln w="12700">
            <a:solidFill>
              <a:srgbClr val="3E6350"/>
            </a:solidFill>
            <a:prstDash val="solid"/>
          </a:ln>
        </p:spPr>
      </p:sp>
      <p:sp>
        <p:nvSpPr>
          <p:cNvPr id="18" name="Text 18"/>
          <p:cNvSpPr txBox="1"/>
          <p:nvPr/>
        </p:nvSpPr>
        <p:spPr>
          <a:xfrm>
            <a:off x="8092440" y="2980944"/>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2</a:t>
            </a:r>
            <a:endParaRPr lang="ar-SA" sz="2000" dirty="0"/>
          </a:p>
        </p:txBody>
      </p:sp>
      <p:sp>
        <p:nvSpPr>
          <p:cNvPr id="19" name="Text 19"/>
          <p:cNvSpPr txBox="1"/>
          <p:nvPr/>
        </p:nvSpPr>
        <p:spPr>
          <a:xfrm>
            <a:off x="3520440" y="2889504"/>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فكرتان أستطيع تطبيقهما</a:t>
            </a:r>
            <a:endParaRPr lang="ar-SA" sz="1600" dirty="0"/>
          </a:p>
        </p:txBody>
      </p:sp>
      <p:sp>
        <p:nvSpPr>
          <p:cNvPr id="20" name="Card 20"/>
          <p:cNvSpPr/>
          <p:nvPr/>
        </p:nvSpPr>
        <p:spPr>
          <a:xfrm>
            <a:off x="3291840" y="3675888"/>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8092440" y="3767328"/>
            <a:ext cx="475488" cy="475488"/>
          </a:xfrm>
          <a:prstGeom prst="ellipse">
            <a:avLst/>
          </a:prstGeom>
          <a:solidFill>
            <a:srgbClr val="3E6350"/>
          </a:solidFill>
          <a:ln w="12700">
            <a:solidFill>
              <a:srgbClr val="3E6350"/>
            </a:solidFill>
            <a:prstDash val="solid"/>
          </a:ln>
        </p:spPr>
      </p:sp>
      <p:sp>
        <p:nvSpPr>
          <p:cNvPr id="22" name="Text 22"/>
          <p:cNvSpPr txBox="1"/>
          <p:nvPr/>
        </p:nvSpPr>
        <p:spPr>
          <a:xfrm>
            <a:off x="8092440" y="3767328"/>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1</a:t>
            </a:r>
            <a:endParaRPr lang="ar-SA" sz="2000" dirty="0"/>
          </a:p>
        </p:txBody>
      </p:sp>
      <p:sp>
        <p:nvSpPr>
          <p:cNvPr id="23" name="Text 23"/>
          <p:cNvSpPr txBox="1"/>
          <p:nvPr/>
        </p:nvSpPr>
        <p:spPr>
          <a:xfrm>
            <a:off x="3520440" y="3675888"/>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سؤال ما زال لديّ</a:t>
            </a:r>
            <a:endParaRPr lang="ar-SA" sz="1600" dirty="0"/>
          </a:p>
        </p:txBody>
      </p:sp>
      <p:sp>
        <p:nvSpPr>
          <p:cNvPr id="24" name="Card 24"/>
          <p:cNvSpPr/>
          <p:nvPr/>
        </p:nvSpPr>
        <p:spPr>
          <a:xfrm>
            <a:off x="457200" y="2103120"/>
            <a:ext cx="265176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5" name="Circle 25"/>
          <p:cNvSpPr/>
          <p:nvPr/>
        </p:nvSpPr>
        <p:spPr>
          <a:xfrm>
            <a:off x="1527048" y="2240280"/>
            <a:ext cx="502920" cy="502920"/>
          </a:xfrm>
          <a:prstGeom prst="ellipse">
            <a:avLst/>
          </a:prstGeom>
          <a:solidFill>
            <a:srgbClr val="89D7AD"/>
          </a:solidFill>
          <a:ln w="12700">
            <a:solidFill>
              <a:srgbClr val="89D7AD"/>
            </a:solidFill>
            <a:prstDash val="solid"/>
          </a:ln>
        </p:spPr>
      </p:sp>
      <p:pic>
        <p:nvPicPr>
          <p:cNvPr id="26" name="Image 26" descr="Laptop"/>
          <p:cNvPicPr>
            <a:picLocks noChangeAspect="1"/>
          </p:cNvPicPr>
          <p:nvPr/>
        </p:nvPicPr>
        <p:blipFill>
          <a:blip r:embed="rId2"/>
          <a:stretch>
            <a:fillRect/>
          </a:stretch>
        </p:blipFill>
        <p:spPr>
          <a:xfrm>
            <a:off x="1635930" y="2349162"/>
            <a:ext cx="285156" cy="285156"/>
          </a:xfrm>
          <a:prstGeom prst="rect">
            <a:avLst/>
          </a:prstGeom>
        </p:spPr>
      </p:pic>
      <p:sp>
        <p:nvSpPr>
          <p:cNvPr id="27" name="Text 27"/>
          <p:cNvSpPr txBox="1"/>
          <p:nvPr/>
        </p:nvSpPr>
        <p:spPr>
          <a:xfrm>
            <a:off x="594360" y="2816352"/>
            <a:ext cx="237744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إلكترونيًا؟</a:t>
            </a:r>
            <a:endParaRPr lang="ar-SA" sz="1500" dirty="0"/>
          </a:p>
        </p:txBody>
      </p:sp>
      <p:sp>
        <p:nvSpPr>
          <p:cNvPr id="28" name="Text 28"/>
          <p:cNvSpPr txBox="1"/>
          <p:nvPr/>
        </p:nvSpPr>
        <p:spPr>
          <a:xfrm>
            <a:off x="640080" y="3182112"/>
            <a:ext cx="2286000" cy="10058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5E7268"/>
                </a:solidFill>
                <a:latin typeface="IBM Plex Sans Arabic"/>
                <a:cs typeface="IBM Plex Sans Arabic"/>
              </a:rPr>
              <a:t>ضع هنا رمز QR لنموذج أو اختبار قصير في البوابة أو منصة مدرستي.</a:t>
            </a:r>
            <a:endParaRPr lang="ar-SA" sz="1200" dirty="0"/>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420000"/>
                                        <p:tgtEl>
                                          <p:spTgt spid="6"/>
                                        </p:tgtEl>
                                      </p:cBhvr>
                                    </p:animEffect>
                                    <p:set>
                                      <p:cBhvr>
                                        <p:cTn id="7" dur="1" fill="hold">
                                          <p:stCondLst>
                                            <p:cond delay="419999"/>
                                          </p:stCondLst>
                                        </p:cTn>
                                        <p:tgtEl>
                                          <p:spTgt spid="6"/>
                                        </p:tgtEl>
                                        <p:attrNameLst>
                                          <p:attrName>style.visibility</p:attrName>
                                        </p:attrNameLst>
                                      </p:cBhvr>
                                      <p:to>
                                        <p:strVal val="hidden"/>
                                      </p:to>
                                    </p:set>
                                  </p:childTnLst>
                                </p:cTn>
                              </p:par>
                            </p:childTnLst>
                          </p:cTn>
                        </p:par>
                        <p:par>
                          <p:cTn id="8" fill="hold">
                            <p:stCondLst>
                              <p:cond delay="42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الخلاصة</a:t>
            </a:r>
            <a:endParaRPr lang="ar-SA" sz="1200" dirty="0"/>
          </a:p>
        </p:txBody>
      </p:sp>
      <p:sp>
        <p:nvSpPr>
          <p:cNvPr id="4" name="زر المؤقت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txBody>
          <a:bodyPr wrap="square" lIns="91440" tIns="0" rIns="384048" bIns="0" rtlCol="1" anchor="ctr"/>
          <a:lstStyle/>
          <a:p>
            <a:pPr rtl="1" algn="ctr">
              <a:buNone/>
            </a:pPr>
            <a:r>
              <a:rPr lang="ar-SA" altLang="en-US" sz="1200" b="1" dirty="0">
                <a:solidFill>
                  <a:srgbClr val="FFFFFF"/>
                </a:solidFill>
                <a:latin typeface="IBM Plex Sans Arabic"/>
                <a:cs typeface="IBM Plex Sans Arabic"/>
              </a:rPr>
              <a:t>5 دقائق</a:t>
            </a:r>
          </a:p>
        </p:txBody>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شريط المؤقت 6"/>
          <p:cNvSpPr/>
          <p:nvPr/>
        </p:nvSpPr>
        <p:spPr>
          <a:xfrm>
            <a:off x="5806440" y="1138428"/>
            <a:ext cx="1097280" cy="32004"/>
          </a:xfrm>
          <a:prstGeom prst="rect">
            <a:avLst/>
          </a:prstGeom>
          <a:solidFill>
            <a:srgbClr val="89D7AD"/>
          </a:solidFill>
          <a:ln>
            <a:noFill/>
          </a:ln>
        </p:spPr>
      </p:sp>
      <p:sp>
        <p:nvSpPr>
          <p:cNvPr id="7" name="انتهى الوقت 7"/>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8" name="انتهى الوقت 8"/>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9" name="العودة إلى خريطة الحصة 9">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0" name="Title 10"/>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تعلّمنا اليوم؟</a:t>
            </a:r>
            <a:endParaRPr lang="ar-SA" sz="3000" dirty="0"/>
          </a:p>
        </p:txBody>
      </p:sp>
      <p:sp>
        <p:nvSpPr>
          <p:cNvPr id="11" name="Slide Number 11"/>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2" name="Card 12"/>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Text 13"/>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خلاصة الدرس</a:t>
            </a:r>
            <a:endParaRPr lang="ar-SA" sz="1800" dirty="0"/>
          </a:p>
        </p:txBody>
      </p:sp>
      <p:sp>
        <p:nvSpPr>
          <p:cNvPr id="14" name="Text 14"/>
          <p:cNvSpPr txBox="1"/>
          <p:nvPr/>
        </p:nvSpPr>
        <p:spPr>
          <a:xfrm>
            <a:off x="4937760" y="2651760"/>
            <a:ext cx="3474720" cy="1325880"/>
          </a:xfrm>
          <a:prstGeom prst="rect">
            <a:avLst/>
          </a:prstGeom>
          <a:noFill/>
        </p:spPr>
        <p:txBody>
          <a:bodyPr wrap="square" lIns="0" tIns="0" rIns="0" bIns="0" rtlCol="1" anchor="t"/>
          <a:lstStyle/>
          <a:p>
            <a:pPr rtl="1" algn="r" marL="285750" indent="-285750">
              <a:spcAft>
                <a:spcPts val="300"/>
              </a:spcAft>
              <a:buSzPct val="100000"/>
              <a:buChar char="•"/>
            </a:pPr>
            <a:r>
              <a:rPr lang="ar-SA" altLang="en-US" sz="1300" dirty="0">
                <a:solidFill>
                  <a:srgbClr val="1C3328"/>
                </a:solidFill>
                <a:latin typeface="IBM Plex Sans Arabic"/>
                <a:cs typeface="IBM Plex Sans Arabic"/>
              </a:rPr>
              <a:t>يصوغها الطلاب بأنفسهم.</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نعود إلى عمود «ماذا تعلّمت؟».</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نربطها بأهداف الحصة.</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أفخر اليوم بأنني ...</a:t>
            </a:r>
            <a:endParaRPr lang="ar-SA" sz="1300" dirty="0"/>
          </a:p>
        </p:txBody>
      </p:sp>
      <p:sp>
        <p:nvSpPr>
          <p:cNvPr id="15" name="زر جدول ماذا نعرف 15"/>
          <p:cNvSpPr/>
          <p:nvPr/>
        </p:nvSpPr>
        <p:spPr>
          <a:xfrm>
            <a:off x="6537960" y="4041648"/>
            <a:ext cx="1920240" cy="292608"/>
          </a:xfrm>
          <a:prstGeom prst="roundRect">
            <a:avLst>
              <a:gd name="adj" fmla="val 50000"/>
            </a:avLst>
          </a:prstGeom>
          <a:solidFill>
            <a:srgbClr val="EDFAF2"/>
          </a:solidFill>
          <a:ln w="12700">
            <a:solidFill>
              <a:srgbClr val="CCF2DB"/>
            </a:solidFill>
            <a:prstDash val="solid"/>
          </a:ln>
        </p:spPr>
      </p:sp>
      <p:sp>
        <p:nvSpPr>
          <p:cNvPr id="16" name="Text 16"/>
          <p:cNvSpPr txBox="1"/>
          <p:nvPr/>
        </p:nvSpPr>
        <p:spPr>
          <a:xfrm>
            <a:off x="6537960" y="4041648"/>
            <a:ext cx="1920240" cy="292608"/>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 جدول «ماذا نعرف؟»</a:t>
            </a:r>
            <a:endParaRPr lang="ar-SA" sz="1100" dirty="0"/>
          </a:p>
        </p:txBody>
      </p:sp>
      <p:sp>
        <p:nvSpPr>
          <p:cNvPr id="17" name="الانتقال إلى جدول ماذا نعرف 17">
            <a:hlinkClick r:id="rIdL1" action="ppaction://hlinksldjump"/>
          </p:cNvPr>
          <p:cNvSpPr/>
          <p:nvPr/>
        </p:nvSpPr>
        <p:spPr>
          <a:xfrm>
            <a:off x="6537960" y="4041648"/>
            <a:ext cx="1920240" cy="292608"/>
          </a:xfrm>
          <a:prstGeom prst="rect">
            <a:avLst/>
          </a:prstGeom>
          <a:solidFill>
            <a:srgbClr val="FFFFFF">
              <a:alpha val="0"/>
            </a:srgbClr>
          </a:solidFill>
          <a:ln>
            <a:noFill/>
          </a:ln>
        </p:spPr>
      </p:sp>
      <p:sp>
        <p:nvSpPr>
          <p:cNvPr id="18" name="Card 18"/>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9" name="Text 19"/>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قيّم فهمك</a:t>
            </a:r>
            <a:endParaRPr lang="ar-SA" sz="1800" dirty="0"/>
          </a:p>
        </p:txBody>
      </p:sp>
      <p:sp>
        <p:nvSpPr>
          <p:cNvPr id="20" name="Circle 20"/>
          <p:cNvSpPr/>
          <p:nvPr/>
        </p:nvSpPr>
        <p:spPr>
          <a:xfrm>
            <a:off x="3931920" y="2779776"/>
            <a:ext cx="310896" cy="310896"/>
          </a:xfrm>
          <a:prstGeom prst="ellipse">
            <a:avLst/>
          </a:prstGeom>
          <a:solidFill>
            <a:srgbClr val="3E6350"/>
          </a:solidFill>
          <a:ln w="12700">
            <a:solidFill>
              <a:srgbClr val="3E6350"/>
            </a:solidFill>
            <a:prstDash val="solid"/>
          </a:ln>
        </p:spPr>
      </p:sp>
      <p:sp>
        <p:nvSpPr>
          <p:cNvPr id="21" name="Text 21"/>
          <p:cNvSpPr txBox="1"/>
          <p:nvPr/>
        </p:nvSpPr>
        <p:spPr>
          <a:xfrm>
            <a:off x="731520" y="274320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وأستطيع أن أشرح لزميلي</a:t>
            </a:r>
            <a:endParaRPr lang="ar-SA" sz="1300" dirty="0"/>
          </a:p>
        </p:txBody>
      </p:sp>
      <p:sp>
        <p:nvSpPr>
          <p:cNvPr id="22" name="Circle 22"/>
          <p:cNvSpPr/>
          <p:nvPr/>
        </p:nvSpPr>
        <p:spPr>
          <a:xfrm>
            <a:off x="3931920" y="3328416"/>
            <a:ext cx="310896" cy="310896"/>
          </a:xfrm>
          <a:prstGeom prst="ellipse">
            <a:avLst/>
          </a:prstGeom>
          <a:solidFill>
            <a:srgbClr val="C9A13B"/>
          </a:solidFill>
          <a:ln w="12700">
            <a:solidFill>
              <a:srgbClr val="C9A13B"/>
            </a:solidFill>
            <a:prstDash val="solid"/>
          </a:ln>
        </p:spPr>
      </p:sp>
      <p:sp>
        <p:nvSpPr>
          <p:cNvPr id="23" name="Text 23"/>
          <p:cNvSpPr txBox="1"/>
          <p:nvPr/>
        </p:nvSpPr>
        <p:spPr>
          <a:xfrm>
            <a:off x="731520" y="329184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وأحتاج إلى مزيد من التدريب</a:t>
            </a:r>
            <a:endParaRPr lang="ar-SA" sz="1300" dirty="0"/>
          </a:p>
        </p:txBody>
      </p:sp>
      <p:sp>
        <p:nvSpPr>
          <p:cNvPr id="24" name="Circle 24"/>
          <p:cNvSpPr/>
          <p:nvPr/>
        </p:nvSpPr>
        <p:spPr>
          <a:xfrm>
            <a:off x="3931920" y="3877056"/>
            <a:ext cx="310896" cy="310896"/>
          </a:xfrm>
          <a:prstGeom prst="ellipse">
            <a:avLst/>
          </a:prstGeom>
          <a:solidFill>
            <a:srgbClr val="A23B3B"/>
          </a:solidFill>
          <a:ln w="12700">
            <a:solidFill>
              <a:srgbClr val="A23B3B"/>
            </a:solidFill>
            <a:prstDash val="solid"/>
          </a:ln>
        </p:spPr>
      </p:sp>
      <p:sp>
        <p:nvSpPr>
          <p:cNvPr id="25" name="Text 25"/>
          <p:cNvSpPr txBox="1"/>
          <p:nvPr/>
        </p:nvSpPr>
        <p:spPr>
          <a:xfrm>
            <a:off x="731520" y="384048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أحتاج إلى مساعدة</a:t>
            </a:r>
            <a:endParaRPr lang="ar-SA" sz="1300" dirty="0"/>
          </a:p>
        </p:txBody>
      </p:sp>
      <p:sp>
        <p:nvSpPr>
          <p:cNvPr id="26" name="زر ★ لوحة التميز 26">
            <a:hlinkClick r:id="rIdL2" action="ppaction://hlinksldjump"/>
          </p:cNvPr>
          <p:cNvSpPr/>
          <p:nvPr/>
        </p:nvSpPr>
        <p:spPr>
          <a:xfrm>
            <a:off x="731520" y="4041648"/>
            <a:ext cx="1463040" cy="292608"/>
          </a:xfrm>
          <a:prstGeom prst="roundRect">
            <a:avLst>
              <a:gd name="adj" fmla="val 5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1100" b="1" dirty="0">
                <a:solidFill>
                  <a:srgbClr val="9A7B22"/>
                </a:solidFill>
                <a:latin typeface="IBM Plex Sans Arabic"/>
                <a:cs typeface="IBM Plex Sans Arabic"/>
              </a:rPr>
              <a:t>★ لوحة التميز</a:t>
            </a:r>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4"/>
                    </p:tgtEl>
                  </p:cond>
                </p:stCondLst>
                <p:endSync evt="end" delay="0">
                  <p:rtn val="all"/>
                </p:endSync>
                <p:childTnLst>
                  <p:par>
                    <p:cTn id="3" fill="hold">
                      <p:stCondLst>
                        <p:cond delay="0"/>
                      </p:stCondLst>
                      <p:childTnLst>
                        <p:par>
                          <p:cTn id="4" fill="hold">
                            <p:stCondLst>
                              <p:cond delay="0"/>
                            </p:stCondLst>
                            <p:childTnLst>
                              <p:par>
                                <p:cTn id="5" presetID="22" presetClass="exit" presetSubtype="8" fill="hold" grpId="0" nodeType="clickEffect">
                                  <p:stCondLst>
                                    <p:cond delay="0"/>
                                  </p:stCondLst>
                                  <p:childTnLst>
                                    <p:animEffect transition="out" filter="wipe(left)">
                                      <p:cBhvr>
                                        <p:cTn id="6" dur="300000"/>
                                        <p:tgtEl>
                                          <p:spTgt spid="6"/>
                                        </p:tgtEl>
                                      </p:cBhvr>
                                    </p:animEffect>
                                    <p:set>
                                      <p:cBhvr>
                                        <p:cTn id="7" dur="1" fill="hold">
                                          <p:stCondLst>
                                            <p:cond delay="299999"/>
                                          </p:stCondLst>
                                        </p:cTn>
                                        <p:tgtEl>
                                          <p:spTgt spid="6"/>
                                        </p:tgtEl>
                                        <p:attrNameLst>
                                          <p:attrName>style.visibility</p:attrName>
                                        </p:attrNameLst>
                                      </p:cBhvr>
                                      <p:to>
                                        <p:strVal val="hidden"/>
                                      </p:to>
                                    </p:set>
                                  </p:childTnLst>
                                </p:cTn>
                              </p:par>
                            </p:childTnLst>
                          </p:cTn>
                        </p:par>
                        <p:par>
                          <p:cTn id="8" fill="hold">
                            <p:stCondLst>
                              <p:cond delay="300000"/>
                            </p:stCondLst>
                            <p:childTnLst>
                              <p:par>
                                <p:cTn id="9" presetID="10" presetClass="entr" presetSubtype="0" fill="hold" grpId="0"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childTnLst>
                                  <p:subTnLst>
                                    <p:audio>
                                      <p:cMediaNode showWhenStopped="0">
                                        <p:cTn id="12" display="0" masterRel="sameClick">
                                          <p:stCondLst>
                                            <p:cond delay="0"/>
                                          </p:stCondLst>
                                          <p:endCondLst>
                                            <p:cond evt="onNext" delay="0">
                                              <p:tgtEl>
                                                <p:sldTgt/>
                                              </p:tgtEl>
                                            </p:cond>
                                          </p:endCondLst>
                                        </p:cTn>
                                        <p:tgtEl>
                                          <p:sndTgt r:embed="rIdS0" name="timeup.wav"/>
                                        </p:tgtEl>
                                      </p:cMediaNode>
                                    </p:audio>
                                  </p:sub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childTnLst>
                          </p:cTn>
                        </p:par>
                      </p:childTnLst>
                    </p:cTn>
                  </p:par>
                </p:childTnLst>
              </p:cTn>
              <p:nextCondLst>
                <p:cond evt="onNext" delay="0">
                  <p:tgtEl>
                    <p:sldTgt/>
                  </p:tgtEl>
                </p:cond>
              </p:nextCondLst>
            </p:seq>
          </p:childTnLst>
        </p:cTn>
      </p:par>
    </p:tnLst>
    <p:bldLst>
      <p:bldP spid="6" grpId="0" animBg="1"/>
      <p:bldP spid="7" grpId="0" animBg="1"/>
      <p:bldP spid="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التحفيز</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لوحة التميز</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اسم المجموعة 8"/>
          <p:cNvSpPr/>
          <p:nvPr/>
        </p:nvSpPr>
        <p:spPr>
          <a:xfrm>
            <a:off x="7406640" y="2185416"/>
            <a:ext cx="1143000" cy="365760"/>
          </a:xfrm>
          <a:prstGeom prst="roundRect">
            <a:avLst>
              <a:gd name="adj" fmla="val 50000"/>
            </a:avLst>
          </a:prstGeom>
          <a:solidFill>
            <a:srgbClr val="3E6350"/>
          </a:solidFill>
          <a:ln w="12700">
            <a:solidFill>
              <a:srgbClr val="3E6350"/>
            </a:solidFill>
            <a:prstDash val="solid"/>
          </a:ln>
        </p:spPr>
      </p:sp>
      <p:sp>
        <p:nvSpPr>
          <p:cNvPr id="9" name="Text 9"/>
          <p:cNvSpPr txBox="1"/>
          <p:nvPr/>
        </p:nvSpPr>
        <p:spPr>
          <a:xfrm>
            <a:off x="740664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1</a:t>
            </a:r>
            <a:endParaRPr lang="ar-SA" sz="1200" dirty="0"/>
          </a:p>
        </p:txBody>
      </p:sp>
      <p:sp>
        <p:nvSpPr>
          <p:cNvPr id="10" name="زر نجمة 1 للمجموعة 1 10"/>
          <p:cNvSpPr/>
          <p:nvPr/>
        </p:nvSpPr>
        <p:spPr>
          <a:xfrm>
            <a:off x="6903720"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1" name="نجمة 11"/>
          <p:cNvSpPr/>
          <p:nvPr/>
        </p:nvSpPr>
        <p:spPr>
          <a:xfrm>
            <a:off x="6903720"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2" name="زر نجمة 2 للمجموعة 1 12"/>
          <p:cNvSpPr/>
          <p:nvPr/>
        </p:nvSpPr>
        <p:spPr>
          <a:xfrm>
            <a:off x="6464808"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3" name="نجمة 13"/>
          <p:cNvSpPr/>
          <p:nvPr/>
        </p:nvSpPr>
        <p:spPr>
          <a:xfrm>
            <a:off x="6464808"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4" name="زر نجمة 3 للمجموعة 1 14"/>
          <p:cNvSpPr/>
          <p:nvPr/>
        </p:nvSpPr>
        <p:spPr>
          <a:xfrm>
            <a:off x="6025896"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5" name="نجمة 15"/>
          <p:cNvSpPr/>
          <p:nvPr/>
        </p:nvSpPr>
        <p:spPr>
          <a:xfrm>
            <a:off x="6025896"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6" name="زر نجمة 4 للمجموعة 1 16"/>
          <p:cNvSpPr/>
          <p:nvPr/>
        </p:nvSpPr>
        <p:spPr>
          <a:xfrm>
            <a:off x="5586984"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7" name="نجمة 17"/>
          <p:cNvSpPr/>
          <p:nvPr/>
        </p:nvSpPr>
        <p:spPr>
          <a:xfrm>
            <a:off x="5586984"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18" name="زر نجمة 5 للمجموعة 1 18"/>
          <p:cNvSpPr/>
          <p:nvPr/>
        </p:nvSpPr>
        <p:spPr>
          <a:xfrm>
            <a:off x="5148072"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19" name="نجمة 19"/>
          <p:cNvSpPr/>
          <p:nvPr/>
        </p:nvSpPr>
        <p:spPr>
          <a:xfrm>
            <a:off x="5148072"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0" name="Card 20"/>
          <p:cNvSpPr/>
          <p:nvPr/>
        </p:nvSpPr>
        <p:spPr>
          <a:xfrm>
            <a:off x="45720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1" name="اسم المجموعة 21"/>
          <p:cNvSpPr/>
          <p:nvPr/>
        </p:nvSpPr>
        <p:spPr>
          <a:xfrm>
            <a:off x="3200400" y="2185416"/>
            <a:ext cx="1143000" cy="365760"/>
          </a:xfrm>
          <a:prstGeom prst="roundRect">
            <a:avLst>
              <a:gd name="adj" fmla="val 50000"/>
            </a:avLst>
          </a:prstGeom>
          <a:solidFill>
            <a:srgbClr val="3E6350"/>
          </a:solidFill>
          <a:ln w="12700">
            <a:solidFill>
              <a:srgbClr val="3E6350"/>
            </a:solidFill>
            <a:prstDash val="solid"/>
          </a:ln>
        </p:spPr>
      </p:sp>
      <p:sp>
        <p:nvSpPr>
          <p:cNvPr id="22" name="Text 22"/>
          <p:cNvSpPr txBox="1"/>
          <p:nvPr/>
        </p:nvSpPr>
        <p:spPr>
          <a:xfrm>
            <a:off x="320040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2</a:t>
            </a:r>
            <a:endParaRPr lang="ar-SA" sz="1200" dirty="0"/>
          </a:p>
        </p:txBody>
      </p:sp>
      <p:sp>
        <p:nvSpPr>
          <p:cNvPr id="23" name="زر نجمة 1 للمجموعة 2 23"/>
          <p:cNvSpPr/>
          <p:nvPr/>
        </p:nvSpPr>
        <p:spPr>
          <a:xfrm>
            <a:off x="2697480"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4" name="نجمة 24"/>
          <p:cNvSpPr/>
          <p:nvPr/>
        </p:nvSpPr>
        <p:spPr>
          <a:xfrm>
            <a:off x="2697480"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5" name="زر نجمة 2 للمجموعة 2 25"/>
          <p:cNvSpPr/>
          <p:nvPr/>
        </p:nvSpPr>
        <p:spPr>
          <a:xfrm>
            <a:off x="2258568"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6" name="نجمة 26"/>
          <p:cNvSpPr/>
          <p:nvPr/>
        </p:nvSpPr>
        <p:spPr>
          <a:xfrm>
            <a:off x="2258568"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7" name="زر نجمة 3 للمجموعة 2 27"/>
          <p:cNvSpPr/>
          <p:nvPr/>
        </p:nvSpPr>
        <p:spPr>
          <a:xfrm>
            <a:off x="1819656"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28" name="نجمة 28"/>
          <p:cNvSpPr/>
          <p:nvPr/>
        </p:nvSpPr>
        <p:spPr>
          <a:xfrm>
            <a:off x="1819656"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29" name="زر نجمة 4 للمجموعة 2 29"/>
          <p:cNvSpPr/>
          <p:nvPr/>
        </p:nvSpPr>
        <p:spPr>
          <a:xfrm>
            <a:off x="1380744"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0" name="نجمة 30"/>
          <p:cNvSpPr/>
          <p:nvPr/>
        </p:nvSpPr>
        <p:spPr>
          <a:xfrm>
            <a:off x="1380744"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1" name="زر نجمة 5 للمجموعة 2 31"/>
          <p:cNvSpPr/>
          <p:nvPr/>
        </p:nvSpPr>
        <p:spPr>
          <a:xfrm>
            <a:off x="941832" y="2185416"/>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2" name="نجمة 32"/>
          <p:cNvSpPr/>
          <p:nvPr/>
        </p:nvSpPr>
        <p:spPr>
          <a:xfrm>
            <a:off x="941832" y="2185416"/>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3" name="Card 33"/>
          <p:cNvSpPr/>
          <p:nvPr/>
        </p:nvSpPr>
        <p:spPr>
          <a:xfrm>
            <a:off x="466344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34" name="اسم المجموعة 34"/>
          <p:cNvSpPr/>
          <p:nvPr/>
        </p:nvSpPr>
        <p:spPr>
          <a:xfrm>
            <a:off x="7406640" y="2935224"/>
            <a:ext cx="1143000" cy="365760"/>
          </a:xfrm>
          <a:prstGeom prst="roundRect">
            <a:avLst>
              <a:gd name="adj" fmla="val 50000"/>
            </a:avLst>
          </a:prstGeom>
          <a:solidFill>
            <a:srgbClr val="3E6350"/>
          </a:solidFill>
          <a:ln w="12700">
            <a:solidFill>
              <a:srgbClr val="3E6350"/>
            </a:solidFill>
            <a:prstDash val="solid"/>
          </a:ln>
        </p:spPr>
      </p:sp>
      <p:sp>
        <p:nvSpPr>
          <p:cNvPr id="35" name="Text 35"/>
          <p:cNvSpPr txBox="1"/>
          <p:nvPr/>
        </p:nvSpPr>
        <p:spPr>
          <a:xfrm>
            <a:off x="740664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3</a:t>
            </a:r>
            <a:endParaRPr lang="ar-SA" sz="1200" dirty="0"/>
          </a:p>
        </p:txBody>
      </p:sp>
      <p:sp>
        <p:nvSpPr>
          <p:cNvPr id="36" name="زر نجمة 1 للمجموعة 3 36"/>
          <p:cNvSpPr/>
          <p:nvPr/>
        </p:nvSpPr>
        <p:spPr>
          <a:xfrm>
            <a:off x="6903720"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7" name="نجمة 37"/>
          <p:cNvSpPr/>
          <p:nvPr/>
        </p:nvSpPr>
        <p:spPr>
          <a:xfrm>
            <a:off x="6903720"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38" name="زر نجمة 2 للمجموعة 3 38"/>
          <p:cNvSpPr/>
          <p:nvPr/>
        </p:nvSpPr>
        <p:spPr>
          <a:xfrm>
            <a:off x="6464808"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39" name="نجمة 39"/>
          <p:cNvSpPr/>
          <p:nvPr/>
        </p:nvSpPr>
        <p:spPr>
          <a:xfrm>
            <a:off x="6464808"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0" name="زر نجمة 3 للمجموعة 3 40"/>
          <p:cNvSpPr/>
          <p:nvPr/>
        </p:nvSpPr>
        <p:spPr>
          <a:xfrm>
            <a:off x="6025896"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1" name="نجمة 41"/>
          <p:cNvSpPr/>
          <p:nvPr/>
        </p:nvSpPr>
        <p:spPr>
          <a:xfrm>
            <a:off x="6025896"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2" name="زر نجمة 4 للمجموعة 3 42"/>
          <p:cNvSpPr/>
          <p:nvPr/>
        </p:nvSpPr>
        <p:spPr>
          <a:xfrm>
            <a:off x="5586984"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3" name="نجمة 43"/>
          <p:cNvSpPr/>
          <p:nvPr/>
        </p:nvSpPr>
        <p:spPr>
          <a:xfrm>
            <a:off x="5586984"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4" name="زر نجمة 5 للمجموعة 3 44"/>
          <p:cNvSpPr/>
          <p:nvPr/>
        </p:nvSpPr>
        <p:spPr>
          <a:xfrm>
            <a:off x="5148072"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45" name="نجمة 45"/>
          <p:cNvSpPr/>
          <p:nvPr/>
        </p:nvSpPr>
        <p:spPr>
          <a:xfrm>
            <a:off x="5148072"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46" name="Card 46"/>
          <p:cNvSpPr/>
          <p:nvPr/>
        </p:nvSpPr>
        <p:spPr>
          <a:xfrm>
            <a:off x="45720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47" name="اسم المجموعة 47"/>
          <p:cNvSpPr/>
          <p:nvPr/>
        </p:nvSpPr>
        <p:spPr>
          <a:xfrm>
            <a:off x="3200400" y="2935224"/>
            <a:ext cx="1143000" cy="365760"/>
          </a:xfrm>
          <a:prstGeom prst="roundRect">
            <a:avLst>
              <a:gd name="adj" fmla="val 50000"/>
            </a:avLst>
          </a:prstGeom>
          <a:solidFill>
            <a:srgbClr val="3E6350"/>
          </a:solidFill>
          <a:ln w="12700">
            <a:solidFill>
              <a:srgbClr val="3E6350"/>
            </a:solidFill>
            <a:prstDash val="solid"/>
          </a:ln>
        </p:spPr>
      </p:sp>
      <p:sp>
        <p:nvSpPr>
          <p:cNvPr id="48" name="Text 48"/>
          <p:cNvSpPr txBox="1"/>
          <p:nvPr/>
        </p:nvSpPr>
        <p:spPr>
          <a:xfrm>
            <a:off x="320040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4</a:t>
            </a:r>
            <a:endParaRPr lang="ar-SA" sz="1200" dirty="0"/>
          </a:p>
        </p:txBody>
      </p:sp>
      <p:sp>
        <p:nvSpPr>
          <p:cNvPr id="49" name="زر نجمة 1 للمجموعة 4 49"/>
          <p:cNvSpPr/>
          <p:nvPr/>
        </p:nvSpPr>
        <p:spPr>
          <a:xfrm>
            <a:off x="2697480"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0" name="نجمة 50"/>
          <p:cNvSpPr/>
          <p:nvPr/>
        </p:nvSpPr>
        <p:spPr>
          <a:xfrm>
            <a:off x="2697480"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1" name="زر نجمة 2 للمجموعة 4 51"/>
          <p:cNvSpPr/>
          <p:nvPr/>
        </p:nvSpPr>
        <p:spPr>
          <a:xfrm>
            <a:off x="2258568"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2" name="نجمة 52"/>
          <p:cNvSpPr/>
          <p:nvPr/>
        </p:nvSpPr>
        <p:spPr>
          <a:xfrm>
            <a:off x="2258568"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3" name="زر نجمة 3 للمجموعة 4 53"/>
          <p:cNvSpPr/>
          <p:nvPr/>
        </p:nvSpPr>
        <p:spPr>
          <a:xfrm>
            <a:off x="1819656"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4" name="نجمة 54"/>
          <p:cNvSpPr/>
          <p:nvPr/>
        </p:nvSpPr>
        <p:spPr>
          <a:xfrm>
            <a:off x="1819656"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5" name="زر نجمة 4 للمجموعة 4 55"/>
          <p:cNvSpPr/>
          <p:nvPr/>
        </p:nvSpPr>
        <p:spPr>
          <a:xfrm>
            <a:off x="1380744"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6" name="نجمة 56"/>
          <p:cNvSpPr/>
          <p:nvPr/>
        </p:nvSpPr>
        <p:spPr>
          <a:xfrm>
            <a:off x="1380744"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7" name="زر نجمة 5 للمجموعة 4 57"/>
          <p:cNvSpPr/>
          <p:nvPr/>
        </p:nvSpPr>
        <p:spPr>
          <a:xfrm>
            <a:off x="941832" y="2935224"/>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58" name="نجمة 58"/>
          <p:cNvSpPr/>
          <p:nvPr/>
        </p:nvSpPr>
        <p:spPr>
          <a:xfrm>
            <a:off x="941832" y="2935224"/>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59" name="Card 59"/>
          <p:cNvSpPr/>
          <p:nvPr/>
        </p:nvSpPr>
        <p:spPr>
          <a:xfrm>
            <a:off x="466344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60" name="اسم المجموعة 60"/>
          <p:cNvSpPr/>
          <p:nvPr/>
        </p:nvSpPr>
        <p:spPr>
          <a:xfrm>
            <a:off x="7406640" y="3685032"/>
            <a:ext cx="1143000" cy="365760"/>
          </a:xfrm>
          <a:prstGeom prst="roundRect">
            <a:avLst>
              <a:gd name="adj" fmla="val 50000"/>
            </a:avLst>
          </a:prstGeom>
          <a:solidFill>
            <a:srgbClr val="3E6350"/>
          </a:solidFill>
          <a:ln w="12700">
            <a:solidFill>
              <a:srgbClr val="3E6350"/>
            </a:solidFill>
            <a:prstDash val="solid"/>
          </a:ln>
        </p:spPr>
      </p:sp>
      <p:sp>
        <p:nvSpPr>
          <p:cNvPr id="61" name="Text 61"/>
          <p:cNvSpPr txBox="1"/>
          <p:nvPr/>
        </p:nvSpPr>
        <p:spPr>
          <a:xfrm>
            <a:off x="740664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5</a:t>
            </a:r>
            <a:endParaRPr lang="ar-SA" sz="1200" dirty="0"/>
          </a:p>
        </p:txBody>
      </p:sp>
      <p:sp>
        <p:nvSpPr>
          <p:cNvPr id="62" name="زر نجمة 1 للمجموعة 5 62"/>
          <p:cNvSpPr/>
          <p:nvPr/>
        </p:nvSpPr>
        <p:spPr>
          <a:xfrm>
            <a:off x="6903720"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3" name="نجمة 63"/>
          <p:cNvSpPr/>
          <p:nvPr/>
        </p:nvSpPr>
        <p:spPr>
          <a:xfrm>
            <a:off x="6903720"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4" name="زر نجمة 2 للمجموعة 5 64"/>
          <p:cNvSpPr/>
          <p:nvPr/>
        </p:nvSpPr>
        <p:spPr>
          <a:xfrm>
            <a:off x="6464808"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5" name="نجمة 65"/>
          <p:cNvSpPr/>
          <p:nvPr/>
        </p:nvSpPr>
        <p:spPr>
          <a:xfrm>
            <a:off x="6464808"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6" name="زر نجمة 3 للمجموعة 5 66"/>
          <p:cNvSpPr/>
          <p:nvPr/>
        </p:nvSpPr>
        <p:spPr>
          <a:xfrm>
            <a:off x="6025896"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7" name="نجمة 67"/>
          <p:cNvSpPr/>
          <p:nvPr/>
        </p:nvSpPr>
        <p:spPr>
          <a:xfrm>
            <a:off x="6025896"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68" name="زر نجمة 4 للمجموعة 5 68"/>
          <p:cNvSpPr/>
          <p:nvPr/>
        </p:nvSpPr>
        <p:spPr>
          <a:xfrm>
            <a:off x="5586984"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69" name="نجمة 69"/>
          <p:cNvSpPr/>
          <p:nvPr/>
        </p:nvSpPr>
        <p:spPr>
          <a:xfrm>
            <a:off x="5586984"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0" name="زر نجمة 5 للمجموعة 5 70"/>
          <p:cNvSpPr/>
          <p:nvPr/>
        </p:nvSpPr>
        <p:spPr>
          <a:xfrm>
            <a:off x="5148072"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1" name="نجمة 71"/>
          <p:cNvSpPr/>
          <p:nvPr/>
        </p:nvSpPr>
        <p:spPr>
          <a:xfrm>
            <a:off x="5148072"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2" name="Card 72"/>
          <p:cNvSpPr/>
          <p:nvPr/>
        </p:nvSpPr>
        <p:spPr>
          <a:xfrm>
            <a:off x="45720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73" name="اسم المجموعة 73"/>
          <p:cNvSpPr/>
          <p:nvPr/>
        </p:nvSpPr>
        <p:spPr>
          <a:xfrm>
            <a:off x="3200400" y="3685032"/>
            <a:ext cx="1143000" cy="365760"/>
          </a:xfrm>
          <a:prstGeom prst="roundRect">
            <a:avLst>
              <a:gd name="adj" fmla="val 50000"/>
            </a:avLst>
          </a:prstGeom>
          <a:solidFill>
            <a:srgbClr val="3E6350"/>
          </a:solidFill>
          <a:ln w="12700">
            <a:solidFill>
              <a:srgbClr val="3E6350"/>
            </a:solidFill>
            <a:prstDash val="solid"/>
          </a:ln>
        </p:spPr>
      </p:sp>
      <p:sp>
        <p:nvSpPr>
          <p:cNvPr id="74" name="Text 74"/>
          <p:cNvSpPr txBox="1"/>
          <p:nvPr/>
        </p:nvSpPr>
        <p:spPr>
          <a:xfrm>
            <a:off x="320040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6</a:t>
            </a:r>
            <a:endParaRPr lang="ar-SA" sz="1200" dirty="0"/>
          </a:p>
        </p:txBody>
      </p:sp>
      <p:sp>
        <p:nvSpPr>
          <p:cNvPr id="75" name="زر نجمة 1 للمجموعة 6 75"/>
          <p:cNvSpPr/>
          <p:nvPr/>
        </p:nvSpPr>
        <p:spPr>
          <a:xfrm>
            <a:off x="2697480"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6" name="نجمة 76"/>
          <p:cNvSpPr/>
          <p:nvPr/>
        </p:nvSpPr>
        <p:spPr>
          <a:xfrm>
            <a:off x="2697480"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7" name="زر نجمة 2 للمجموعة 6 77"/>
          <p:cNvSpPr/>
          <p:nvPr/>
        </p:nvSpPr>
        <p:spPr>
          <a:xfrm>
            <a:off x="2258568"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78" name="نجمة 78"/>
          <p:cNvSpPr/>
          <p:nvPr/>
        </p:nvSpPr>
        <p:spPr>
          <a:xfrm>
            <a:off x="2258568"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79" name="زر نجمة 3 للمجموعة 6 79"/>
          <p:cNvSpPr/>
          <p:nvPr/>
        </p:nvSpPr>
        <p:spPr>
          <a:xfrm>
            <a:off x="1819656"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0" name="نجمة 80"/>
          <p:cNvSpPr/>
          <p:nvPr/>
        </p:nvSpPr>
        <p:spPr>
          <a:xfrm>
            <a:off x="1819656"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1" name="زر نجمة 4 للمجموعة 6 81"/>
          <p:cNvSpPr/>
          <p:nvPr/>
        </p:nvSpPr>
        <p:spPr>
          <a:xfrm>
            <a:off x="1380744"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2" name="نجمة 82"/>
          <p:cNvSpPr/>
          <p:nvPr/>
        </p:nvSpPr>
        <p:spPr>
          <a:xfrm>
            <a:off x="1380744"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3" name="زر نجمة 5 للمجموعة 6 83"/>
          <p:cNvSpPr/>
          <p:nvPr/>
        </p:nvSpPr>
        <p:spPr>
          <a:xfrm>
            <a:off x="941832" y="3685032"/>
            <a:ext cx="384048" cy="365760"/>
          </a:xfrm>
          <a:prstGeom prst="roundRect">
            <a:avLst>
              <a:gd name="adj" fmla="val 20000"/>
            </a:avLst>
          </a:prstGeom>
          <a:solidFill>
            <a:srgbClr val="EDFAF2"/>
          </a:solidFill>
          <a:ln w="12700">
            <a:solidFill>
              <a:srgbClr val="CCF2DB"/>
            </a:solidFill>
            <a:prstDash val="solid"/>
          </a:ln>
        </p:spPr>
        <p:txBody>
          <a:bodyPr wrap="square" lIns="0" tIns="0" rIns="0" bIns="0" rtlCol="1" anchor="ctr"/>
          <a:lstStyle/>
          <a:p>
            <a:pPr rtl="1" algn="ctr">
              <a:buNone/>
            </a:pPr>
            <a:r>
              <a:rPr lang="ar-SA" altLang="en-US" sz="2000" b="1" dirty="0">
                <a:solidFill>
                  <a:srgbClr val="9DB5A8"/>
                </a:solidFill>
                <a:latin typeface="IBM Plex Sans Arabic"/>
                <a:cs typeface="IBM Plex Sans Arabic"/>
              </a:rPr>
              <a:t>☆</a:t>
            </a:r>
          </a:p>
        </p:txBody>
      </p:sp>
      <p:sp>
        <p:nvSpPr>
          <p:cNvPr id="84" name="نجمة 84"/>
          <p:cNvSpPr/>
          <p:nvPr/>
        </p:nvSpPr>
        <p:spPr>
          <a:xfrm>
            <a:off x="941832" y="3685032"/>
            <a:ext cx="384048" cy="365760"/>
          </a:xfrm>
          <a:prstGeom prst="roundRect">
            <a:avLst>
              <a:gd name="adj" fmla="val 20000"/>
            </a:avLst>
          </a:prstGeom>
          <a:solidFill>
            <a:srgbClr val="FFF6DA"/>
          </a:solidFill>
          <a:ln w="12700">
            <a:solidFill>
              <a:srgbClr val="E9D49A"/>
            </a:solidFill>
            <a:prstDash val="solid"/>
          </a:ln>
        </p:spPr>
        <p:txBody>
          <a:bodyPr wrap="square" lIns="0" tIns="0" rIns="0" bIns="0" rtlCol="1" anchor="ctr"/>
          <a:lstStyle/>
          <a:p>
            <a:pPr rtl="1" algn="ctr">
              <a:buNone/>
            </a:pPr>
            <a:r>
              <a:rPr lang="ar-SA" altLang="en-US" sz="2000" b="1" dirty="0">
                <a:solidFill>
                  <a:srgbClr val="B8912F"/>
                </a:solidFill>
                <a:latin typeface="IBM Plex Sans Arabic"/>
                <a:cs typeface="IBM Plex Sans Arabic"/>
              </a:rPr>
              <a:t>★</a:t>
            </a:r>
          </a:p>
        </p:txBody>
      </p:sp>
      <p:sp>
        <p:nvSpPr>
          <p:cNvPr id="85" name="Text 85"/>
          <p:cNvSpPr txBox="1"/>
          <p:nvPr/>
        </p:nvSpPr>
        <p:spPr>
          <a:xfrm>
            <a:off x="1463040" y="4315968"/>
            <a:ext cx="722376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النجمة الفارغة لتمتلئ.</a:t>
            </a:r>
            <a:endParaRPr lang="ar-SA" sz="1000" dirty="0"/>
          </a:p>
        </p:txBody>
      </p:sp>
      <p:sp>
        <p:nvSpPr>
          <p:cNvPr id="86" name="زر ↩ رجوع 86">
            <a:hlinkClick r:id="" action="ppaction://hlinkshowjump?jump=lastslideviewed"/>
          </p:cNvPr>
          <p:cNvSpPr/>
          <p:nvPr/>
        </p:nvSpPr>
        <p:spPr>
          <a:xfrm>
            <a:off x="457200" y="4288536"/>
            <a:ext cx="868680" cy="274320"/>
          </a:xfrm>
          <a:prstGeom prst="roundRect">
            <a:avLst>
              <a:gd name="adj" fmla="val 50000"/>
            </a:avLst>
          </a:prstGeom>
          <a:solidFill>
            <a:srgbClr val="FFFFFF"/>
          </a:solidFill>
          <a:ln w="12700">
            <a:solidFill>
              <a:srgbClr val="D5E7DC"/>
            </a:solidFill>
            <a:prstDash val="solid"/>
          </a:ln>
        </p:spPr>
        <p:txBody>
          <a:bodyPr wrap="square" lIns="0" tIns="0" rIns="0" bIns="0" rtlCol="1" anchor="ctr"/>
          <a:lstStyle/>
          <a:p>
            <a:pPr rtl="1" algn="ctr">
              <a:buNone/>
            </a:pPr>
            <a:r>
              <a:rPr lang="ar-SA" altLang="en-US" sz="1000" b="1" dirty="0">
                <a:solidFill>
                  <a:srgbClr val="3E6350"/>
                </a:solidFill>
                <a:latin typeface="IBM Plex Sans Arabic"/>
                <a:cs typeface="IBM Plex Sans Arabic"/>
              </a:rPr>
              <a:t>↩ رجوع</a:t>
            </a:r>
          </a:p>
        </p:txBody>
      </p:sp>
    </p:spTree>
  </p:cSld>
  <p:clrMapOvr>
    <a:masterClrMapping/>
  </p:clrMapOvr>
  <p:transition spd="med">
    <p:fade/>
  </p:transition>
  <p:timing>
    <p:tnLst>
      <p:par>
        <p:cTn id="1" dur="indefinite" restart="never" nodeType="tmRoot">
          <p:childTnLst>
            <p:seq concurrent="1" nextAc="seek">
              <p:cTn id="2" restart="whenNotActive" fill="hold" evtFilter="cancelBubble" nodeType="interactiveSeq">
                <p:stCondLst>
                  <p:cond evt="onClick" delay="0">
                    <p:tgtEl>
                      <p:spTgt spid="10"/>
                    </p:tgtEl>
                  </p:cond>
                </p:stCondLst>
                <p:endSync evt="end" delay="0">
                  <p:rtn val="all"/>
                </p:endSync>
                <p:childTnLst>
                  <p:par>
                    <p:cTn id="3" fill="hold">
                      <p:stCondLst>
                        <p:cond delay="0"/>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300"/>
                                        <p:tgtEl>
                                          <p:spTgt spid="11"/>
                                        </p:tgtEl>
                                      </p:cBhvr>
                                    </p:animEffect>
                                  </p:childTnLst>
                                </p:cTn>
                              </p:par>
                            </p:childTnLst>
                          </p:cTn>
                        </p:par>
                      </p:childTnLst>
                    </p:cTn>
                  </p:par>
                </p:childTnLst>
              </p:cTn>
              <p:nextCondLst>
                <p:cond evt="onNext" delay="0">
                  <p:tgtEl>
                    <p:sldTgt/>
                  </p:tgtEl>
                </p:cond>
              </p:nextCondLst>
            </p:seq>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animEffect transition="in" filter="fade">
                                      <p:cBhvr>
                                        <p:cTn id="13" dur="300"/>
                                        <p:tgtEl>
                                          <p:spTgt spid="13"/>
                                        </p:tgtEl>
                                      </p:cBhvr>
                                    </p:animEffect>
                                  </p:childTnLst>
                                </p:cTn>
                              </p:par>
                            </p:childTnLst>
                          </p:cTn>
                        </p:par>
                      </p:childTnLst>
                    </p:cTn>
                  </p:par>
                </p:childTnLst>
              </p:cTn>
              <p:nextCondLst>
                <p:cond evt="onNext" delay="0">
                  <p:tgtEl>
                    <p:sldTgt/>
                  </p:tgtEl>
                </p:cond>
              </p:nextCondLst>
            </p:seq>
            <p:seq concurrent="1" nextAc="seek">
              <p:cTn id="14" restart="whenNotActive" fill="hold" evtFilter="cancelBubble" nodeType="interactiveSeq">
                <p:stCondLst>
                  <p:cond evt="onClick" delay="0">
                    <p:tgtEl>
                      <p:spTgt spid="14"/>
                    </p:tgtEl>
                  </p:cond>
                </p:stCondLst>
                <p:endSync evt="end" delay="0">
                  <p:rtn val="all"/>
                </p:endSync>
                <p:childTnLst>
                  <p:par>
                    <p:cTn id="15" fill="hold">
                      <p:stCondLst>
                        <p:cond delay="0"/>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300"/>
                                        <p:tgtEl>
                                          <p:spTgt spid="15"/>
                                        </p:tgtEl>
                                      </p:cBhvr>
                                    </p:animEffect>
                                  </p:childTnLst>
                                </p:cTn>
                              </p:par>
                            </p:childTnLst>
                          </p:cTn>
                        </p:par>
                      </p:childTnLst>
                    </p:cTn>
                  </p:par>
                </p:childTnLst>
              </p:cTn>
              <p:nextCondLst>
                <p:cond evt="onNext" delay="0">
                  <p:tgtEl>
                    <p:sldTgt/>
                  </p:tgtEl>
                </p:cond>
              </p:nextCondLst>
            </p:seq>
            <p:seq concurrent="1" nextAc="seek">
              <p:cTn id="20" restart="whenNotActive" fill="hold" evtFilter="cancelBubble" nodeType="interactiveSeq">
                <p:stCondLst>
                  <p:cond evt="onClick" delay="0">
                    <p:tgtEl>
                      <p:spTgt spid="16"/>
                    </p:tgtEl>
                  </p:cond>
                </p:stCondLst>
                <p:endSync evt="end" delay="0">
                  <p:rtn val="all"/>
                </p:endSync>
                <p:childTnLst>
                  <p:par>
                    <p:cTn id="21" fill="hold">
                      <p:stCondLst>
                        <p:cond delay="0"/>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300"/>
                                        <p:tgtEl>
                                          <p:spTgt spid="17"/>
                                        </p:tgtEl>
                                      </p:cBhvr>
                                    </p:animEffect>
                                  </p:childTnLst>
                                </p:cTn>
                              </p:par>
                            </p:childTnLst>
                          </p:cTn>
                        </p:par>
                      </p:childTnLst>
                    </p:cTn>
                  </p:par>
                </p:childTnLst>
              </p:cTn>
              <p:nextCondLst>
                <p:cond evt="onNext" delay="0">
                  <p:tgtEl>
                    <p:sldTgt/>
                  </p:tgtEl>
                </p:cond>
              </p:nextCondLst>
            </p:seq>
            <p:seq concurrent="1" nextAc="seek">
              <p:cTn id="26" restart="whenNotActive" fill="hold" evtFilter="cancelBubble" nodeType="interactiveSeq">
                <p:stCondLst>
                  <p:cond evt="onClick" delay="0">
                    <p:tgtEl>
                      <p:spTgt spid="18"/>
                    </p:tgtEl>
                  </p:cond>
                </p:stCondLst>
                <p:endSync evt="end" delay="0">
                  <p:rtn val="all"/>
                </p:endSync>
                <p:childTnLst>
                  <p:par>
                    <p:cTn id="27" fill="hold">
                      <p:stCondLst>
                        <p:cond delay="0"/>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300"/>
                                        <p:tgtEl>
                                          <p:spTgt spid="19"/>
                                        </p:tgtEl>
                                      </p:cBhvr>
                                    </p:animEffect>
                                  </p:childTnLst>
                                </p:cTn>
                              </p:par>
                            </p:childTnLst>
                          </p:cTn>
                        </p:par>
                      </p:childTnLst>
                    </p:cTn>
                  </p:par>
                </p:childTnLst>
              </p:cTn>
              <p:nextCondLst>
                <p:cond evt="onNext" delay="0">
                  <p:tgtEl>
                    <p:sldTgt/>
                  </p:tgtEl>
                </p:cond>
              </p:nextCondLst>
            </p:seq>
            <p:seq concurrent="1" nextAc="seek">
              <p:cTn id="32" restart="whenNotActive" fill="hold" evtFilter="cancelBubble" nodeType="interactiveSeq">
                <p:stCondLst>
                  <p:cond evt="onClick" delay="0">
                    <p:tgtEl>
                      <p:spTgt spid="23"/>
                    </p:tgtEl>
                  </p:cond>
                </p:stCondLst>
                <p:endSync evt="end" delay="0">
                  <p:rtn val="all"/>
                </p:endSync>
                <p:childTnLst>
                  <p:par>
                    <p:cTn id="33" fill="hold">
                      <p:stCondLst>
                        <p:cond delay="0"/>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300"/>
                                        <p:tgtEl>
                                          <p:spTgt spid="24"/>
                                        </p:tgtEl>
                                      </p:cBhvr>
                                    </p:animEffect>
                                  </p:childTnLst>
                                </p:cTn>
                              </p:par>
                            </p:childTnLst>
                          </p:cTn>
                        </p:par>
                      </p:childTnLst>
                    </p:cTn>
                  </p:par>
                </p:childTnLst>
              </p:cTn>
              <p:nextCondLst>
                <p:cond evt="onNext" delay="0">
                  <p:tgtEl>
                    <p:sldTgt/>
                  </p:tgtEl>
                </p:cond>
              </p:nextCondLst>
            </p:seq>
            <p:seq concurrent="1" nextAc="seek">
              <p:cTn id="38" restart="whenNotActive" fill="hold" evtFilter="cancelBubble" nodeType="interactiveSeq">
                <p:stCondLst>
                  <p:cond evt="onClick" delay="0">
                    <p:tgtEl>
                      <p:spTgt spid="25"/>
                    </p:tgtEl>
                  </p:cond>
                </p:stCondLst>
                <p:endSync evt="end" delay="0">
                  <p:rtn val="all"/>
                </p:endSync>
                <p:childTnLst>
                  <p:par>
                    <p:cTn id="39" fill="hold">
                      <p:stCondLst>
                        <p:cond delay="0"/>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300"/>
                                        <p:tgtEl>
                                          <p:spTgt spid="26"/>
                                        </p:tgtEl>
                                      </p:cBhvr>
                                    </p:animEffect>
                                  </p:childTnLst>
                                </p:cTn>
                              </p:par>
                            </p:childTnLst>
                          </p:cTn>
                        </p:par>
                      </p:childTnLst>
                    </p:cTn>
                  </p:par>
                </p:childTnLst>
              </p:cTn>
              <p:nextCondLst>
                <p:cond evt="onNext" delay="0">
                  <p:tgtEl>
                    <p:sldTgt/>
                  </p:tgtEl>
                </p:cond>
              </p:nextCondLst>
            </p:seq>
            <p:seq concurrent="1" nextAc="seek">
              <p:cTn id="44" restart="whenNotActive" fill="hold" evtFilter="cancelBubble" nodeType="interactiveSeq">
                <p:stCondLst>
                  <p:cond evt="onClick" delay="0">
                    <p:tgtEl>
                      <p:spTgt spid="27"/>
                    </p:tgtEl>
                  </p:cond>
                </p:stCondLst>
                <p:endSync evt="end" delay="0">
                  <p:rtn val="all"/>
                </p:endSync>
                <p:childTnLst>
                  <p:par>
                    <p:cTn id="45" fill="hold">
                      <p:stCondLst>
                        <p:cond delay="0"/>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300"/>
                                        <p:tgtEl>
                                          <p:spTgt spid="28"/>
                                        </p:tgtEl>
                                      </p:cBhvr>
                                    </p:animEffect>
                                  </p:childTnLst>
                                </p:cTn>
                              </p:par>
                            </p:childTnLst>
                          </p:cTn>
                        </p:par>
                      </p:childTnLst>
                    </p:cTn>
                  </p:par>
                </p:childTnLst>
              </p:cTn>
              <p:nextCondLst>
                <p:cond evt="onNext" delay="0">
                  <p:tgtEl>
                    <p:sldTgt/>
                  </p:tgtEl>
                </p:cond>
              </p:nextCondLst>
            </p:seq>
            <p:seq concurrent="1" nextAc="seek">
              <p:cTn id="50" restart="whenNotActive" fill="hold" evtFilter="cancelBubble" nodeType="interactiveSeq">
                <p:stCondLst>
                  <p:cond evt="onClick" delay="0">
                    <p:tgtEl>
                      <p:spTgt spid="29"/>
                    </p:tgtEl>
                  </p:cond>
                </p:stCondLst>
                <p:endSync evt="end" delay="0">
                  <p:rtn val="all"/>
                </p:endSync>
                <p:childTnLst>
                  <p:par>
                    <p:cTn id="51" fill="hold">
                      <p:stCondLst>
                        <p:cond delay="0"/>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300"/>
                                        <p:tgtEl>
                                          <p:spTgt spid="30"/>
                                        </p:tgtEl>
                                      </p:cBhvr>
                                    </p:animEffect>
                                  </p:childTnLst>
                                </p:cTn>
                              </p:par>
                            </p:childTnLst>
                          </p:cTn>
                        </p:par>
                      </p:childTnLst>
                    </p:cTn>
                  </p:par>
                </p:childTnLst>
              </p:cTn>
              <p:nextCondLst>
                <p:cond evt="onNext" delay="0">
                  <p:tgtEl>
                    <p:sldTgt/>
                  </p:tgtEl>
                </p:cond>
              </p:nextCondLst>
            </p:seq>
            <p:seq concurrent="1" nextAc="seek">
              <p:cTn id="56" restart="whenNotActive" fill="hold" evtFilter="cancelBubble" nodeType="interactiveSeq">
                <p:stCondLst>
                  <p:cond evt="onClick" delay="0">
                    <p:tgtEl>
                      <p:spTgt spid="31"/>
                    </p:tgtEl>
                  </p:cond>
                </p:stCondLst>
                <p:endSync evt="end" delay="0">
                  <p:rtn val="all"/>
                </p:endSync>
                <p:childTnLst>
                  <p:par>
                    <p:cTn id="57" fill="hold">
                      <p:stCondLst>
                        <p:cond delay="0"/>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2"/>
                                        </p:tgtEl>
                                        <p:attrNameLst>
                                          <p:attrName>style.visibility</p:attrName>
                                        </p:attrNameLst>
                                      </p:cBhvr>
                                      <p:to>
                                        <p:strVal val="visible"/>
                                      </p:to>
                                    </p:set>
                                    <p:animEffect transition="in" filter="fade">
                                      <p:cBhvr>
                                        <p:cTn id="61" dur="300"/>
                                        <p:tgtEl>
                                          <p:spTgt spid="32"/>
                                        </p:tgtEl>
                                      </p:cBhvr>
                                    </p:animEffect>
                                  </p:childTnLst>
                                </p:cTn>
                              </p:par>
                            </p:childTnLst>
                          </p:cTn>
                        </p:par>
                      </p:childTnLst>
                    </p:cTn>
                  </p:par>
                </p:childTnLst>
              </p:cTn>
              <p:nextCondLst>
                <p:cond evt="onNext" delay="0">
                  <p:tgtEl>
                    <p:sldTgt/>
                  </p:tgtEl>
                </p:cond>
              </p:nextCondLst>
            </p:seq>
            <p:seq concurrent="1" nextAc="seek">
              <p:cTn id="62" restart="whenNotActive" fill="hold" evtFilter="cancelBubble" nodeType="interactiveSeq">
                <p:stCondLst>
                  <p:cond evt="onClick" delay="0">
                    <p:tgtEl>
                      <p:spTgt spid="36"/>
                    </p:tgtEl>
                  </p:cond>
                </p:stCondLst>
                <p:endSync evt="end" delay="0">
                  <p:rtn val="all"/>
                </p:endSync>
                <p:childTnLst>
                  <p:par>
                    <p:cTn id="63" fill="hold">
                      <p:stCondLst>
                        <p:cond delay="0"/>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37"/>
                                        </p:tgtEl>
                                        <p:attrNameLst>
                                          <p:attrName>style.visibility</p:attrName>
                                        </p:attrNameLst>
                                      </p:cBhvr>
                                      <p:to>
                                        <p:strVal val="visible"/>
                                      </p:to>
                                    </p:set>
                                    <p:animEffect transition="in" filter="fade">
                                      <p:cBhvr>
                                        <p:cTn id="67" dur="300"/>
                                        <p:tgtEl>
                                          <p:spTgt spid="37"/>
                                        </p:tgtEl>
                                      </p:cBhvr>
                                    </p:animEffect>
                                  </p:childTnLst>
                                </p:cTn>
                              </p:par>
                            </p:childTnLst>
                          </p:cTn>
                        </p:par>
                      </p:childTnLst>
                    </p:cTn>
                  </p:par>
                </p:childTnLst>
              </p:cTn>
              <p:nextCondLst>
                <p:cond evt="onNext" delay="0">
                  <p:tgtEl>
                    <p:sldTgt/>
                  </p:tgtEl>
                </p:cond>
              </p:nextCondLst>
            </p:seq>
            <p:seq concurrent="1" nextAc="seek">
              <p:cTn id="68" restart="whenNotActive" fill="hold" evtFilter="cancelBubble" nodeType="interactiveSeq">
                <p:stCondLst>
                  <p:cond evt="onClick" delay="0">
                    <p:tgtEl>
                      <p:spTgt spid="38"/>
                    </p:tgtEl>
                  </p:cond>
                </p:stCondLst>
                <p:endSync evt="end" delay="0">
                  <p:rtn val="all"/>
                </p:endSync>
                <p:childTnLst>
                  <p:par>
                    <p:cTn id="69" fill="hold">
                      <p:stCondLst>
                        <p:cond delay="0"/>
                      </p:stCondLst>
                      <p:childTnLst>
                        <p:par>
                          <p:cTn id="70" fill="hold">
                            <p:stCondLst>
                              <p:cond delay="0"/>
                            </p:stCondLst>
                            <p:childTnLst>
                              <p:par>
                                <p:cTn id="71" presetID="10" presetClass="entr" presetSubtype="0" fill="hold" grpId="0" nodeType="clickEffect">
                                  <p:stCondLst>
                                    <p:cond delay="0"/>
                                  </p:stCondLst>
                                  <p:childTnLst>
                                    <p:set>
                                      <p:cBhvr>
                                        <p:cTn id="72" dur="1" fill="hold">
                                          <p:stCondLst>
                                            <p:cond delay="0"/>
                                          </p:stCondLst>
                                        </p:cTn>
                                        <p:tgtEl>
                                          <p:spTgt spid="39"/>
                                        </p:tgtEl>
                                        <p:attrNameLst>
                                          <p:attrName>style.visibility</p:attrName>
                                        </p:attrNameLst>
                                      </p:cBhvr>
                                      <p:to>
                                        <p:strVal val="visible"/>
                                      </p:to>
                                    </p:set>
                                    <p:animEffect transition="in" filter="fade">
                                      <p:cBhvr>
                                        <p:cTn id="73" dur="300"/>
                                        <p:tgtEl>
                                          <p:spTgt spid="39"/>
                                        </p:tgtEl>
                                      </p:cBhvr>
                                    </p:animEffect>
                                  </p:childTnLst>
                                </p:cTn>
                              </p:par>
                            </p:childTnLst>
                          </p:cTn>
                        </p:par>
                      </p:childTnLst>
                    </p:cTn>
                  </p:par>
                </p:childTnLst>
              </p:cTn>
              <p:nextCondLst>
                <p:cond evt="onNext" delay="0">
                  <p:tgtEl>
                    <p:sldTgt/>
                  </p:tgtEl>
                </p:cond>
              </p:nextCondLst>
            </p:seq>
            <p:seq concurrent="1" nextAc="seek">
              <p:cTn id="74" restart="whenNotActive" fill="hold" evtFilter="cancelBubble" nodeType="interactiveSeq">
                <p:stCondLst>
                  <p:cond evt="onClick" delay="0">
                    <p:tgtEl>
                      <p:spTgt spid="40"/>
                    </p:tgtEl>
                  </p:cond>
                </p:stCondLst>
                <p:endSync evt="end" delay="0">
                  <p:rtn val="all"/>
                </p:endSync>
                <p:childTnLst>
                  <p:par>
                    <p:cTn id="75" fill="hold">
                      <p:stCondLst>
                        <p:cond delay="0"/>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animEffect transition="in" filter="fade">
                                      <p:cBhvr>
                                        <p:cTn id="79" dur="300"/>
                                        <p:tgtEl>
                                          <p:spTgt spid="41"/>
                                        </p:tgtEl>
                                      </p:cBhvr>
                                    </p:animEffect>
                                  </p:childTnLst>
                                </p:cTn>
                              </p:par>
                            </p:childTnLst>
                          </p:cTn>
                        </p:par>
                      </p:childTnLst>
                    </p:cTn>
                  </p:par>
                </p:childTnLst>
              </p:cTn>
              <p:nextCondLst>
                <p:cond evt="onNext" delay="0">
                  <p:tgtEl>
                    <p:sldTgt/>
                  </p:tgtEl>
                </p:cond>
              </p:nextCondLst>
            </p:seq>
            <p:seq concurrent="1" nextAc="seek">
              <p:cTn id="80" restart="whenNotActive" fill="hold" evtFilter="cancelBubble" nodeType="interactiveSeq">
                <p:stCondLst>
                  <p:cond evt="onClick" delay="0">
                    <p:tgtEl>
                      <p:spTgt spid="42"/>
                    </p:tgtEl>
                  </p:cond>
                </p:stCondLst>
                <p:endSync evt="end" delay="0">
                  <p:rtn val="all"/>
                </p:endSync>
                <p:childTnLst>
                  <p:par>
                    <p:cTn id="81" fill="hold">
                      <p:stCondLst>
                        <p:cond delay="0"/>
                      </p:stCondLst>
                      <p:childTnLst>
                        <p:par>
                          <p:cTn id="8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300"/>
                                        <p:tgtEl>
                                          <p:spTgt spid="43"/>
                                        </p:tgtEl>
                                      </p:cBhvr>
                                    </p:animEffect>
                                  </p:childTnLst>
                                </p:cTn>
                              </p:par>
                            </p:childTnLst>
                          </p:cTn>
                        </p:par>
                      </p:childTnLst>
                    </p:cTn>
                  </p:par>
                </p:childTnLst>
              </p:cTn>
              <p:nextCondLst>
                <p:cond evt="onNext" delay="0">
                  <p:tgtEl>
                    <p:sldTgt/>
                  </p:tgtEl>
                </p:cond>
              </p:nextCondLst>
            </p:seq>
            <p:seq concurrent="1" nextAc="seek">
              <p:cTn id="86" restart="whenNotActive" fill="hold" evtFilter="cancelBubble" nodeType="interactiveSeq">
                <p:stCondLst>
                  <p:cond evt="onClick" delay="0">
                    <p:tgtEl>
                      <p:spTgt spid="44"/>
                    </p:tgtEl>
                  </p:cond>
                </p:stCondLst>
                <p:endSync evt="end" delay="0">
                  <p:rtn val="all"/>
                </p:endSync>
                <p:childTnLst>
                  <p:par>
                    <p:cTn id="87" fill="hold">
                      <p:stCondLst>
                        <p:cond delay="0"/>
                      </p:stCondLst>
                      <p:childTnLst>
                        <p:par>
                          <p:cTn id="88" fill="hold">
                            <p:stCondLst>
                              <p:cond delay="0"/>
                            </p:stCondLst>
                            <p:childTnLst>
                              <p:par>
                                <p:cTn id="89" presetID="10" presetClass="entr" presetSubtype="0" fill="hold" grpId="0" nodeType="click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300"/>
                                        <p:tgtEl>
                                          <p:spTgt spid="45"/>
                                        </p:tgtEl>
                                      </p:cBhvr>
                                    </p:animEffect>
                                  </p:childTnLst>
                                </p:cTn>
                              </p:par>
                            </p:childTnLst>
                          </p:cTn>
                        </p:par>
                      </p:childTnLst>
                    </p:cTn>
                  </p:par>
                </p:childTnLst>
              </p:cTn>
              <p:nextCondLst>
                <p:cond evt="onNext" delay="0">
                  <p:tgtEl>
                    <p:sldTgt/>
                  </p:tgtEl>
                </p:cond>
              </p:nextCondLst>
            </p:seq>
            <p:seq concurrent="1" nextAc="seek">
              <p:cTn id="92" restart="whenNotActive" fill="hold" evtFilter="cancelBubble" nodeType="interactiveSeq">
                <p:stCondLst>
                  <p:cond evt="onClick" delay="0">
                    <p:tgtEl>
                      <p:spTgt spid="49"/>
                    </p:tgtEl>
                  </p:cond>
                </p:stCondLst>
                <p:endSync evt="end" delay="0">
                  <p:rtn val="all"/>
                </p:endSync>
                <p:childTnLst>
                  <p:par>
                    <p:cTn id="93" fill="hold">
                      <p:stCondLst>
                        <p:cond delay="0"/>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50"/>
                                        </p:tgtEl>
                                        <p:attrNameLst>
                                          <p:attrName>style.visibility</p:attrName>
                                        </p:attrNameLst>
                                      </p:cBhvr>
                                      <p:to>
                                        <p:strVal val="visible"/>
                                      </p:to>
                                    </p:set>
                                    <p:animEffect transition="in" filter="fade">
                                      <p:cBhvr>
                                        <p:cTn id="97" dur="300"/>
                                        <p:tgtEl>
                                          <p:spTgt spid="50"/>
                                        </p:tgtEl>
                                      </p:cBhvr>
                                    </p:animEffect>
                                  </p:childTnLst>
                                </p:cTn>
                              </p:par>
                            </p:childTnLst>
                          </p:cTn>
                        </p:par>
                      </p:childTnLst>
                    </p:cTn>
                  </p:par>
                </p:childTnLst>
              </p:cTn>
              <p:nextCondLst>
                <p:cond evt="onNext" delay="0">
                  <p:tgtEl>
                    <p:sldTgt/>
                  </p:tgtEl>
                </p:cond>
              </p:nextCondLst>
            </p:seq>
            <p:seq concurrent="1" nextAc="seek">
              <p:cTn id="98" restart="whenNotActive" fill="hold" evtFilter="cancelBubble" nodeType="interactiveSeq">
                <p:stCondLst>
                  <p:cond evt="onClick" delay="0">
                    <p:tgtEl>
                      <p:spTgt spid="51"/>
                    </p:tgtEl>
                  </p:cond>
                </p:stCondLst>
                <p:endSync evt="end" delay="0">
                  <p:rtn val="all"/>
                </p:endSync>
                <p:childTnLst>
                  <p:par>
                    <p:cTn id="99" fill="hold">
                      <p:stCondLst>
                        <p:cond delay="0"/>
                      </p:stCondLst>
                      <p:childTnLst>
                        <p:par>
                          <p:cTn id="100" fill="hold">
                            <p:stCondLst>
                              <p:cond delay="0"/>
                            </p:stCondLst>
                            <p:childTnLst>
                              <p:par>
                                <p:cTn id="101" presetID="10" presetClass="entr" presetSubtype="0" fill="hold" grpId="0" nodeType="clickEffect">
                                  <p:stCondLst>
                                    <p:cond delay="0"/>
                                  </p:stCondLst>
                                  <p:childTnLst>
                                    <p:set>
                                      <p:cBhvr>
                                        <p:cTn id="102" dur="1" fill="hold">
                                          <p:stCondLst>
                                            <p:cond delay="0"/>
                                          </p:stCondLst>
                                        </p:cTn>
                                        <p:tgtEl>
                                          <p:spTgt spid="52"/>
                                        </p:tgtEl>
                                        <p:attrNameLst>
                                          <p:attrName>style.visibility</p:attrName>
                                        </p:attrNameLst>
                                      </p:cBhvr>
                                      <p:to>
                                        <p:strVal val="visible"/>
                                      </p:to>
                                    </p:set>
                                    <p:animEffect transition="in" filter="fade">
                                      <p:cBhvr>
                                        <p:cTn id="103" dur="300"/>
                                        <p:tgtEl>
                                          <p:spTgt spid="52"/>
                                        </p:tgtEl>
                                      </p:cBhvr>
                                    </p:animEffect>
                                  </p:childTnLst>
                                </p:cTn>
                              </p:par>
                            </p:childTnLst>
                          </p:cTn>
                        </p:par>
                      </p:childTnLst>
                    </p:cTn>
                  </p:par>
                </p:childTnLst>
              </p:cTn>
              <p:nextCondLst>
                <p:cond evt="onNext" delay="0">
                  <p:tgtEl>
                    <p:sldTgt/>
                  </p:tgtEl>
                </p:cond>
              </p:nextCondLst>
            </p:seq>
            <p:seq concurrent="1" nextAc="seek">
              <p:cTn id="104" restart="whenNotActive" fill="hold" evtFilter="cancelBubble" nodeType="interactiveSeq">
                <p:stCondLst>
                  <p:cond evt="onClick" delay="0">
                    <p:tgtEl>
                      <p:spTgt spid="53"/>
                    </p:tgtEl>
                  </p:cond>
                </p:stCondLst>
                <p:endSync evt="end" delay="0">
                  <p:rtn val="all"/>
                </p:endSync>
                <p:childTnLst>
                  <p:par>
                    <p:cTn id="105" fill="hold">
                      <p:stCondLst>
                        <p:cond delay="0"/>
                      </p:stCondLst>
                      <p:childTnLst>
                        <p:par>
                          <p:cTn id="106" fill="hold">
                            <p:stCondLst>
                              <p:cond delay="0"/>
                            </p:stCondLst>
                            <p:childTnLst>
                              <p:par>
                                <p:cTn id="107" presetID="10" presetClass="entr" presetSubtype="0" fill="hold" grpId="0" nodeType="clickEffect">
                                  <p:stCondLst>
                                    <p:cond delay="0"/>
                                  </p:stCondLst>
                                  <p:childTnLst>
                                    <p:set>
                                      <p:cBhvr>
                                        <p:cTn id="108" dur="1" fill="hold">
                                          <p:stCondLst>
                                            <p:cond delay="0"/>
                                          </p:stCondLst>
                                        </p:cTn>
                                        <p:tgtEl>
                                          <p:spTgt spid="54"/>
                                        </p:tgtEl>
                                        <p:attrNameLst>
                                          <p:attrName>style.visibility</p:attrName>
                                        </p:attrNameLst>
                                      </p:cBhvr>
                                      <p:to>
                                        <p:strVal val="visible"/>
                                      </p:to>
                                    </p:set>
                                    <p:animEffect transition="in" filter="fade">
                                      <p:cBhvr>
                                        <p:cTn id="109" dur="300"/>
                                        <p:tgtEl>
                                          <p:spTgt spid="54"/>
                                        </p:tgtEl>
                                      </p:cBhvr>
                                    </p:animEffect>
                                  </p:childTnLst>
                                </p:cTn>
                              </p:par>
                            </p:childTnLst>
                          </p:cTn>
                        </p:par>
                      </p:childTnLst>
                    </p:cTn>
                  </p:par>
                </p:childTnLst>
              </p:cTn>
              <p:nextCondLst>
                <p:cond evt="onNext" delay="0">
                  <p:tgtEl>
                    <p:sldTgt/>
                  </p:tgtEl>
                </p:cond>
              </p:nextCondLst>
            </p:seq>
            <p:seq concurrent="1" nextAc="seek">
              <p:cTn id="110" restart="whenNotActive" fill="hold" evtFilter="cancelBubble" nodeType="interactiveSeq">
                <p:stCondLst>
                  <p:cond evt="onClick" delay="0">
                    <p:tgtEl>
                      <p:spTgt spid="55"/>
                    </p:tgtEl>
                  </p:cond>
                </p:stCondLst>
                <p:endSync evt="end" delay="0">
                  <p:rtn val="all"/>
                </p:endSync>
                <p:childTnLst>
                  <p:par>
                    <p:cTn id="111" fill="hold">
                      <p:stCondLst>
                        <p:cond delay="0"/>
                      </p:stCondLst>
                      <p:childTnLst>
                        <p:par>
                          <p:cTn id="112" fill="hold">
                            <p:stCondLst>
                              <p:cond delay="0"/>
                            </p:stCondLst>
                            <p:childTnLst>
                              <p:par>
                                <p:cTn id="113" presetID="10" presetClass="entr" presetSubtype="0" fill="hold" grpId="0" nodeType="clickEffect">
                                  <p:stCondLst>
                                    <p:cond delay="0"/>
                                  </p:stCondLst>
                                  <p:childTnLst>
                                    <p:set>
                                      <p:cBhvr>
                                        <p:cTn id="114" dur="1" fill="hold">
                                          <p:stCondLst>
                                            <p:cond delay="0"/>
                                          </p:stCondLst>
                                        </p:cTn>
                                        <p:tgtEl>
                                          <p:spTgt spid="56"/>
                                        </p:tgtEl>
                                        <p:attrNameLst>
                                          <p:attrName>style.visibility</p:attrName>
                                        </p:attrNameLst>
                                      </p:cBhvr>
                                      <p:to>
                                        <p:strVal val="visible"/>
                                      </p:to>
                                    </p:set>
                                    <p:animEffect transition="in" filter="fade">
                                      <p:cBhvr>
                                        <p:cTn id="115" dur="300"/>
                                        <p:tgtEl>
                                          <p:spTgt spid="56"/>
                                        </p:tgtEl>
                                      </p:cBhvr>
                                    </p:animEffect>
                                  </p:childTnLst>
                                </p:cTn>
                              </p:par>
                            </p:childTnLst>
                          </p:cTn>
                        </p:par>
                      </p:childTnLst>
                    </p:cTn>
                  </p:par>
                </p:childTnLst>
              </p:cTn>
              <p:nextCondLst>
                <p:cond evt="onNext" delay="0">
                  <p:tgtEl>
                    <p:sldTgt/>
                  </p:tgtEl>
                </p:cond>
              </p:nextCondLst>
            </p:seq>
            <p:seq concurrent="1" nextAc="seek">
              <p:cTn id="116" restart="whenNotActive" fill="hold" evtFilter="cancelBubble" nodeType="interactiveSeq">
                <p:stCondLst>
                  <p:cond evt="onClick" delay="0">
                    <p:tgtEl>
                      <p:spTgt spid="57"/>
                    </p:tgtEl>
                  </p:cond>
                </p:stCondLst>
                <p:endSync evt="end" delay="0">
                  <p:rtn val="all"/>
                </p:endSync>
                <p:childTnLst>
                  <p:par>
                    <p:cTn id="117" fill="hold">
                      <p:stCondLst>
                        <p:cond delay="0"/>
                      </p:stCondLst>
                      <p:childTnLst>
                        <p:par>
                          <p:cTn id="118" fill="hold">
                            <p:stCondLst>
                              <p:cond delay="0"/>
                            </p:stCondLst>
                            <p:childTnLst>
                              <p:par>
                                <p:cTn id="119" presetID="10" presetClass="entr" presetSubtype="0" fill="hold" grpId="0" nodeType="clickEffect">
                                  <p:stCondLst>
                                    <p:cond delay="0"/>
                                  </p:stCondLst>
                                  <p:childTnLst>
                                    <p:set>
                                      <p:cBhvr>
                                        <p:cTn id="120" dur="1" fill="hold">
                                          <p:stCondLst>
                                            <p:cond delay="0"/>
                                          </p:stCondLst>
                                        </p:cTn>
                                        <p:tgtEl>
                                          <p:spTgt spid="58"/>
                                        </p:tgtEl>
                                        <p:attrNameLst>
                                          <p:attrName>style.visibility</p:attrName>
                                        </p:attrNameLst>
                                      </p:cBhvr>
                                      <p:to>
                                        <p:strVal val="visible"/>
                                      </p:to>
                                    </p:set>
                                    <p:animEffect transition="in" filter="fade">
                                      <p:cBhvr>
                                        <p:cTn id="121" dur="300"/>
                                        <p:tgtEl>
                                          <p:spTgt spid="58"/>
                                        </p:tgtEl>
                                      </p:cBhvr>
                                    </p:animEffect>
                                  </p:childTnLst>
                                </p:cTn>
                              </p:par>
                            </p:childTnLst>
                          </p:cTn>
                        </p:par>
                      </p:childTnLst>
                    </p:cTn>
                  </p:par>
                </p:childTnLst>
              </p:cTn>
              <p:nextCondLst>
                <p:cond evt="onNext" delay="0">
                  <p:tgtEl>
                    <p:sldTgt/>
                  </p:tgtEl>
                </p:cond>
              </p:nextCondLst>
            </p:seq>
            <p:seq concurrent="1" nextAc="seek">
              <p:cTn id="122" restart="whenNotActive" fill="hold" evtFilter="cancelBubble" nodeType="interactiveSeq">
                <p:stCondLst>
                  <p:cond evt="onClick" delay="0">
                    <p:tgtEl>
                      <p:spTgt spid="62"/>
                    </p:tgtEl>
                  </p:cond>
                </p:stCondLst>
                <p:endSync evt="end" delay="0">
                  <p:rtn val="all"/>
                </p:endSync>
                <p:childTnLst>
                  <p:par>
                    <p:cTn id="123" fill="hold">
                      <p:stCondLst>
                        <p:cond delay="0"/>
                      </p:stCondLst>
                      <p:childTnLst>
                        <p:par>
                          <p:cTn id="124" fill="hold">
                            <p:stCondLst>
                              <p:cond delay="0"/>
                            </p:stCondLst>
                            <p:childTnLst>
                              <p:par>
                                <p:cTn id="125" presetID="10" presetClass="entr" presetSubtype="0" fill="hold" grpId="0" nodeType="clickEffect">
                                  <p:stCondLst>
                                    <p:cond delay="0"/>
                                  </p:stCondLst>
                                  <p:childTnLst>
                                    <p:set>
                                      <p:cBhvr>
                                        <p:cTn id="126" dur="1" fill="hold">
                                          <p:stCondLst>
                                            <p:cond delay="0"/>
                                          </p:stCondLst>
                                        </p:cTn>
                                        <p:tgtEl>
                                          <p:spTgt spid="63"/>
                                        </p:tgtEl>
                                        <p:attrNameLst>
                                          <p:attrName>style.visibility</p:attrName>
                                        </p:attrNameLst>
                                      </p:cBhvr>
                                      <p:to>
                                        <p:strVal val="visible"/>
                                      </p:to>
                                    </p:set>
                                    <p:animEffect transition="in" filter="fade">
                                      <p:cBhvr>
                                        <p:cTn id="127" dur="300"/>
                                        <p:tgtEl>
                                          <p:spTgt spid="63"/>
                                        </p:tgtEl>
                                      </p:cBhvr>
                                    </p:animEffect>
                                  </p:childTnLst>
                                </p:cTn>
                              </p:par>
                            </p:childTnLst>
                          </p:cTn>
                        </p:par>
                      </p:childTnLst>
                    </p:cTn>
                  </p:par>
                </p:childTnLst>
              </p:cTn>
              <p:nextCondLst>
                <p:cond evt="onNext" delay="0">
                  <p:tgtEl>
                    <p:sldTgt/>
                  </p:tgtEl>
                </p:cond>
              </p:nextCondLst>
            </p:seq>
            <p:seq concurrent="1" nextAc="seek">
              <p:cTn id="128" restart="whenNotActive" fill="hold" evtFilter="cancelBubble" nodeType="interactiveSeq">
                <p:stCondLst>
                  <p:cond evt="onClick" delay="0">
                    <p:tgtEl>
                      <p:spTgt spid="64"/>
                    </p:tgtEl>
                  </p:cond>
                </p:stCondLst>
                <p:endSync evt="end" delay="0">
                  <p:rtn val="all"/>
                </p:endSync>
                <p:childTnLst>
                  <p:par>
                    <p:cTn id="129" fill="hold">
                      <p:stCondLst>
                        <p:cond delay="0"/>
                      </p:stCondLst>
                      <p:childTnLst>
                        <p:par>
                          <p:cTn id="130" fill="hold">
                            <p:stCondLst>
                              <p:cond delay="0"/>
                            </p:stCondLst>
                            <p:childTnLst>
                              <p:par>
                                <p:cTn id="131" presetID="10" presetClass="entr" presetSubtype="0" fill="hold" grpId="0" nodeType="clickEffect">
                                  <p:stCondLst>
                                    <p:cond delay="0"/>
                                  </p:stCondLst>
                                  <p:childTnLst>
                                    <p:set>
                                      <p:cBhvr>
                                        <p:cTn id="132" dur="1" fill="hold">
                                          <p:stCondLst>
                                            <p:cond delay="0"/>
                                          </p:stCondLst>
                                        </p:cTn>
                                        <p:tgtEl>
                                          <p:spTgt spid="65"/>
                                        </p:tgtEl>
                                        <p:attrNameLst>
                                          <p:attrName>style.visibility</p:attrName>
                                        </p:attrNameLst>
                                      </p:cBhvr>
                                      <p:to>
                                        <p:strVal val="visible"/>
                                      </p:to>
                                    </p:set>
                                    <p:animEffect transition="in" filter="fade">
                                      <p:cBhvr>
                                        <p:cTn id="133" dur="300"/>
                                        <p:tgtEl>
                                          <p:spTgt spid="65"/>
                                        </p:tgtEl>
                                      </p:cBhvr>
                                    </p:animEffect>
                                  </p:childTnLst>
                                </p:cTn>
                              </p:par>
                            </p:childTnLst>
                          </p:cTn>
                        </p:par>
                      </p:childTnLst>
                    </p:cTn>
                  </p:par>
                </p:childTnLst>
              </p:cTn>
              <p:nextCondLst>
                <p:cond evt="onNext" delay="0">
                  <p:tgtEl>
                    <p:sldTgt/>
                  </p:tgtEl>
                </p:cond>
              </p:nextCondLst>
            </p:seq>
            <p:seq concurrent="1" nextAc="seek">
              <p:cTn id="134" restart="whenNotActive" fill="hold" evtFilter="cancelBubble" nodeType="interactiveSeq">
                <p:stCondLst>
                  <p:cond evt="onClick" delay="0">
                    <p:tgtEl>
                      <p:spTgt spid="66"/>
                    </p:tgtEl>
                  </p:cond>
                </p:stCondLst>
                <p:endSync evt="end" delay="0">
                  <p:rtn val="all"/>
                </p:endSync>
                <p:childTnLst>
                  <p:par>
                    <p:cTn id="135" fill="hold">
                      <p:stCondLst>
                        <p:cond delay="0"/>
                      </p:stCondLst>
                      <p:childTnLst>
                        <p:par>
                          <p:cTn id="136" fill="hold">
                            <p:stCondLst>
                              <p:cond delay="0"/>
                            </p:stCondLst>
                            <p:childTnLst>
                              <p:par>
                                <p:cTn id="137" presetID="10" presetClass="entr" presetSubtype="0" fill="hold" grpId="0" nodeType="clickEffect">
                                  <p:stCondLst>
                                    <p:cond delay="0"/>
                                  </p:stCondLst>
                                  <p:childTnLst>
                                    <p:set>
                                      <p:cBhvr>
                                        <p:cTn id="138" dur="1" fill="hold">
                                          <p:stCondLst>
                                            <p:cond delay="0"/>
                                          </p:stCondLst>
                                        </p:cTn>
                                        <p:tgtEl>
                                          <p:spTgt spid="67"/>
                                        </p:tgtEl>
                                        <p:attrNameLst>
                                          <p:attrName>style.visibility</p:attrName>
                                        </p:attrNameLst>
                                      </p:cBhvr>
                                      <p:to>
                                        <p:strVal val="visible"/>
                                      </p:to>
                                    </p:set>
                                    <p:animEffect transition="in" filter="fade">
                                      <p:cBhvr>
                                        <p:cTn id="139" dur="300"/>
                                        <p:tgtEl>
                                          <p:spTgt spid="67"/>
                                        </p:tgtEl>
                                      </p:cBhvr>
                                    </p:animEffect>
                                  </p:childTnLst>
                                </p:cTn>
                              </p:par>
                            </p:childTnLst>
                          </p:cTn>
                        </p:par>
                      </p:childTnLst>
                    </p:cTn>
                  </p:par>
                </p:childTnLst>
              </p:cTn>
              <p:nextCondLst>
                <p:cond evt="onNext" delay="0">
                  <p:tgtEl>
                    <p:sldTgt/>
                  </p:tgtEl>
                </p:cond>
              </p:nextCondLst>
            </p:seq>
            <p:seq concurrent="1" nextAc="seek">
              <p:cTn id="140" restart="whenNotActive" fill="hold" evtFilter="cancelBubble" nodeType="interactiveSeq">
                <p:stCondLst>
                  <p:cond evt="onClick" delay="0">
                    <p:tgtEl>
                      <p:spTgt spid="68"/>
                    </p:tgtEl>
                  </p:cond>
                </p:stCondLst>
                <p:endSync evt="end" delay="0">
                  <p:rtn val="all"/>
                </p:endSync>
                <p:childTnLst>
                  <p:par>
                    <p:cTn id="141" fill="hold">
                      <p:stCondLst>
                        <p:cond delay="0"/>
                      </p:stCondLst>
                      <p:childTnLst>
                        <p:par>
                          <p:cTn id="142" fill="hold">
                            <p:stCondLst>
                              <p:cond delay="0"/>
                            </p:stCondLst>
                            <p:childTnLst>
                              <p:par>
                                <p:cTn id="143" presetID="10" presetClass="entr" presetSubtype="0" fill="hold" grpId="0" nodeType="clickEffect">
                                  <p:stCondLst>
                                    <p:cond delay="0"/>
                                  </p:stCondLst>
                                  <p:childTnLst>
                                    <p:set>
                                      <p:cBhvr>
                                        <p:cTn id="144" dur="1" fill="hold">
                                          <p:stCondLst>
                                            <p:cond delay="0"/>
                                          </p:stCondLst>
                                        </p:cTn>
                                        <p:tgtEl>
                                          <p:spTgt spid="69"/>
                                        </p:tgtEl>
                                        <p:attrNameLst>
                                          <p:attrName>style.visibility</p:attrName>
                                        </p:attrNameLst>
                                      </p:cBhvr>
                                      <p:to>
                                        <p:strVal val="visible"/>
                                      </p:to>
                                    </p:set>
                                    <p:animEffect transition="in" filter="fade">
                                      <p:cBhvr>
                                        <p:cTn id="145" dur="300"/>
                                        <p:tgtEl>
                                          <p:spTgt spid="69"/>
                                        </p:tgtEl>
                                      </p:cBhvr>
                                    </p:animEffect>
                                  </p:childTnLst>
                                </p:cTn>
                              </p:par>
                            </p:childTnLst>
                          </p:cTn>
                        </p:par>
                      </p:childTnLst>
                    </p:cTn>
                  </p:par>
                </p:childTnLst>
              </p:cTn>
              <p:nextCondLst>
                <p:cond evt="onNext" delay="0">
                  <p:tgtEl>
                    <p:sldTgt/>
                  </p:tgtEl>
                </p:cond>
              </p:nextCondLst>
            </p:seq>
            <p:seq concurrent="1" nextAc="seek">
              <p:cTn id="146" restart="whenNotActive" fill="hold" evtFilter="cancelBubble" nodeType="interactiveSeq">
                <p:stCondLst>
                  <p:cond evt="onClick" delay="0">
                    <p:tgtEl>
                      <p:spTgt spid="70"/>
                    </p:tgtEl>
                  </p:cond>
                </p:stCondLst>
                <p:endSync evt="end" delay="0">
                  <p:rtn val="all"/>
                </p:endSync>
                <p:childTnLst>
                  <p:par>
                    <p:cTn id="147" fill="hold">
                      <p:stCondLst>
                        <p:cond delay="0"/>
                      </p:stCondLst>
                      <p:childTnLst>
                        <p:par>
                          <p:cTn id="148" fill="hold">
                            <p:stCondLst>
                              <p:cond delay="0"/>
                            </p:stCondLst>
                            <p:childTnLst>
                              <p:par>
                                <p:cTn id="149" presetID="10" presetClass="entr" presetSubtype="0" fill="hold" grpId="0" nodeType="clickEffect">
                                  <p:stCondLst>
                                    <p:cond delay="0"/>
                                  </p:stCondLst>
                                  <p:childTnLst>
                                    <p:set>
                                      <p:cBhvr>
                                        <p:cTn id="150" dur="1" fill="hold">
                                          <p:stCondLst>
                                            <p:cond delay="0"/>
                                          </p:stCondLst>
                                        </p:cTn>
                                        <p:tgtEl>
                                          <p:spTgt spid="71"/>
                                        </p:tgtEl>
                                        <p:attrNameLst>
                                          <p:attrName>style.visibility</p:attrName>
                                        </p:attrNameLst>
                                      </p:cBhvr>
                                      <p:to>
                                        <p:strVal val="visible"/>
                                      </p:to>
                                    </p:set>
                                    <p:animEffect transition="in" filter="fade">
                                      <p:cBhvr>
                                        <p:cTn id="151" dur="300"/>
                                        <p:tgtEl>
                                          <p:spTgt spid="71"/>
                                        </p:tgtEl>
                                      </p:cBhvr>
                                    </p:animEffect>
                                  </p:childTnLst>
                                </p:cTn>
                              </p:par>
                            </p:childTnLst>
                          </p:cTn>
                        </p:par>
                      </p:childTnLst>
                    </p:cTn>
                  </p:par>
                </p:childTnLst>
              </p:cTn>
              <p:nextCondLst>
                <p:cond evt="onNext" delay="0">
                  <p:tgtEl>
                    <p:sldTgt/>
                  </p:tgtEl>
                </p:cond>
              </p:nextCondLst>
            </p:seq>
            <p:seq concurrent="1" nextAc="seek">
              <p:cTn id="152" restart="whenNotActive" fill="hold" evtFilter="cancelBubble" nodeType="interactiveSeq">
                <p:stCondLst>
                  <p:cond evt="onClick" delay="0">
                    <p:tgtEl>
                      <p:spTgt spid="75"/>
                    </p:tgtEl>
                  </p:cond>
                </p:stCondLst>
                <p:endSync evt="end" delay="0">
                  <p:rtn val="all"/>
                </p:endSync>
                <p:childTnLst>
                  <p:par>
                    <p:cTn id="153" fill="hold">
                      <p:stCondLst>
                        <p:cond delay="0"/>
                      </p:stCondLst>
                      <p:childTnLst>
                        <p:par>
                          <p:cTn id="154" fill="hold">
                            <p:stCondLst>
                              <p:cond delay="0"/>
                            </p:stCondLst>
                            <p:childTnLst>
                              <p:par>
                                <p:cTn id="155" presetID="10" presetClass="entr" presetSubtype="0" fill="hold" grpId="0" nodeType="clickEffect">
                                  <p:stCondLst>
                                    <p:cond delay="0"/>
                                  </p:stCondLst>
                                  <p:childTnLst>
                                    <p:set>
                                      <p:cBhvr>
                                        <p:cTn id="156" dur="1" fill="hold">
                                          <p:stCondLst>
                                            <p:cond delay="0"/>
                                          </p:stCondLst>
                                        </p:cTn>
                                        <p:tgtEl>
                                          <p:spTgt spid="76"/>
                                        </p:tgtEl>
                                        <p:attrNameLst>
                                          <p:attrName>style.visibility</p:attrName>
                                        </p:attrNameLst>
                                      </p:cBhvr>
                                      <p:to>
                                        <p:strVal val="visible"/>
                                      </p:to>
                                    </p:set>
                                    <p:animEffect transition="in" filter="fade">
                                      <p:cBhvr>
                                        <p:cTn id="157" dur="300"/>
                                        <p:tgtEl>
                                          <p:spTgt spid="76"/>
                                        </p:tgtEl>
                                      </p:cBhvr>
                                    </p:animEffect>
                                  </p:childTnLst>
                                </p:cTn>
                              </p:par>
                            </p:childTnLst>
                          </p:cTn>
                        </p:par>
                      </p:childTnLst>
                    </p:cTn>
                  </p:par>
                </p:childTnLst>
              </p:cTn>
              <p:nextCondLst>
                <p:cond evt="onNext" delay="0">
                  <p:tgtEl>
                    <p:sldTgt/>
                  </p:tgtEl>
                </p:cond>
              </p:nextCondLst>
            </p:seq>
            <p:seq concurrent="1" nextAc="seek">
              <p:cTn id="158" restart="whenNotActive" fill="hold" evtFilter="cancelBubble" nodeType="interactiveSeq">
                <p:stCondLst>
                  <p:cond evt="onClick" delay="0">
                    <p:tgtEl>
                      <p:spTgt spid="77"/>
                    </p:tgtEl>
                  </p:cond>
                </p:stCondLst>
                <p:endSync evt="end" delay="0">
                  <p:rtn val="all"/>
                </p:endSync>
                <p:childTnLst>
                  <p:par>
                    <p:cTn id="159" fill="hold">
                      <p:stCondLst>
                        <p:cond delay="0"/>
                      </p:stCondLst>
                      <p:childTnLst>
                        <p:par>
                          <p:cTn id="160" fill="hold">
                            <p:stCondLst>
                              <p:cond delay="0"/>
                            </p:stCondLst>
                            <p:childTnLst>
                              <p:par>
                                <p:cTn id="161" presetID="10" presetClass="entr" presetSubtype="0" fill="hold" grpId="0" nodeType="clickEffect">
                                  <p:stCondLst>
                                    <p:cond delay="0"/>
                                  </p:stCondLst>
                                  <p:childTnLst>
                                    <p:set>
                                      <p:cBhvr>
                                        <p:cTn id="162" dur="1" fill="hold">
                                          <p:stCondLst>
                                            <p:cond delay="0"/>
                                          </p:stCondLst>
                                        </p:cTn>
                                        <p:tgtEl>
                                          <p:spTgt spid="78"/>
                                        </p:tgtEl>
                                        <p:attrNameLst>
                                          <p:attrName>style.visibility</p:attrName>
                                        </p:attrNameLst>
                                      </p:cBhvr>
                                      <p:to>
                                        <p:strVal val="visible"/>
                                      </p:to>
                                    </p:set>
                                    <p:animEffect transition="in" filter="fade">
                                      <p:cBhvr>
                                        <p:cTn id="163" dur="300"/>
                                        <p:tgtEl>
                                          <p:spTgt spid="78"/>
                                        </p:tgtEl>
                                      </p:cBhvr>
                                    </p:animEffect>
                                  </p:childTnLst>
                                </p:cTn>
                              </p:par>
                            </p:childTnLst>
                          </p:cTn>
                        </p:par>
                      </p:childTnLst>
                    </p:cTn>
                  </p:par>
                </p:childTnLst>
              </p:cTn>
              <p:nextCondLst>
                <p:cond evt="onNext" delay="0">
                  <p:tgtEl>
                    <p:sldTgt/>
                  </p:tgtEl>
                </p:cond>
              </p:nextCondLst>
            </p:seq>
            <p:seq concurrent="1" nextAc="seek">
              <p:cTn id="164" restart="whenNotActive" fill="hold" evtFilter="cancelBubble" nodeType="interactiveSeq">
                <p:stCondLst>
                  <p:cond evt="onClick" delay="0">
                    <p:tgtEl>
                      <p:spTgt spid="79"/>
                    </p:tgtEl>
                  </p:cond>
                </p:stCondLst>
                <p:endSync evt="end" delay="0">
                  <p:rtn val="all"/>
                </p:endSync>
                <p:childTnLst>
                  <p:par>
                    <p:cTn id="165" fill="hold">
                      <p:stCondLst>
                        <p:cond delay="0"/>
                      </p:stCondLst>
                      <p:childTnLst>
                        <p:par>
                          <p:cTn id="166" fill="hold">
                            <p:stCondLst>
                              <p:cond delay="0"/>
                            </p:stCondLst>
                            <p:childTnLst>
                              <p:par>
                                <p:cTn id="167" presetID="10" presetClass="entr" presetSubtype="0" fill="hold" grpId="0" nodeType="clickEffect">
                                  <p:stCondLst>
                                    <p:cond delay="0"/>
                                  </p:stCondLst>
                                  <p:childTnLst>
                                    <p:set>
                                      <p:cBhvr>
                                        <p:cTn id="168" dur="1" fill="hold">
                                          <p:stCondLst>
                                            <p:cond delay="0"/>
                                          </p:stCondLst>
                                        </p:cTn>
                                        <p:tgtEl>
                                          <p:spTgt spid="80"/>
                                        </p:tgtEl>
                                        <p:attrNameLst>
                                          <p:attrName>style.visibility</p:attrName>
                                        </p:attrNameLst>
                                      </p:cBhvr>
                                      <p:to>
                                        <p:strVal val="visible"/>
                                      </p:to>
                                    </p:set>
                                    <p:animEffect transition="in" filter="fade">
                                      <p:cBhvr>
                                        <p:cTn id="169" dur="300"/>
                                        <p:tgtEl>
                                          <p:spTgt spid="80"/>
                                        </p:tgtEl>
                                      </p:cBhvr>
                                    </p:animEffect>
                                  </p:childTnLst>
                                </p:cTn>
                              </p:par>
                            </p:childTnLst>
                          </p:cTn>
                        </p:par>
                      </p:childTnLst>
                    </p:cTn>
                  </p:par>
                </p:childTnLst>
              </p:cTn>
              <p:nextCondLst>
                <p:cond evt="onNext" delay="0">
                  <p:tgtEl>
                    <p:sldTgt/>
                  </p:tgtEl>
                </p:cond>
              </p:nextCondLst>
            </p:seq>
            <p:seq concurrent="1" nextAc="seek">
              <p:cTn id="170" restart="whenNotActive" fill="hold" evtFilter="cancelBubble" nodeType="interactiveSeq">
                <p:stCondLst>
                  <p:cond evt="onClick" delay="0">
                    <p:tgtEl>
                      <p:spTgt spid="81"/>
                    </p:tgtEl>
                  </p:cond>
                </p:stCondLst>
                <p:endSync evt="end" delay="0">
                  <p:rtn val="all"/>
                </p:endSync>
                <p:childTnLst>
                  <p:par>
                    <p:cTn id="171" fill="hold">
                      <p:stCondLst>
                        <p:cond delay="0"/>
                      </p:stCondLst>
                      <p:childTnLst>
                        <p:par>
                          <p:cTn id="172" fill="hold">
                            <p:stCondLst>
                              <p:cond delay="0"/>
                            </p:stCondLst>
                            <p:childTnLst>
                              <p:par>
                                <p:cTn id="173" presetID="10" presetClass="entr" presetSubtype="0" fill="hold" grpId="0" nodeType="clickEffect">
                                  <p:stCondLst>
                                    <p:cond delay="0"/>
                                  </p:stCondLst>
                                  <p:childTnLst>
                                    <p:set>
                                      <p:cBhvr>
                                        <p:cTn id="174" dur="1" fill="hold">
                                          <p:stCondLst>
                                            <p:cond delay="0"/>
                                          </p:stCondLst>
                                        </p:cTn>
                                        <p:tgtEl>
                                          <p:spTgt spid="82"/>
                                        </p:tgtEl>
                                        <p:attrNameLst>
                                          <p:attrName>style.visibility</p:attrName>
                                        </p:attrNameLst>
                                      </p:cBhvr>
                                      <p:to>
                                        <p:strVal val="visible"/>
                                      </p:to>
                                    </p:set>
                                    <p:animEffect transition="in" filter="fade">
                                      <p:cBhvr>
                                        <p:cTn id="175" dur="300"/>
                                        <p:tgtEl>
                                          <p:spTgt spid="82"/>
                                        </p:tgtEl>
                                      </p:cBhvr>
                                    </p:animEffect>
                                  </p:childTnLst>
                                </p:cTn>
                              </p:par>
                            </p:childTnLst>
                          </p:cTn>
                        </p:par>
                      </p:childTnLst>
                    </p:cTn>
                  </p:par>
                </p:childTnLst>
              </p:cTn>
              <p:nextCondLst>
                <p:cond evt="onNext" delay="0">
                  <p:tgtEl>
                    <p:sldTgt/>
                  </p:tgtEl>
                </p:cond>
              </p:nextCondLst>
            </p:seq>
            <p:seq concurrent="1" nextAc="seek">
              <p:cTn id="176" restart="whenNotActive" fill="hold" evtFilter="cancelBubble" nodeType="interactiveSeq">
                <p:stCondLst>
                  <p:cond evt="onClick" delay="0">
                    <p:tgtEl>
                      <p:spTgt spid="83"/>
                    </p:tgtEl>
                  </p:cond>
                </p:stCondLst>
                <p:endSync evt="end" delay="0">
                  <p:rtn val="all"/>
                </p:endSync>
                <p:childTnLst>
                  <p:par>
                    <p:cTn id="177" fill="hold">
                      <p:stCondLst>
                        <p:cond delay="0"/>
                      </p:stCondLst>
                      <p:childTnLst>
                        <p:par>
                          <p:cTn id="178" fill="hold">
                            <p:stCondLst>
                              <p:cond delay="0"/>
                            </p:stCondLst>
                            <p:childTnLst>
                              <p:par>
                                <p:cTn id="179" presetID="10" presetClass="entr" presetSubtype="0" fill="hold" grpId="0" nodeType="clickEffect">
                                  <p:stCondLst>
                                    <p:cond delay="0"/>
                                  </p:stCondLst>
                                  <p:childTnLst>
                                    <p:set>
                                      <p:cBhvr>
                                        <p:cTn id="180" dur="1" fill="hold">
                                          <p:stCondLst>
                                            <p:cond delay="0"/>
                                          </p:stCondLst>
                                        </p:cTn>
                                        <p:tgtEl>
                                          <p:spTgt spid="84"/>
                                        </p:tgtEl>
                                        <p:attrNameLst>
                                          <p:attrName>style.visibility</p:attrName>
                                        </p:attrNameLst>
                                      </p:cBhvr>
                                      <p:to>
                                        <p:strVal val="visible"/>
                                      </p:to>
                                    </p:set>
                                    <p:animEffect transition="in" filter="fade">
                                      <p:cBhvr>
                                        <p:cTn id="181" dur="300"/>
                                        <p:tgtEl>
                                          <p:spTgt spid="84"/>
                                        </p:tgtEl>
                                      </p:cBhvr>
                                    </p:animEffect>
                                  </p:childTnLst>
                                </p:cTn>
                              </p:par>
                            </p:childTnLst>
                          </p:cTn>
                        </p:par>
                      </p:childTnLst>
                    </p:cTn>
                  </p:par>
                </p:childTnLst>
              </p:cTn>
              <p:nextCondLst>
                <p:cond evt="onNext" delay="0">
                  <p:tgtEl>
                    <p:sldTgt/>
                  </p:tgtEl>
                </p:cond>
              </p:nextCondLst>
            </p:seq>
          </p:childTnLst>
        </p:cTn>
      </p:par>
    </p:tnLst>
    <p:bldLst>
      <p:bldP spid="11" grpId="0" animBg="1"/>
      <p:bldP spid="13" grpId="0" animBg="1"/>
      <p:bldP spid="15" grpId="0" animBg="1"/>
      <p:bldP spid="17" grpId="0" animBg="1"/>
      <p:bldP spid="19" grpId="0" animBg="1"/>
      <p:bldP spid="24" grpId="0" animBg="1"/>
      <p:bldP spid="26" grpId="0" animBg="1"/>
      <p:bldP spid="28" grpId="0" animBg="1"/>
      <p:bldP spid="30" grpId="0" animBg="1"/>
      <p:bldP spid="32" grpId="0" animBg="1"/>
      <p:bldP spid="37" grpId="0" animBg="1"/>
      <p:bldP spid="39" grpId="0" animBg="1"/>
      <p:bldP spid="41" grpId="0" animBg="1"/>
      <p:bldP spid="43" grpId="0" animBg="1"/>
      <p:bldP spid="45" grpId="0" animBg="1"/>
      <p:bldP spid="50" grpId="0" animBg="1"/>
      <p:bldP spid="52" grpId="0" animBg="1"/>
      <p:bldP spid="54" grpId="0" animBg="1"/>
      <p:bldP spid="56" grpId="0" animBg="1"/>
      <p:bldP spid="58" grpId="0" animBg="1"/>
      <p:bldP spid="63" grpId="0" animBg="1"/>
      <p:bldP spid="65" grpId="0" animBg="1"/>
      <p:bldP spid="67" grpId="0" animBg="1"/>
      <p:bldP spid="69" grpId="0" animBg="1"/>
      <p:bldP spid="71" grpId="0" animBg="1"/>
      <p:bldP spid="76" grpId="0" animBg="1"/>
      <p:bldP spid="78" grpId="0" animBg="1"/>
      <p:bldP spid="80" grpId="0" animBg="1"/>
      <p:bldP spid="82" grpId="0" animBg="1"/>
      <p:bldP spid="8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الممتد</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بعد الحصة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3566160" y="2103120"/>
            <a:ext cx="51206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40280"/>
            <a:ext cx="502920" cy="502920"/>
          </a:xfrm>
          <a:prstGeom prst="ellipse">
            <a:avLst/>
          </a:prstGeom>
          <a:solidFill>
            <a:srgbClr val="89D7AD"/>
          </a:solidFill>
          <a:ln w="12700">
            <a:solidFill>
              <a:srgbClr val="89D7AD"/>
            </a:solidFill>
            <a:prstDash val="solid"/>
          </a:ln>
        </p:spPr>
      </p:sp>
      <p:pic>
        <p:nvPicPr>
          <p:cNvPr id="9" name="Image 9" descr="NotebookPen"/>
          <p:cNvPicPr>
            <a:picLocks noChangeAspect="1"/>
          </p:cNvPicPr>
          <p:nvPr/>
        </p:nvPicPr>
        <p:blipFill>
          <a:blip r:embed="rId1"/>
          <a:stretch>
            <a:fillRect/>
          </a:stretch>
        </p:blipFill>
        <p:spPr>
          <a:xfrm>
            <a:off x="8109882" y="2349162"/>
            <a:ext cx="285156" cy="285156"/>
          </a:xfrm>
          <a:prstGeom prst="rect">
            <a:avLst/>
          </a:prstGeom>
        </p:spPr>
      </p:pic>
      <p:sp>
        <p:nvSpPr>
          <p:cNvPr id="10" name="Text 10"/>
          <p:cNvSpPr txBox="1"/>
          <p:nvPr/>
        </p:nvSpPr>
        <p:spPr>
          <a:xfrm>
            <a:off x="3794760" y="2240280"/>
            <a:ext cx="402336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الواجب</a:t>
            </a:r>
            <a:endParaRPr lang="ar-SA" sz="1800" dirty="0"/>
          </a:p>
        </p:txBody>
      </p:sp>
      <p:sp>
        <p:nvSpPr>
          <p:cNvPr id="11" name="Text 11"/>
          <p:cNvSpPr txBox="1"/>
          <p:nvPr/>
        </p:nvSpPr>
        <p:spPr>
          <a:xfrm>
            <a:off x="3794760" y="288036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المهمة:  </a:t>
            </a:r>
            <a:r>
              <a:rPr lang="ar-SA" altLang="en-US" sz="1300" dirty="0">
                <a:solidFill>
                  <a:srgbClr val="1C3328"/>
                </a:solidFill>
                <a:latin typeface="IBM Plex Sans Arabic"/>
                <a:cs typeface="IBM Plex Sans Arabic"/>
              </a:rPr>
              <a:t>نشاط قصير مرتبط بأهداف اليوم.</a:t>
            </a:r>
            <a:endParaRPr lang="ar-SA" sz="1300" dirty="0"/>
          </a:p>
        </p:txBody>
      </p:sp>
      <p:sp>
        <p:nvSpPr>
          <p:cNvPr id="12" name="Text 12"/>
          <p:cNvSpPr txBox="1"/>
          <p:nvPr/>
        </p:nvSpPr>
        <p:spPr>
          <a:xfrm>
            <a:off x="3794760" y="324612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المنصة:  </a:t>
            </a:r>
            <a:r>
              <a:rPr lang="ar-SA" altLang="en-US" sz="1300" dirty="0">
                <a:solidFill>
                  <a:srgbClr val="1C3328"/>
                </a:solidFill>
                <a:latin typeface="IBM Plex Sans Arabic"/>
                <a:cs typeface="IBM Plex Sans Arabic"/>
              </a:rPr>
              <a:t>منصة مدرستي أو البوابة.</a:t>
            </a:r>
            <a:endParaRPr lang="ar-SA" sz="1300" dirty="0"/>
          </a:p>
        </p:txBody>
      </p:sp>
      <p:sp>
        <p:nvSpPr>
          <p:cNvPr id="13" name="Text 13"/>
          <p:cNvSpPr txBox="1"/>
          <p:nvPr/>
        </p:nvSpPr>
        <p:spPr>
          <a:xfrm>
            <a:off x="3794760" y="361188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التسليم:  </a:t>
            </a:r>
            <a:r>
              <a:rPr lang="ar-SA" altLang="en-US" sz="1300" dirty="0">
                <a:solidFill>
                  <a:srgbClr val="1C3328"/>
                </a:solidFill>
                <a:latin typeface="IBM Plex Sans Arabic"/>
                <a:cs typeface="IBM Plex Sans Arabic"/>
              </a:rPr>
              <a:t>قبل الحصة القادمة.</a:t>
            </a:r>
            <a:endParaRPr lang="ar-SA" sz="1300" dirty="0"/>
          </a:p>
        </p:txBody>
      </p:sp>
      <p:sp>
        <p:nvSpPr>
          <p:cNvPr id="14" name="Text 14"/>
          <p:cNvSpPr txBox="1"/>
          <p:nvPr/>
        </p:nvSpPr>
        <p:spPr>
          <a:xfrm>
            <a:off x="3794760" y="397764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التقييم:  </a:t>
            </a:r>
            <a:r>
              <a:rPr lang="ar-SA" altLang="en-US" sz="1300" dirty="0">
                <a:solidFill>
                  <a:srgbClr val="1C3328"/>
                </a:solidFill>
                <a:latin typeface="IBM Plex Sans Arabic"/>
                <a:cs typeface="IBM Plex Sans Arabic"/>
              </a:rPr>
              <a:t>وفق معايير النجاح المعروضة.</a:t>
            </a:r>
            <a:endParaRPr lang="ar-SA" sz="1300" dirty="0"/>
          </a:p>
        </p:txBody>
      </p:sp>
      <p:sp>
        <p:nvSpPr>
          <p:cNvPr id="15" name="Card 15"/>
          <p:cNvSpPr/>
          <p:nvPr/>
        </p:nvSpPr>
        <p:spPr>
          <a:xfrm>
            <a:off x="457200" y="2103120"/>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6" name="Circle 16"/>
          <p:cNvSpPr/>
          <p:nvPr/>
        </p:nvSpPr>
        <p:spPr>
          <a:xfrm>
            <a:off x="2697480" y="2258568"/>
            <a:ext cx="457200" cy="457200"/>
          </a:xfrm>
          <a:prstGeom prst="ellipse">
            <a:avLst/>
          </a:prstGeom>
          <a:solidFill>
            <a:srgbClr val="89D7AD"/>
          </a:solidFill>
          <a:ln w="12700">
            <a:solidFill>
              <a:srgbClr val="89D7AD"/>
            </a:solidFill>
            <a:prstDash val="solid"/>
          </a:ln>
        </p:spPr>
      </p:sp>
      <p:pic>
        <p:nvPicPr>
          <p:cNvPr id="17" name="Image 17" descr="Sparkles"/>
          <p:cNvPicPr>
            <a:picLocks noChangeAspect="1"/>
          </p:cNvPicPr>
          <p:nvPr/>
        </p:nvPicPr>
        <p:blipFill>
          <a:blip r:embed="rId2"/>
          <a:stretch>
            <a:fillRect/>
          </a:stretch>
        </p:blipFill>
        <p:spPr>
          <a:xfrm>
            <a:off x="2796464" y="2357552"/>
            <a:ext cx="259232" cy="259232"/>
          </a:xfrm>
          <a:prstGeom prst="rect">
            <a:avLst/>
          </a:prstGeom>
        </p:spPr>
      </p:pic>
      <p:sp>
        <p:nvSpPr>
          <p:cNvPr id="18" name="Text 18"/>
          <p:cNvSpPr txBox="1"/>
          <p:nvPr/>
        </p:nvSpPr>
        <p:spPr>
          <a:xfrm>
            <a:off x="640080" y="2258568"/>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إثراء اختياري</a:t>
            </a:r>
            <a:endParaRPr lang="ar-SA" sz="1500" dirty="0"/>
          </a:p>
        </p:txBody>
      </p:sp>
      <p:sp>
        <p:nvSpPr>
          <p:cNvPr id="19" name="Text 19"/>
          <p:cNvSpPr txBox="1"/>
          <p:nvPr/>
        </p:nvSpPr>
        <p:spPr>
          <a:xfrm>
            <a:off x="640080" y="2761488"/>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مصدر للتعلم الذاتي أو تحدٍّ للتوسع.</a:t>
            </a:r>
            <a:endParaRPr lang="ar-SA" sz="1200" dirty="0"/>
          </a:p>
        </p:txBody>
      </p:sp>
      <p:sp>
        <p:nvSpPr>
          <p:cNvPr id="20" name="Card 20"/>
          <p:cNvSpPr/>
          <p:nvPr/>
        </p:nvSpPr>
        <p:spPr>
          <a:xfrm>
            <a:off x="457200" y="3319272"/>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2697480" y="3474720"/>
            <a:ext cx="457200" cy="457200"/>
          </a:xfrm>
          <a:prstGeom prst="ellipse">
            <a:avLst/>
          </a:prstGeom>
          <a:solidFill>
            <a:srgbClr val="89D7AD"/>
          </a:solidFill>
          <a:ln w="12700">
            <a:solidFill>
              <a:srgbClr val="89D7AD"/>
            </a:solidFill>
            <a:prstDash val="solid"/>
          </a:ln>
        </p:spPr>
      </p:sp>
      <p:pic>
        <p:nvPicPr>
          <p:cNvPr id="22" name="Image 22" descr="BookOpen"/>
          <p:cNvPicPr>
            <a:picLocks noChangeAspect="1"/>
          </p:cNvPicPr>
          <p:nvPr/>
        </p:nvPicPr>
        <p:blipFill>
          <a:blip r:embed="rId3"/>
          <a:stretch>
            <a:fillRect/>
          </a:stretch>
        </p:blipFill>
        <p:spPr>
          <a:xfrm>
            <a:off x="2796464" y="3573704"/>
            <a:ext cx="259232" cy="259232"/>
          </a:xfrm>
          <a:prstGeom prst="rect">
            <a:avLst/>
          </a:prstGeom>
        </p:spPr>
      </p:pic>
      <p:sp>
        <p:nvSpPr>
          <p:cNvPr id="23" name="Text 23"/>
          <p:cNvSpPr txBox="1"/>
          <p:nvPr/>
        </p:nvSpPr>
        <p:spPr>
          <a:xfrm>
            <a:off x="640080" y="3474720"/>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الدرس القادم</a:t>
            </a:r>
            <a:endParaRPr lang="ar-SA" sz="1500" dirty="0"/>
          </a:p>
        </p:txBody>
      </p:sp>
      <p:sp>
        <p:nvSpPr>
          <p:cNvPr id="24" name="Text 24"/>
          <p:cNvSpPr txBox="1"/>
          <p:nvPr/>
        </p:nvSpPr>
        <p:spPr>
          <a:xfrm>
            <a:off x="640080" y="3977640"/>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عنوان الدرس وما نحضّره له.</a:t>
            </a:r>
            <a:endParaRPr lang="ar-SA" sz="12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4114800" y="1005840"/>
            <a:ext cx="914400" cy="914400"/>
          </a:xfrm>
          <a:prstGeom prst="rect">
            <a:avLst/>
          </a:prstGeom>
        </p:spPr>
      </p:pic>
      <p:sp>
        <p:nvSpPr>
          <p:cNvPr id="3" name="Text 3"/>
          <p:cNvSpPr txBox="1"/>
          <p:nvPr/>
        </p:nvSpPr>
        <p:spPr>
          <a:xfrm>
            <a:off x="457200" y="2103120"/>
            <a:ext cx="8229600" cy="731520"/>
          </a:xfrm>
          <a:prstGeom prst="rect">
            <a:avLst/>
          </a:prstGeom>
          <a:noFill/>
        </p:spPr>
        <p:txBody>
          <a:bodyPr wrap="square" lIns="0" tIns="0" rIns="0" bIns="0" rtlCol="1" anchor="t"/>
          <a:lstStyle/>
          <a:p>
            <a:pPr rtl="1" algn="ctr" marL="0" indent="0">
              <a:buNone/>
            </a:pPr>
            <a:r>
              <a:rPr lang="ar-SA" altLang="en-US" sz="4000" b="1" dirty="0">
                <a:solidFill>
                  <a:srgbClr val="FFFFFF"/>
                </a:solidFill>
                <a:latin typeface="IBM Plex Sans Arabic"/>
                <a:cs typeface="IBM Plex Sans Arabic"/>
              </a:rPr>
              <a:t>أحسنتم!</a:t>
            </a:r>
            <a:endParaRPr lang="ar-SA" sz="4000" dirty="0"/>
          </a:p>
        </p:txBody>
      </p:sp>
      <p:sp>
        <p:nvSpPr>
          <p:cNvPr id="4" name="Text 4"/>
          <p:cNvSpPr txBox="1"/>
          <p:nvPr/>
        </p:nvSpPr>
        <p:spPr>
          <a:xfrm>
            <a:off x="457200" y="2880360"/>
            <a:ext cx="8229600" cy="411480"/>
          </a:xfrm>
          <a:prstGeom prst="rect">
            <a:avLst/>
          </a:prstGeom>
          <a:noFill/>
        </p:spPr>
        <p:txBody>
          <a:bodyPr wrap="square" lIns="0" tIns="0" rIns="0" bIns="0" rtlCol="1" anchor="ctr"/>
          <a:lstStyle/>
          <a:p>
            <a:pPr rtl="1" algn="ctr" marL="0" indent="0">
              <a:buNone/>
            </a:pPr>
            <a:r>
              <a:rPr lang="ar-SA" altLang="en-US" sz="2000" b="1" dirty="0">
                <a:solidFill>
                  <a:srgbClr val="89D7AD"/>
                </a:solidFill>
                <a:latin typeface="IBM Plex Sans Arabic"/>
                <a:cs typeface="IBM Plex Sans Arabic"/>
              </a:rPr>
              <a:t>شكرًا لتفاعلكم اليوم</a:t>
            </a:r>
            <a:endParaRPr lang="ar-SA" sz="2000" dirty="0"/>
          </a:p>
        </p:txBody>
      </p:sp>
      <p:sp>
        <p:nvSpPr>
          <p:cNvPr id="5" name="Text 5"/>
          <p:cNvSpPr txBox="1"/>
          <p:nvPr/>
        </p:nvSpPr>
        <p:spPr>
          <a:xfrm>
            <a:off x="457200" y="3611880"/>
            <a:ext cx="8229600" cy="274320"/>
          </a:xfrm>
          <a:prstGeom prst="rect">
            <a:avLst/>
          </a:prstGeom>
          <a:noFill/>
        </p:spPr>
        <p:txBody>
          <a:bodyPr wrap="square" lIns="0" tIns="0" rIns="0" bIns="0" rtlCol="1" anchor="t"/>
          <a:lstStyle/>
          <a:p>
            <a:pPr rtl="1" algn="ctr" marL="0" indent="0">
              <a:buNone/>
            </a:pPr>
            <a:r>
              <a:rPr lang="ar-SA" altLang="en-US" sz="1200" dirty="0">
                <a:solidFill>
                  <a:srgbClr val="A9BCB1"/>
                </a:solidFill>
                <a:latin typeface="IBM Plex Sans Arabic"/>
                <a:cs typeface="IBM Plex Sans Arabic"/>
              </a:rPr>
              <a:t>معلم المادة</a:t>
            </a:r>
            <a:endParaRPr lang="ar-SA" sz="1200" dirty="0"/>
          </a:p>
        </p:txBody>
      </p:sp>
      <p:sp>
        <p:nvSpPr>
          <p:cNvPr id="6" name="Text 6"/>
          <p:cNvSpPr txBox="1"/>
          <p:nvPr/>
        </p:nvSpPr>
        <p:spPr>
          <a:xfrm>
            <a:off x="457200" y="3886200"/>
            <a:ext cx="8229600" cy="365760"/>
          </a:xfrm>
          <a:prstGeom prst="rect">
            <a:avLst/>
          </a:prstGeom>
          <a:noFill/>
        </p:spPr>
        <p:txBody>
          <a:bodyPr wrap="square" lIns="0" tIns="0" rIns="0" bIns="0" rtlCol="1" anchor="t"/>
          <a:lstStyle/>
          <a:p>
            <a:pPr rtl="1" algn="ctr" marL="0" indent="0">
              <a:buNone/>
            </a:pPr>
            <a:r>
              <a:rPr lang="ar-SA" altLang="en-US" sz="1600" b="1" dirty="0">
                <a:solidFill>
                  <a:srgbClr val="FFFFFF"/>
                </a:solidFill>
                <a:latin typeface="IBM Plex Sans Arabic"/>
                <a:cs typeface="IBM Plex Sans Arabic"/>
              </a:rPr>
              <a:t>اسم المعلم</a:t>
            </a:r>
            <a:endParaRPr lang="ar-SA" sz="16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2"/>
          <p:cNvSpPr txBox="1"/>
          <p:nvPr/>
        </p:nvSpPr>
        <p:spPr>
          <a:xfrm>
            <a:off x="4754880" y="1097280"/>
            <a:ext cx="3931920" cy="1463040"/>
          </a:xfrm>
          <a:prstGeom prst="rect">
            <a:avLst/>
          </a:prstGeom>
          <a:noFill/>
        </p:spPr>
        <p:txBody>
          <a:bodyPr wrap="square" lIns="0" tIns="0" rIns="0" bIns="0" rtlCol="1" anchor="ctr"/>
          <a:lstStyle/>
          <a:p>
            <a:pPr rtl="1" algn="r" marL="0" indent="0">
              <a:buNone/>
            </a:pPr>
            <a:r>
              <a:rPr lang="ar-SA" altLang="en-US" sz="11000" b="1" dirty="0">
                <a:solidFill>
                  <a:srgbClr val="89D7AD"/>
                </a:solidFill>
                <a:latin typeface="IBM Plex Sans Arabic"/>
                <a:cs typeface="IBM Plex Sans Arabic"/>
              </a:rPr>
              <a:t>50</a:t>
            </a:r>
            <a:endParaRPr lang="ar-SA" sz="11000" dirty="0"/>
          </a:p>
        </p:txBody>
      </p:sp>
      <p:sp>
        <p:nvSpPr>
          <p:cNvPr id="3" name="Text 3"/>
          <p:cNvSpPr txBox="1"/>
          <p:nvPr/>
        </p:nvSpPr>
        <p:spPr>
          <a:xfrm>
            <a:off x="457200" y="2697480"/>
            <a:ext cx="8229600" cy="365760"/>
          </a:xfrm>
          <a:prstGeom prst="rect">
            <a:avLst/>
          </a:prstGeom>
          <a:noFill/>
        </p:spPr>
        <p:txBody>
          <a:bodyPr wrap="square" lIns="0" tIns="0" rIns="0" bIns="0" rtlCol="1" anchor="t"/>
          <a:lstStyle/>
          <a:p>
            <a:pPr rtl="1" algn="r" marL="0" indent="0">
              <a:buNone/>
            </a:pPr>
            <a:r>
              <a:rPr lang="ar-SA" altLang="en-US" sz="1600" b="1" dirty="0">
                <a:solidFill>
                  <a:srgbClr val="D9B45A"/>
                </a:solidFill>
                <a:latin typeface="IBM Plex Sans Arabic"/>
                <a:cs typeface="IBM Plex Sans Arabic"/>
              </a:rPr>
              <a:t>ملحق للمعلم — شرائح مخفية لا تظهر أثناء العرض</a:t>
            </a:r>
            <a:endParaRPr lang="ar-SA" sz="1600" dirty="0"/>
          </a:p>
        </p:txBody>
      </p:sp>
      <p:sp>
        <p:nvSpPr>
          <p:cNvPr id="4" name="Text 4"/>
          <p:cNvSpPr txBox="1"/>
          <p:nvPr/>
        </p:nvSpPr>
        <p:spPr>
          <a:xfrm>
            <a:off x="457200" y="3063240"/>
            <a:ext cx="8229600" cy="640080"/>
          </a:xfrm>
          <a:prstGeom prst="rect">
            <a:avLst/>
          </a:prstGeom>
          <a:noFill/>
        </p:spPr>
        <p:txBody>
          <a:bodyPr wrap="square" lIns="0" tIns="0" rIns="0" bIns="0" rtlCol="1" anchor="t"/>
          <a:lstStyle/>
          <a:p>
            <a:pPr rtl="1" algn="r" marL="0" indent="0">
              <a:buNone/>
            </a:pPr>
            <a:r>
              <a:rPr lang="ar-SA" altLang="en-US" sz="3600" b="1" dirty="0">
                <a:solidFill>
                  <a:srgbClr val="FFFFFF"/>
                </a:solidFill>
                <a:latin typeface="IBM Plex Sans Arabic"/>
                <a:cs typeface="IBM Plex Sans Arabic"/>
              </a:rPr>
              <a:t>دليل الحصة النموذجية</a:t>
            </a:r>
            <a:endParaRPr lang="ar-SA" sz="3600" dirty="0"/>
          </a:p>
        </p:txBody>
      </p:sp>
      <p:sp>
        <p:nvSpPr>
          <p:cNvPr id="5" name="Text 5"/>
          <p:cNvSpPr txBox="1"/>
          <p:nvPr/>
        </p:nvSpPr>
        <p:spPr>
          <a:xfrm>
            <a:off x="457200" y="3749040"/>
            <a:ext cx="8229600" cy="365760"/>
          </a:xfrm>
          <a:prstGeom prst="rect">
            <a:avLst/>
          </a:prstGeom>
          <a:noFill/>
        </p:spPr>
        <p:txBody>
          <a:bodyPr wrap="square" lIns="0" tIns="0" rIns="0" bIns="0" rtlCol="1" anchor="t"/>
          <a:lstStyle/>
          <a:p>
            <a:pPr rtl="1" algn="r" marL="0" indent="0">
              <a:buNone/>
            </a:pPr>
            <a:r>
              <a:rPr lang="ar-SA" altLang="en-US" sz="1500" dirty="0">
                <a:solidFill>
                  <a:srgbClr val="A9BCB1"/>
                </a:solidFill>
                <a:latin typeface="IBM Plex Sans Arabic"/>
                <a:cs typeface="IBM Plex Sans Arabic"/>
              </a:rPr>
              <a:t>راجعه قبل الزيارة، ويمكنك حذفه بعد الاطلاع.</a:t>
            </a:r>
            <a:endParaRPr lang="ar-SA" sz="15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دليل التفاعل</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الذي يتحرك في العرض؟</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94560"/>
        </p:xfrm>
        <a:graphic>
          <a:graphicData uri="http://schemas.openxmlformats.org/drawingml/2006/table">
            <a:tbl>
              <a:tblPr rtl="1" firstRow="1" bandRow="1"/>
              <a:tblGrid>
                <a:gridCol w="2286000"/>
                <a:gridCol w="3931920"/>
                <a:gridCol w="2011680"/>
              </a:tblGrid>
              <a:tr h="274320">
                <a:tc>
                  <a:txBody>
                    <a:bodyPr/>
                    <a:lstStyle/>
                    <a:p>
                      <a:pPr rtl="1" algn="ctr"/>
                      <a:r>
                        <a:rPr lang="ar-SA" altLang="en-US" sz="1000" b="1" dirty="0">
                          <a:solidFill>
                            <a:srgbClr val="FFFFFF"/>
                          </a:solidFill>
                          <a:latin typeface="IBM Plex Sans Arabic"/>
                          <a:cs typeface="IBM Plex Sans Arabic"/>
                        </a:rPr>
                        <a:t>أين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كيف يعمل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العنصر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74320">
                <a:tc>
                  <a:txBody>
                    <a:bodyPr/>
                    <a:lstStyle/>
                    <a:p>
                      <a:pPr rtl="1" algn="r"/>
                      <a:r>
                        <a:rPr lang="ar-SA" altLang="en-US" sz="1000" b="1" dirty="0">
                          <a:solidFill>
                            <a:srgbClr val="3E6350"/>
                          </a:solidFill>
                          <a:latin typeface="IBM Plex Sans Arabic"/>
                          <a:cs typeface="IBM Plex Sans Arabic"/>
                        </a:rPr>
                        <a:t>كل شريحة مرحلة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انقر شارة الزمن: شريط يتناقص ثم «انتهى الوقت» وجرس</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المؤقت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خريطة الحصة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مرحلة في الخريطة، أو شارة المرحلة للعودة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التنقل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الشرح بالمثال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تظهر خطوة بخطوة بالنقر أو السهم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خطوات 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تحقّق من فهمك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الخيار: أخضر بنغمة صاعدة، أحمر بنغمة هابطة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كشف الإجابة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سؤال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نقرة: انتظار 5 ثوانٍ ثم تظهر الخطوات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وقت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بعد 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النجمة الفارغة فتمتلئ؛ وزرها في الاتفاقات والخلاصة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لوحة التميز</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زر في الخلاصة يذهب إليه، وزر «رجوع» يعيدك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جدول ماذا نعرف</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(1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423160"/>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تعزيز القيم الإسلامية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و«الخطأ فرصة للتعلم»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مناخ آمن للتعلم نفسيًا واجتماعيًا</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مصادر حسية، و«ادعمني»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وأنشطة متنوعة لذوي الإعاقة والموهوبين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خريطة الحصة، وشارة الزمن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إدارة الوقت بفاعلية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الأدوار، والإجابة الجماعية، والاختيار العشوائي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فرص متكافئة في الأنشطة والمناقشة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التهيئة، والمفاهيم، وأوراق العمل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مصادر تعلم متنوعة تدعم المنهج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الأهداف، والشرح بالمثال، والتعاوني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أنشطة وإستراتيجيات تستوفي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والمسارات الأربعة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تنوع الإستراتيجيات وفق القدرات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الاستجابة الرقمية، وQR، وبحث «تحدَّ»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تعلم رقمية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(2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في حياتي، ومهمة المجموعة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تطبيقات عملية ترتبط بالحياة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مهمة المجموعة، وبطاقة 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تنمية القراءة والكتابة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مهمة المجموعة (احسبوا أو نظّموا في جدول)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تنمية المهارات العددية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سؤال التفكير،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التفكير والبحث والابتكار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التعاوني، وتقويم الأقران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المهارات العاطفية والاجتماعية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لوحة التميز، والاحتفاء بالفائز</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أساليب تحفيز تعزز الدافعية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الحصة كلها: أدوار وتعاون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مشاركة فاعلة واستمتاع بالتعلم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والتحقق، والخروج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تقويم تشخيصي وبنائي وختامي يكشف الفروق</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(3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بطاقة الخروج، ومعايير النجاح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قياس تحقق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التجوال، و«نجمتان وأمنية»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تغذية راجعة متنوعة تحسّن الأداء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الطالب يُكمل: 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الطلاب يعتزون بالقيم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«أفخر اليوم بأنني»، و«أعجبني في عرضكم»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اتجاهات إيجابية نحو الذات والآخرين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«نحافظ على صحتنا» في الاتفاقات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الالتزام بالممارسات الصحية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الصفية، وإشارة الصمت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الالتزام بقواعد السلوك والانضباط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اختيار المسار، و«أكمل وحدك»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الاستقلالية والتعلم الذاتي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الطالب يُكمل: ثقافات العالم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الاعتزاز بالثقافة واحترام التنوع الثقافي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حسب المادة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اختر ما يناسب مادتك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29968"/>
          <a:ext cx="8229600" cy="2414016"/>
        </p:xfrm>
        <a:graphic>
          <a:graphicData uri="http://schemas.openxmlformats.org/drawingml/2006/table">
            <a:tbl>
              <a:tblPr rtl="1" firstRow="1" bandRow="1"/>
              <a:tblGrid>
                <a:gridCol w="1828800"/>
                <a:gridCol w="2651760"/>
                <a:gridCol w="2011680"/>
                <a:gridCol w="1737360"/>
              </a:tblGrid>
              <a:tr h="301752">
                <a:tc>
                  <a:txBody>
                    <a:bodyPr/>
                    <a:lstStyle/>
                    <a:p>
                      <a:pPr rtl="1" algn="ctr"/>
                      <a:r>
                        <a:rPr lang="ar-SA" altLang="en-US" sz="1100" b="1" dirty="0">
                          <a:solidFill>
                            <a:srgbClr val="FFFFFF"/>
                          </a:solidFill>
                          <a:latin typeface="IBM Plex Sans Arabic"/>
                          <a:cs typeface="IBM Plex Sans Arabic"/>
                        </a:rPr>
                        <a:t>تقويم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نشاط تعلّم نشط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تهيئة مقترحة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المادة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301752">
                <a:tc>
                  <a:txBody>
                    <a:bodyPr/>
                    <a:lstStyle/>
                    <a:p>
                      <a:pPr rtl="1" algn="r"/>
                      <a:r>
                        <a:rPr lang="ar-SA" altLang="en-US" sz="1100" dirty="0">
                          <a:solidFill>
                            <a:srgbClr val="1C3328"/>
                          </a:solidFill>
                          <a:latin typeface="IBM Plex Sans Arabic"/>
                          <a:cs typeface="IBM Plex Sans Arabic"/>
                        </a:rPr>
                        <a:t>لوح الإجابات الصغير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حل مشكلات بالأزواج، محطات 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لغز أو نمط عددي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الرياضيات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توقّع، لاحظ، فسّر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استقصاء موجّه، مختبر افتراضي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تجربة أو ظاهرة مثيرة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العلوم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تحليل جملة في بطاقة 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القراءة التبادلية، الكرسي الساخن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بيت شعر أو نص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اللغة العربية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بطاقة خروج قصيرة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‎Role play‎، فجوة المعلومات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صورة مع ‎Guess what?‎</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اللغة الإنجليزية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سؤال تطبيق قيمي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خرائط المفاهيم، دراسة حالة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آية أو موقف من السيرة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الدراسات الإسلامية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خط زمني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معرض التجوّل، المناظرة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خريطة أو خبر معاصر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الاجتماعيات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تحدٍّ عملي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البرمجة الثنائية، مشروع مصغّر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مشكلة رقمية من الواقع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الحاسب والتقنية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BM Plex Sans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مدرسة مكة الثانوية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الحصة النموذجية — مدرسة مكة الثانوية</dc:title>
  <dc:subject>PptxGenJS Presentation</dc:subject>
  <dc:creator>بوابة مكة الثانوية الرقمية</dc:creator>
  <cp:lastModifiedBy>بوابة مكة الثانوية الرقمية</cp:lastModifiedBy>
  <cp:revision>1</cp:revision>
  <dcterms:created xsi:type="dcterms:W3CDTF">2026-09-30T19:04:56Z</dcterms:created>
  <dcterms:modified xsi:type="dcterms:W3CDTF">2026-09-30T19:04:56Z</dcterms:modified>
</cp:coreProperties>
</file>