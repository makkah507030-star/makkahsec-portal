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حصة" id="{6A0C7E0B-1A63-4C55-9C8C-3B1A1D2B6E0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دليل المعلم (مخفي)" id="{6A0C7E0B-1A63-4C55-9C8C-3B1A1D2B6E02}">
          <p14:sldIdLst>
            <p14:sldId id="274"/>
            <p14:sldId id="275"/>
            <p14:sldId id="276"/>
            <p14:sldId id="277"/>
            <p14:sldId id="27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غيّر عنوان الدرس والمادة والصف والوحدة واسمك والتاريخ، واكتب موقع الدرس في توزيع المنهج. اعرض هذه الشريحة أثناء دخول الطلاب.</a:t>
            </a:r>
          </a:p>
          <a:p>
            <a:pPr rtl="1" algn="r"/>
            <a:r>
              <a:rPr lang="ar-SA" dirty="0"/>
              <a:t>موقع الدرس في التوزيع يخدم بند «توافق تنفيذ المنهج مع الخطة الزمنية»؛ احرص أن يكون الدرس في موعده، وأحضر نسخة من توزيع المنهج.</a:t>
            </a:r>
          </a:p>
          <a:p>
            <a:pPr rtl="1" algn="r"/>
            <a:r>
              <a:rPr lang="ar-SA" dirty="0"/>
              <a:t>يسجّل المقيّم في رأس الاستمارة عدد الطلاب والغياب وعدد الموهوبين وذوي الإعاقة؛ جهّز هذه الأعداد مسبقًا.</a:t>
            </a:r>
          </a:p>
          <a:p>
            <a:pPr rtl="1" algn="r"/>
            <a:r>
              <a:rPr lang="ar-SA" dirty="0"/>
              <a:t>قبل الحصة: رتّب الطلاب في مجموعات (4–5)، وجهّز بطاقات الأدوار وبطاقات الاستجابة (أ، ب، ج، د) وسلّم تقويم الأقران وبطاقة الخروج، وشغّل المؤقت.</a:t>
            </a:r>
          </a:p>
          <a:p>
            <a:pPr rtl="1" algn="r"/>
            <a:r>
              <a:rPr lang="ar-SA" dirty="0"/>
              <a:t>ابدأ بالسلام والترحيب، وقدّم الضيوف للطلاب بلطف. لا تغيّر أسلوبك المعتاد كثيرًا؛ الطبيعية تقنع المقيّم أكثر من الاستعراض.</a:t>
            </a:r>
          </a:p>
          <a:p>
            <a:pPr rtl="1" algn="r"/>
            <a:r>
              <a:rPr lang="ar-SA" dirty="0"/>
              <a:t>الشرائح الخمس الأخيرة مخفية (دليل المعلم): لا تظهر أثناء العرض، راجعها قبل الزيارة.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اعرض الخريطة 20 ثانية فقط ليعرف الطلاب مسار الحصة. الأزمنة مقترحة ويمكن تعديلها دقيقتين زيادة أو نقصًا حسب المادة.</a:t>
            </a:r>
          </a:p>
          <a:p>
            <a:pPr rtl="1" algn="r"/>
            <a:r>
              <a:rPr lang="ar-SA" dirty="0"/>
              <a:t>لتعديل الأزمنة: غيّر الرقم داخل كل جزء وعرضه، وحدّث شارة الزمن أعلى شريحة كل مرحلة.</a:t>
            </a:r>
          </a:p>
          <a:p>
            <a:pPr rtl="1" algn="r"/>
            <a:r>
              <a:rPr lang="ar-SA" dirty="0"/>
              <a:t>استعمل مؤقتًا ظاهرًا للطلاب (على السبورة الذكية أو الجوال)؛ الانتقال السلس بين المراحل وإنهاء الحصة في وقتها مؤشر واضح على الإدارة الصفية.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التهيئة (30 ثانية). الأفضل أن تكون الاتفاقات مما صاغه الطلاب في بداية الفصل، فاستبدلها بها.</a:t>
            </a:r>
          </a:p>
          <a:p>
            <a:pPr rtl="1" algn="r"/>
            <a:r>
              <a:rPr lang="ar-SA" dirty="0"/>
              <a:t>اتفق على إشارة صمت سريعة (رفع اليد، أو العد التنازلي 3–2–1).</a:t>
            </a:r>
          </a:p>
          <a:p>
            <a:pPr rtl="1" algn="r"/>
            <a:r>
              <a:rPr lang="ar-SA" dirty="0"/>
              <a:t>«نحافظ على صحتنا» بند مستقل في الاستمارة (الالتزام بالممارسات الصحية): لاحظ الجلسة الصحيحة والتهوية والإضاءة ونظافة المكان، ونبّه إليها بلطف أثناء الحصة.</a:t>
            </a:r>
          </a:p>
          <a:p>
            <a:pPr rtl="1" algn="r"/>
            <a:r>
              <a:rPr lang="ar-SA" dirty="0"/>
              <a:t>«الخطأ فرصة للتعلم»: احتفِ بالمحاولة لا بالإجابة الصحيحة وحدها؛ هذا يبني مناخًا آمنًا نفسيًا واتجاهات إيجابية نحو الذات (بندا 2 و21).</a:t>
            </a:r>
          </a:p>
          <a:p>
            <a:pPr rtl="1" algn="r"/>
            <a:r>
              <a:rPr lang="ar-SA" dirty="0"/>
              <a:t>نقاط المجموعات: ارسم جدولًا صغيرًا على طرف السبورة بأسماء الفرق، وأضف النجوم أثناء الحصة، وأعلن الفائز في خلاصة الحصة. هذا يخدم بند «أساليب التحفيز» (الثناء والمكافأة والاحتفاء بالمنجزات).</a:t>
            </a:r>
          </a:p>
          <a:p>
            <a:pPr rtl="1" algn="r"/>
            <a:r>
              <a:rPr lang="ar-SA" dirty="0"/>
              <a:t>ما يلاحظه المقيّم: انضباط إيجابي، واحترام متبادل، وتعزيز للسلوك الجيد، ومعالجة السلوك بهدوء دون إيقاف الحصة (ضبط الانفعال قدوةٌ للطلاب).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الهدف: إثارة الدافعية وربط الدرس بخبرات الطالب، لا الشرح. اكتب سؤالًا مفتوحًا لا يُجاب بنعم أو لا.</a:t>
            </a:r>
          </a:p>
          <a:p>
            <a:pPr rtl="1" algn="r"/>
            <a:r>
              <a:rPr lang="ar-SA" dirty="0"/>
              <a:t>أفكار حسب المادة: الرياضيات لغز أو نمط عددي، والعلوم ظاهرة أو تجربة سريعة، واللغة العربية بيت شعر أو عبارة، والإنجليزية صورة مع ‎Guess what?‎، والدراسات الإسلامية آية أو موقف من السيرة، والاجتماعيات خبر أو خريطة، والحاسب مشكلة رقمية من الواقع.</a:t>
            </a:r>
          </a:p>
          <a:p>
            <a:pPr rtl="1" algn="r"/>
            <a:r>
              <a:rPr lang="ar-SA" dirty="0"/>
              <a:t>نوّع المصدر بين بصري وسمعي وحسي (صورة، مقطع صوتي، مجسّم، عيّنة حقيقية)؛ تنوع المصادر بند مستقل في الاستمارة ويخدم ذوي الإعاقة.</a:t>
            </a:r>
          </a:p>
          <a:p>
            <a:pPr rtl="1" algn="r"/>
            <a:r>
              <a:rPr lang="ar-SA" dirty="0"/>
              <a:t>ما يلاحظه المقيّم: مشاركة أكبر عدد من الطلاب، لا طالبين أو ثلاثة. اطلب من الأزواج المشاركة ثم اختر عشوائيًا.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استراتيجية (أعرف، أريد أن أعرف، تعلّمت) تشخّص التعلم السابق. املأ العمودين الأولين بإجابات الطلاب شفهيًا أو على السبورة.</a:t>
            </a:r>
          </a:p>
          <a:p>
            <a:pPr rtl="1" algn="r"/>
            <a:r>
              <a:rPr lang="ar-SA" dirty="0"/>
              <a:t>عُد إلى العمود الثالث في خلاصة الحصة؛ ربط بداية الحصة بنهايتها يُظهر للمقيّم تخطيطًا متماسكًا.</a:t>
            </a:r>
          </a:p>
          <a:p>
            <a:pPr rtl="1" algn="r"/>
            <a:r>
              <a:rPr lang="ar-SA" dirty="0"/>
              <a:t>في المواد الكمية يمكن حذف هذه الشريحة والاكتفاء بسؤالين تشخيصيين سريعين على متطلبات الدرس السابقة.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أهدافًا قابلة للقياس بأفعال سلوكية (يعرّف، يطبّق، يقارن، يستنتج، يصمّم)، وتجنّب «يفهم» و«يعرف» لأنها لا تُقاس.</a:t>
            </a:r>
          </a:p>
          <a:p>
            <a:pPr rtl="1" algn="r"/>
            <a:r>
              <a:rPr lang="ar-SA" dirty="0"/>
              <a:t>اطلب من طالب أن يقرأ الأهداف بصوت مرتفع، واسأل: لماذا نحتاج هذا الدرس؟</a:t>
            </a:r>
          </a:p>
          <a:p>
            <a:pPr rtl="1" algn="r"/>
            <a:r>
              <a:rPr lang="ar-SA" dirty="0"/>
              <a:t>قد يسأل المقيّم أحد الطلاب: ماذا تتعلّم اليوم؟ ولماذا؟ فاحرص أن تكون الأهداف ومعايير النجاح واضحة لهم.</a:t>
            </a:r>
          </a:p>
          <a:p>
            <a:pPr rtl="1" algn="r"/>
            <a:r>
              <a:rPr lang="ar-SA" dirty="0"/>
              <a:t>تدرّج الأهداف من الفهم إلى التطبيق إلى التفكير العليا يُظهر مراعاة مستويات التفكير.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المصطلحات أو القواعد أو القوانين الأساسية للدرس. في الرياضيات والعلوم: الرموز والقوانين، وفي اللغات: المفردات الجديدة، وفي الدراسات الإسلامية: المصطلحات الشرعية.</a:t>
            </a:r>
          </a:p>
          <a:p>
            <a:pPr rtl="1" algn="r"/>
            <a:r>
              <a:rPr lang="ar-SA" dirty="0"/>
              <a:t>بديل فعّال: نموذج فراير (التعريف، الخصائص، أمثلة، لا أمثلة) لمفهوم واحد محوري.</a:t>
            </a:r>
          </a:p>
          <a:p>
            <a:pPr rtl="1" algn="r"/>
            <a:r>
              <a:rPr lang="ar-SA" dirty="0"/>
              <a:t>احذف البطاقات الزائدة إن كانت المفاهيم أقل من أربعة.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لا تتجاوز 10 دقائق من حديث المعلم. فكّر بصوت مسموع أثناء حل المثال: «لماذا اخترت هذه الخطوة؟».</a:t>
            </a:r>
          </a:p>
          <a:p>
            <a:pPr rtl="1" algn="r"/>
            <a:r>
              <a:rPr lang="ar-SA" dirty="0"/>
              <a:t>توقّف كل 3 دقائق بسؤال قصير أو طلب إشارة (إبهام لأعلى أو لأسفل) للتحقق من الفهم.</a:t>
            </a:r>
          </a:p>
          <a:p>
            <a:pPr rtl="1" algn="r"/>
            <a:r>
              <a:rPr lang="ar-SA" dirty="0"/>
              <a:t>وظّف التقنية حين تخدم الفهم: محاكاة، أو مقطع قصير، أو أداة تفاعلية على السبورة الذكية.</a:t>
            </a:r>
          </a:p>
          <a:p>
            <a:pPr rtl="1" algn="r"/>
            <a:r>
              <a:rPr lang="ar-SA" dirty="0"/>
              <a:t>ما يلاحظه المقيّم: دقة المحتوى العلمي، ووضوح العرض، وتسلسله، وتوظيف الوسائل.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يجيب كل الطلاب في وقت واحد: بطاقات (أ، ب، ج، د)، أو أصابع اليد، أو لوح صغير، أو أداة رقمية (اختبارات البوابة القصيرة، Kahoot، Quizizz، Wordwall).</a:t>
            </a:r>
          </a:p>
          <a:p>
            <a:pPr rtl="1" algn="r"/>
            <a:r>
              <a:rPr lang="ar-SA" dirty="0"/>
              <a:t>اجعل البدائل الخاطئة من الأخطاء الشائعة؛ فكل إجابة خاطئة تكشف لك سوء فهم بعينه.</a:t>
            </a:r>
          </a:p>
          <a:p>
            <a:pPr rtl="1" algn="r"/>
            <a:r>
              <a:rPr lang="ar-SA" dirty="0"/>
              <a:t>قرار بعد السؤال: إن أخطأ أكثر من ثلث الطلاب فأعد الشرح بطريقة مختلفة قبل الانتقال، وإلا فانتقل للنشاط.</a:t>
            </a:r>
          </a:p>
          <a:p>
            <a:pPr rtl="1" algn="r"/>
            <a:r>
              <a:rPr lang="ar-SA" dirty="0"/>
              <a:t>ما يلاحظه المقيّم: أن يُبنى قرار تدريسي على نتيجة التقويم، لا أن يكون السؤال شكليًا.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مجموعات غير متجانسة من 4 إلى 5 طلاب، ولكل طالب دور مكتوب على بطاقة؛ هذا يمنع اتكال بعضهم على بعض.</a:t>
            </a:r>
          </a:p>
          <a:p>
            <a:pPr rtl="1" algn="r"/>
            <a:r>
              <a:rPr lang="ar-SA" dirty="0"/>
              <a:t>إستراتيجيات بديلة: الرؤوس المرقّمة، أو الطاولة المستديرة، أو جيجسو (الخبراء)، أو معرض التجوّل.</a:t>
            </a:r>
          </a:p>
          <a:p>
            <a:pPr rtl="1" algn="r"/>
            <a:r>
              <a:rPr lang="ar-SA" dirty="0"/>
              <a:t>تجوّل بين المجموعات واطرح أسئلة سابرة، وقدّم تغذية راجعة محددة («أحسنت في...، وتحتاج إلى...»).</a:t>
            </a:r>
          </a:p>
          <a:p>
            <a:pPr rtl="1" algn="r"/>
            <a:r>
              <a:rPr lang="ar-SA" dirty="0"/>
              <a:t>القراءة والكتابة والحساب بند مستقل في الاستمارة لكل المواد: نص أو بيانات تُقرأ، ورقم أو جدول يُحسب، وحل يُكتب بجمل كاملة. أمثلة: في الدراسات الإسلامية نسبة أو عدد من نص، وفي العربية جدول تصنيف، وفي الرياضيات تعليل مكتوب للحل.</a:t>
            </a:r>
          </a:p>
          <a:p>
            <a:pPr rtl="1" algn="r"/>
            <a:r>
              <a:rPr lang="ar-SA" dirty="0"/>
              <a:t>الدقائق الأخيرة: تعرض مجموعتان أو ثلاث، ويقيّمها الزملاء بسلّم الشريحة التالية، ثم سؤال التفكير وسؤال الربط بالحياة.</a:t>
            </a:r>
          </a:p>
          <a:p>
            <a:pPr rtl="1" algn="r"/>
            <a:r>
              <a:rPr lang="ar-SA" dirty="0"/>
              <a:t>ما يلاحظه المقيّم: تفاعل حقيقي بين الطلاب، ودور المعلم ميسّرًا لا ملقّنًا.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زمن النشاط التعاوني: بعد عرض كل مجموعة يقيّمها فريق آخر بالسلّم، ثم يقول «نجمتان وأمنية».</a:t>
            </a:r>
          </a:p>
          <a:p>
            <a:pPr rtl="1" algn="r"/>
            <a:r>
              <a:rPr lang="ar-SA" dirty="0"/>
              <a:t>اطبع السلّم على بطاقة لكل فريق، ووضّح المحكات قبل بدء النشاط ليعرف الطلاب مستوى الإنجاز المطلوب.</a:t>
            </a:r>
          </a:p>
          <a:p>
            <a:pPr rtl="1" algn="r"/>
            <a:r>
              <a:rPr lang="ar-SA" dirty="0"/>
              <a:t>علّم الطلاب أن الملاحظة للفكرة لا للشخص، وأن يبدؤوا بالإيجابي؛ هذا يخدم بند الاحترام المتبادل والتعاطف.</a:t>
            </a:r>
          </a:p>
          <a:p>
            <a:pPr rtl="1" algn="r"/>
            <a:r>
              <a:rPr lang="ar-SA" dirty="0"/>
              <a:t>اطلب من الفريق أن يعدّل منتجه بناءً على «الأمنية» إن بقي وقت؛ توظيف التغذية الراجعة في التحسين يرفع درجة البند.</a:t>
            </a:r>
          </a:p>
          <a:p>
            <a:pPr rtl="1" algn="r"/>
            <a:r>
              <a:rPr lang="ar-SA" dirty="0"/>
              <a:t>ما يلاحظه المقيّم: تقويم الأقران، ومحكات واضحة، وتغذية راجعة بنّاءة يوظفها الطلاب.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سؤال مفتوح من مستويات التفكير العليا (تحليل، تقويم، إبداع)، ويُطرح ضمن زمن النشاط التعاوني.</a:t>
            </a:r>
          </a:p>
          <a:p>
            <a:pPr rtl="1" algn="r"/>
            <a:r>
              <a:rPr lang="ar-SA" dirty="0"/>
              <a:t>صيغ مقترحة: ماذا يحدث لو...؟ ما الفرق بين... و...؟ كيف تحكم على...؟ اقترح حلًا آخر لـ... ما الدليل على...؟</a:t>
            </a:r>
          </a:p>
          <a:p>
            <a:pPr rtl="1" algn="r"/>
            <a:r>
              <a:rPr lang="ar-SA" dirty="0"/>
              <a:t>انتظر 5 ثوانٍ على الأقل قبل استقبال الإجابة، واختر المجيب عشوائيًا (أعواد الأسماء أو عجلة الأسماء) بدل رفع الأيدي.</a:t>
            </a:r>
          </a:p>
          <a:p>
            <a:pPr rtl="1" algn="r"/>
            <a:r>
              <a:rPr lang="ar-SA" dirty="0"/>
              <a:t>ابنِ على إجابة الطالب بسؤال آخر: «لماذا؟»، «من يضيف؟»، «من يخالف؟».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زمن النشاط التعاوني: اطلب من كل مجموعة إكمال عبارة واحدة أو أكثر، ثم يقرأ المتحدث إجابتها.</a:t>
            </a:r>
          </a:p>
          <a:p>
            <a:pPr rtl="1" algn="r"/>
            <a:r>
              <a:rPr lang="ar-SA" dirty="0"/>
              <a:t>بنود الاستمارة 20 و25 تقيس ما يُظهره الطلاب أنفسهم: الاعتزاز بالقيم والهوية الوطنية، والاعتزاز بثقافتهم مع احترام التنوع الثقافي. لذلك يُكمل الطالب العبارة بنفسه، لا المعلم.</a:t>
            </a:r>
          </a:p>
          <a:p>
            <a:pPr rtl="1" algn="r"/>
            <a:r>
              <a:rPr lang="ar-SA" dirty="0"/>
              <a:t>أمثلة: في العلوم عالم مسلم أو مشروع وطني (نيوم، الطاقة المتجددة)، وفي الرياضيات الزخارف الإسلامية والعمارة، وفي اللغات أدب من ثقافات أخرى، وفي الاجتماعيات التراث الوطني ومواقع التراث العالمي في المملكة.</a:t>
            </a:r>
          </a:p>
          <a:p>
            <a:pPr rtl="1" algn="r"/>
            <a:r>
              <a:rPr lang="ar-SA" dirty="0"/>
              <a:t>دمج القيم يكون طبيعيًا من سياق الدرس، لا بموعظة منفصلة.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وزّع الطلاب حسب نتيجة سؤال التحقق من الفهم، أو اترك لهم اختيار المستوى مع التشجيع على التحدي.</a:t>
            </a:r>
          </a:p>
          <a:p>
            <a:pPr rtl="1" algn="r"/>
            <a:r>
              <a:rPr lang="ar-SA" dirty="0"/>
              <a:t>مسار «ادعمني» لذوي صعوبات التعلم وذوي الإعاقة (إن وجدوا): مهمة أقصر، ووسائل حسية أو صوتية أو بخط مكبّر، وتوجيه فردي منك. احذفه إن لم يكن في الفصل من يحتاجه.</a:t>
            </a:r>
          </a:p>
          <a:p>
            <a:pPr rtl="1" algn="r"/>
            <a:r>
              <a:rPr lang="ar-SA" dirty="0"/>
              <a:t>مسار «تحدَّ» يستخدم فيه الطالب التقنية بنفسه: رمز QR لمصدر موثوق أو بحث محدد. ذكّره بأمن المعلومات وذكر المصدر (حقوق الملكية الفكرية)؛ هذا بند «المهارات الرقمية» في الاستمارة.</a:t>
            </a:r>
          </a:p>
          <a:p>
            <a:pPr rtl="1" algn="r"/>
            <a:r>
              <a:rPr lang="ar-SA" dirty="0"/>
              <a:t>جهّز المهام على بطاقات ملوّنة أو ورقة عمل واحدة بأقسام.</a:t>
            </a:r>
          </a:p>
          <a:p>
            <a:pPr rtl="1" algn="r"/>
            <a:r>
              <a:rPr lang="ar-SA" dirty="0"/>
              <a:t>«أكمل وحدك»: من ينهي مهمته ينتقل للمستوى التالي أو يتعلّم من مصدر إثراء دون انتظار المعلم؛ هذا بند «الاستقلالية والقدرة على التعلم الذاتي» (24).</a:t>
            </a:r>
          </a:p>
          <a:p>
            <a:pPr rtl="1" algn="r"/>
            <a:r>
              <a:rPr lang="ar-SA" dirty="0"/>
              <a:t>ما يلاحظه المقيّم: مراعاة الفروق الفردية، ومواد إضافية لذوي الصعوبات، وإثراء لسريعي التعلم والموهوبين.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الإجابة بجمل كاملة لا بكلمات مفردة؛ هذا يخدم بند مهارات الكتابة.</a:t>
            </a:r>
          </a:p>
          <a:p>
            <a:pPr rtl="1" algn="r"/>
            <a:r>
              <a:rPr lang="ar-SA" dirty="0"/>
              <a:t>بديل للبطاقة: ثلاثة أسئلة قصيرة مرتبطة مباشرة بالأهداف الثلاثة.</a:t>
            </a:r>
          </a:p>
          <a:p>
            <a:pPr rtl="1" algn="r"/>
            <a:r>
              <a:rPr lang="ar-SA" dirty="0"/>
              <a:t>اجمع البطاقات عند الباب، وصنّفها بعد الحصة إلى: حقق الهدف، قريب، يحتاج دعمًا؛ وابنِ عليها تخطيط الحصة القادمة.</a:t>
            </a:r>
          </a:p>
          <a:p>
            <a:pPr rtl="1" algn="r"/>
            <a:r>
              <a:rPr lang="ar-SA" dirty="0"/>
              <a:t>ما يلاحظه المقيّم: قياس تحقق الأهداف فعليًا في نهاية الحصة، لا الاكتفاء بسؤال «هل فهمتم؟».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من طالبين أو ثلاثة تلخيص الدرس في جملة، ثم عُد إلى عمود «ماذا تعلّمت؟» في شريحة التعلم السابق.</a:t>
            </a:r>
          </a:p>
          <a:p>
            <a:pPr rtl="1" algn="r"/>
            <a:r>
              <a:rPr lang="ar-SA" dirty="0"/>
              <a:t>التقييم الذاتي بإشارة المرور: يرفع كل طالب اللون المناسب (بطاقة أو أصابع). دوّن أسماء من اختار الأحمر لمتابعتهم.</a:t>
            </a:r>
          </a:p>
          <a:p>
            <a:pPr rtl="1" algn="r"/>
            <a:r>
              <a:rPr lang="ar-SA" dirty="0"/>
              <a:t>أعلن الفريق الفائز في نقاط المجموعات واحتفِ بإنجازه، واشكر من تحسّن أداؤه.</a:t>
            </a:r>
          </a:p>
          <a:p>
            <a:pPr rtl="1" algn="r"/>
            <a:r>
              <a:rPr lang="ar-SA" dirty="0"/>
              <a:t>«أفخر اليوم بأنني...»: اطلب من طالبين إكمالها؛ تعزز الاتجاهات الإيجابية نحو الذات (بند 21).</a:t>
            </a:r>
          </a:p>
          <a:p>
            <a:pPr rtl="1" algn="r"/>
            <a:r>
              <a:rPr lang="ar-SA" dirty="0"/>
              <a:t>اختم بموعد الحصة القادمة وما يحتاجه الطلاب لها.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الواجب قصير ومرتبط بالأهداف ومتدرج، ويُفضّل أن يكون إلكترونيًا لتسهيل المتابعة والتغذية الراجعة.</a:t>
            </a:r>
          </a:p>
          <a:p>
            <a:pPr rtl="1" algn="r"/>
            <a:r>
              <a:rPr lang="ar-SA" dirty="0"/>
              <a:t>وضّح للطلاب طريقة التقييم وموعد التسليم، وتابع الإنجاز في الحصة القادمة.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اشكر الطلاب على مشاركتهم والضيوف على حضورهم. الشرائح بعد هذه مخفية ولن تظهر في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هذه الشريحة والشرائح الأربع بعدها مخفية: تظهر في وضع التحرير فقط، ولا تُعرض للطلاب.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  <a:p>
            <a:pPr rtl="1" algn="r"/>
            <a:r>
              <a:rPr lang="ar-SA" dirty="0"/>
              <a:t>جهّز في متناولك: خطة الدرس، وتوزيع المنهج، ونماذج من أعمال الطلاب ودفاترهم، وسجل الدرجات في البوابة، وأوراق العمل والبطاقات.</a:t>
            </a:r>
          </a:p>
          <a:p>
            <a:pPr rtl="1" algn="r"/>
            <a:r>
              <a:rPr lang="ar-SA" dirty="0"/>
              <a:t>قد يتحدث المقيّم مع الطلاب أو يطّلع على دفاترهم؛ اجعل تصحيح الدفاتر محدّثًا بتغذية راجعة مكتوبة.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الخمسة والعشرون في استمارة الملاحظة الصفية بمنصة هيئة تقويم التعليم والتدريب، ويُقدَّر كل بند: متحقق بدرجة منخفضة، أو متوسطة، أو مرتفعة، أو مرتفعة جدًا.</a:t>
            </a:r>
          </a:p>
          <a:p>
            <a:pPr rtl="1" algn="r"/>
            <a:r>
              <a:rPr lang="ar-SA" dirty="0"/>
              <a:t>البنود من 20 إلى 25 تقيس ما يُظهره الطلاب أنفسهم، فاجعل لهم فرصة ظاهرة لإظهاره أمام المقيّم.</a:t>
            </a:r>
          </a:p>
          <a:p>
            <a:pPr rtl="1" algn="r"/>
            <a:r>
              <a:rPr lang="ar-SA" dirty="0"/>
              <a:t>الدرجة «مرتفعة جدًا» تحتاج شواهد ظاهرة: لا تكتفِ بذكر الإجراء، بل نفّذه أمام المقيّم.</a:t>
            </a:r>
          </a:p>
          <a:p>
            <a:pPr rtl="1" algn="r"/>
            <a:r>
              <a:rPr lang="ar-SA" dirty="0"/>
              <a:t>نصيحة: لا تحاول حشد كل الإستراتيجيات؛ ثلاث إستراتيجيات متقنة ومترابطة أفضل من سبع شكلية.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أمثلة للاستئناس؛ اختر ما يناسب درسك وطلابك، وطبّقه في الشرائح المقابلة: التهيئة، والنشاط التعاوني، والتقويم.</a:t>
            </a:r>
          </a:p>
          <a:p>
            <a:pPr rtl="1" algn="r"/>
            <a:r>
              <a:rPr lang="ar-SA" dirty="0"/>
              <a:t>للمواد غير المذكورة (التربية البدنية، الفنية، المهارات الحياتية...) اتبع النمط نفسه: موقف محفّز، ثم ممارسة عملية في مجموعات، ثم عرض أو أداء قصير يُقيَّم بمعايير واضحة.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akkah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akkahTitle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MakkahDark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عنوان و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الشريحة</a:t>
            </a:r>
            <a:endParaRPr lang="ar-SA" sz="30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457200" y="1645920"/>
            <a:ext cx="82296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اكتب المحتوى هنا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غامق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lesson-Eye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lesson-Ear.png"/><Relationship Id="rId2" Type="http://schemas.openxmlformats.org/officeDocument/2006/relationships/image" Target="../media/lesson-Hand.png"/><Relationship Id="rId3" Type="http://schemas.openxmlformats.org/officeDocument/2006/relationships/image" Target="../media/lesson-Timer.png"/><Relationship Id="rId4" Type="http://schemas.openxmlformats.org/officeDocument/2006/relationships/image" Target="../media/lesson-Handshake.png"/><Relationship Id="rId5" Type="http://schemas.openxmlformats.org/officeDocument/2006/relationships/image" Target="../media/lesson-ShieldCheck.png"/><Relationship Id="rId6" Type="http://schemas.openxmlformats.org/officeDocument/2006/relationships/image" Target="../media/lesson-Trophy-m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Image-m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lesson-Brain.png"/><Relationship Id="rId2" Type="http://schemas.openxmlformats.org/officeDocument/2006/relationships/image" Target="../media/lesson-Search.png"/><Relationship Id="rId3" Type="http://schemas.openxmlformats.org/officeDocument/2006/relationships/image" Target="../media/lesson-Sparkles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Target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lesson-BookOpen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Users.png"/><Relationship Id="rId3" Type="http://schemas.openxmlformats.org/officeDocument/2006/relationships/image" Target="../media/lesson-BookText-m.png"/><Relationship Id="rId4" Type="http://schemas.openxmlformats.org/officeDocument/2006/relationships/image" Target="../media/lesson-Calculator-m.png"/><Relationship Id="rId5" Type="http://schemas.openxmlformats.org/officeDocument/2006/relationships/image" Target="../media/lesson-Pencil-m.png"/><Relationship Id="rId6" Type="http://schemas.openxmlformats.org/officeDocument/2006/relationships/image" Target="../media/lesson-Crown.png"/><Relationship Id="rId7" Type="http://schemas.openxmlformats.org/officeDocument/2006/relationships/image" Target="../media/lesson-Pencil.png"/><Relationship Id="rId8" Type="http://schemas.openxmlformats.org/officeDocument/2006/relationships/image" Target="../media/lesson-Timer.png"/><Relationship Id="rId9" Type="http://schemas.openxmlformats.org/officeDocument/2006/relationships/image" Target="../media/lesson-Mic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lesson-Star.png"/><Relationship Id="rId2" Type="http://schemas.openxmlformats.org/officeDocument/2006/relationships/image" Target="../media/lesson-Lightbulb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lesson-House.png"/><Relationship Id="rId2" Type="http://schemas.openxmlformats.org/officeDocument/2006/relationships/image" Target="../media/lesson-Heart.png"/><Relationship Id="rId3" Type="http://schemas.openxmlformats.org/officeDocument/2006/relationships/image" Target="../media/lesson-Flag.png"/><Relationship Id="rId4" Type="http://schemas.openxmlformats.org/officeDocument/2006/relationships/image" Target="../media/lesson-Globe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Accessibility.png"/><Relationship Id="rId3" Type="http://schemas.openxmlformats.org/officeDocument/2006/relationships/image" Target="../media/lesson-Sprout.png"/><Relationship Id="rId4" Type="http://schemas.openxmlformats.org/officeDocument/2006/relationships/image" Target="../media/lesson-Mountain.png"/><Relationship Id="rId5" Type="http://schemas.openxmlformats.org/officeDocument/2006/relationships/image" Target="../media/lesson-Rocket.png"/><Relationship Id="rId6" Type="http://schemas.openxmlformats.org/officeDocument/2006/relationships/image" Target="../media/lesson-Rocket-m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Laptop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../media/lesson-NotebookPen.png"/><Relationship Id="rId2" Type="http://schemas.openxmlformats.org/officeDocument/2006/relationships/image" Target="../media/lesson-Sparkles.png"/><Relationship Id="rId3" Type="http://schemas.openxmlformats.org/officeDocument/2006/relationships/image" Target="../media/lesson-BookOpen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960120"/>
            <a:ext cx="914400" cy="914400"/>
          </a:xfrm>
          <a:prstGeom prst="rect">
            <a:avLst/>
          </a:prstGeom>
        </p:spPr>
      </p:pic>
      <p:sp>
        <p:nvSpPr>
          <p:cNvPr id="3" name="Shape 3"/>
          <p:cNvSpPr/>
          <p:nvPr/>
        </p:nvSpPr>
        <p:spPr>
          <a:xfrm>
            <a:off x="7223760" y="21031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4" name="Text 4"/>
          <p:cNvSpPr txBox="1"/>
          <p:nvPr/>
        </p:nvSpPr>
        <p:spPr>
          <a:xfrm>
            <a:off x="7223760" y="210312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حصة نموذجية</a:t>
            </a:r>
            <a:endParaRPr lang="ar-SA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عنوان الدرس</a:t>
            </a:r>
            <a:endParaRPr lang="ar-SA" sz="40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المادة  ·  الصف  ·  الوحدة</a:t>
            </a:r>
            <a:endParaRPr lang="ar-SA" sz="2000" dirty="0"/>
          </a:p>
        </p:txBody>
      </p:sp>
      <p:sp>
        <p:nvSpPr>
          <p:cNvPr id="7" name="Text 7"/>
          <p:cNvSpPr txBox="1"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موقع الدرس في توزيع المنهج: </a:t>
            </a:r>
            <a:r>
              <a:rPr lang="ar-SA" altLang="en-US" sz="13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الأسبوع __ · الدرس __</a:t>
            </a:r>
            <a:endParaRPr lang="ar-SA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457200" y="40050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المعلم: </a:t>
            </a:r>
            <a:r>
              <a:rPr lang="ar-SA" altLang="en-US" sz="13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     ·     الحصة الثالثة     ·     1448/__/__ هـ</a:t>
            </a:r>
            <a:endParaRPr lang="ar-SA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خطة الحصة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رحلتنا اليوم في 50 دقيقة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85039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0</a:t>
            </a:r>
            <a:endParaRPr lang="ar-SA" sz="1000" dirty="0"/>
          </a:p>
        </p:txBody>
      </p:sp>
      <p:sp>
        <p:nvSpPr>
          <p:cNvPr id="7" name="Shape 7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6809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</a:t>
            </a:r>
            <a:endParaRPr lang="ar-SA" sz="1000" dirty="0"/>
          </a:p>
        </p:txBody>
      </p:sp>
      <p:sp>
        <p:nvSpPr>
          <p:cNvPr id="10" name="Text 10"/>
          <p:cNvSpPr txBox="1"/>
          <p:nvPr/>
        </p:nvSpPr>
        <p:spPr>
          <a:xfrm>
            <a:off x="788212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التهيئة</a:t>
            </a:r>
            <a:endParaRPr lang="ar-SA" sz="1100" dirty="0"/>
          </a:p>
        </p:txBody>
      </p:sp>
      <p:sp>
        <p:nvSpPr>
          <p:cNvPr id="11" name="Shape 11"/>
          <p:cNvSpPr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2"/>
          <p:cNvSpPr txBox="1"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 د</a:t>
            </a:r>
            <a:endParaRPr lang="ar-SA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718718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8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7388352" y="2926080"/>
            <a:ext cx="45720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الأهداف</a:t>
            </a:r>
            <a:endParaRPr lang="ar-SA" sz="1100" dirty="0"/>
          </a:p>
        </p:txBody>
      </p:sp>
      <p:sp>
        <p:nvSpPr>
          <p:cNvPr id="15" name="Shape 15"/>
          <p:cNvSpPr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solidFill>
            <a:srgbClr val="3E63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</a:t>
            </a:r>
            <a:endParaRPr lang="ar-SA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54126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18</a:t>
            </a:r>
            <a:endParaRPr lang="ar-SA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5742432" y="29260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بالمثال</a:t>
            </a:r>
            <a:endParaRPr lang="ar-SA" sz="1100" dirty="0"/>
          </a:p>
        </p:txBody>
      </p:sp>
      <p:sp>
        <p:nvSpPr>
          <p:cNvPr id="19" name="Shape 19"/>
          <p:cNvSpPr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12 د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35661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30</a:t>
            </a:r>
            <a:endParaRPr lang="ar-SA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3767328" y="2926080"/>
            <a:ext cx="193852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التعلم التعاوني</a:t>
            </a:r>
            <a:endParaRPr lang="ar-SA" sz="1100" dirty="0"/>
          </a:p>
        </p:txBody>
      </p:sp>
      <p:sp>
        <p:nvSpPr>
          <p:cNvPr id="23" name="Shape 23"/>
          <p:cNvSpPr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8 د</a:t>
            </a:r>
            <a:endParaRPr lang="ar-SA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224942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38</a:t>
            </a:r>
            <a:endParaRPr lang="ar-SA" sz="1000" dirty="0"/>
          </a:p>
        </p:txBody>
      </p:sp>
      <p:sp>
        <p:nvSpPr>
          <p:cNvPr id="26" name="Text 26"/>
          <p:cNvSpPr txBox="1"/>
          <p:nvPr/>
        </p:nvSpPr>
        <p:spPr>
          <a:xfrm>
            <a:off x="2450592" y="29260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المهام المتمايزة</a:t>
            </a:r>
            <a:endParaRPr lang="ar-SA" sz="1100" dirty="0"/>
          </a:p>
        </p:txBody>
      </p:sp>
      <p:sp>
        <p:nvSpPr>
          <p:cNvPr id="27" name="Shape 27"/>
          <p:cNvSpPr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</a:t>
            </a:r>
            <a:endParaRPr lang="ar-SA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09728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45</a:t>
            </a:r>
            <a:endParaRPr lang="ar-SA" sz="1000" dirty="0"/>
          </a:p>
        </p:txBody>
      </p:sp>
      <p:sp>
        <p:nvSpPr>
          <p:cNvPr id="30" name="Text 30"/>
          <p:cNvSpPr txBox="1"/>
          <p:nvPr/>
        </p:nvSpPr>
        <p:spPr>
          <a:xfrm>
            <a:off x="1298448" y="2926080"/>
            <a:ext cx="111556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100" dirty="0"/>
          </a:p>
        </p:txBody>
      </p:sp>
      <p:sp>
        <p:nvSpPr>
          <p:cNvPr id="31" name="Shape 31"/>
          <p:cNvSpPr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2743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50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47548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الخلاصة والواجب</a:t>
            </a:r>
            <a:endParaRPr lang="ar-SA" sz="1100" dirty="0"/>
          </a:p>
        </p:txBody>
      </p:sp>
      <p:sp>
        <p:nvSpPr>
          <p:cNvPr id="35" name="Card 35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6" name="Circle 36"/>
          <p:cNvSpPr/>
          <p:nvPr/>
        </p:nvSpPr>
        <p:spPr>
          <a:xfrm>
            <a:off x="8001000" y="3776472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7" name="Image 37" descr="Ey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781" y="3895253"/>
            <a:ext cx="311079" cy="311079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914400" y="372160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التقويم التكويني مستمر طوال الحصة</a:t>
            </a:r>
            <a:endParaRPr lang="ar-SA" sz="1400" dirty="0"/>
          </a:p>
        </p:txBody>
      </p:sp>
      <p:sp>
        <p:nvSpPr>
          <p:cNvPr id="39" name="Text 39"/>
          <p:cNvSpPr txBox="1"/>
          <p:nvPr/>
        </p:nvSpPr>
        <p:spPr>
          <a:xfrm>
            <a:off x="914400" y="404164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أسئلة سريعة، وملاحظة عمل المجموعات، وبطاقات الاستجابة، وتغذية راجعة فورية.</a:t>
            </a:r>
            <a:endParaRPr lang="ar-SA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بيئة صفية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اتفاقاتنا الصفية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7210958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7697419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E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301" y="2321730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7210958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نُنصت باهتمام</a:t>
            </a:r>
            <a:endParaRPr lang="ar-SA" sz="1500" dirty="0"/>
          </a:p>
        </p:txBody>
      </p:sp>
      <p:sp>
        <p:nvSpPr>
          <p:cNvPr id="10" name="Text 10"/>
          <p:cNvSpPr txBox="1"/>
          <p:nvPr/>
        </p:nvSpPr>
        <p:spPr>
          <a:xfrm>
            <a:off x="7302398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نستمع للمتحدث حتى يُنهي فكرته</a:t>
            </a:r>
            <a:endParaRPr lang="ar-SA" sz="1100" dirty="0"/>
          </a:p>
        </p:txBody>
      </p:sp>
      <p:sp>
        <p:nvSpPr>
          <p:cNvPr id="11" name="Card 11"/>
          <p:cNvSpPr/>
          <p:nvPr/>
        </p:nvSpPr>
        <p:spPr>
          <a:xfrm>
            <a:off x="5597957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6084418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H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300" y="2321730"/>
            <a:ext cx="285156" cy="285156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5597957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نرفع أيدينا</a:t>
            </a:r>
            <a:endParaRPr lang="ar-SA" sz="1500" dirty="0"/>
          </a:p>
        </p:txBody>
      </p:sp>
      <p:sp>
        <p:nvSpPr>
          <p:cNvPr id="15" name="Text 15"/>
          <p:cNvSpPr txBox="1"/>
          <p:nvPr/>
        </p:nvSpPr>
        <p:spPr>
          <a:xfrm>
            <a:off x="5689397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نستأذن قبل المشاركة ونحترم الدور</a:t>
            </a:r>
            <a:endParaRPr lang="ar-SA" sz="1100" dirty="0"/>
          </a:p>
        </p:txBody>
      </p:sp>
      <p:sp>
        <p:nvSpPr>
          <p:cNvPr id="16" name="Card 16"/>
          <p:cNvSpPr/>
          <p:nvPr/>
        </p:nvSpPr>
        <p:spPr>
          <a:xfrm>
            <a:off x="3984955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4471416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Ti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298" y="2321730"/>
            <a:ext cx="285156" cy="285156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3984955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نلتزم بالوقت</a:t>
            </a:r>
            <a:endParaRPr lang="ar-SA" sz="1500" dirty="0"/>
          </a:p>
        </p:txBody>
      </p:sp>
      <p:sp>
        <p:nvSpPr>
          <p:cNvPr id="20" name="Text 20"/>
          <p:cNvSpPr txBox="1"/>
          <p:nvPr/>
        </p:nvSpPr>
        <p:spPr>
          <a:xfrm>
            <a:off x="4076395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ننجز المهمة قبل انتهاء المؤقت</a:t>
            </a:r>
            <a:endParaRPr lang="ar-SA" sz="1100" dirty="0"/>
          </a:p>
        </p:txBody>
      </p:sp>
      <p:sp>
        <p:nvSpPr>
          <p:cNvPr id="21" name="Card 21"/>
          <p:cNvSpPr/>
          <p:nvPr/>
        </p:nvSpPr>
        <p:spPr>
          <a:xfrm>
            <a:off x="2371954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2858414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Handshak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97" y="2321730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2371954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نتعاون ونحترم</a:t>
            </a:r>
            <a:endParaRPr lang="ar-SA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2463394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النقد للفكرة لا للشخص، والخطأ فرصة للتعلم</a:t>
            </a:r>
            <a:endParaRPr lang="ar-SA" sz="1100" dirty="0"/>
          </a:p>
        </p:txBody>
      </p:sp>
      <p:sp>
        <p:nvSpPr>
          <p:cNvPr id="26" name="Card 26"/>
          <p:cNvSpPr/>
          <p:nvPr/>
        </p:nvSpPr>
        <p:spPr>
          <a:xfrm>
            <a:off x="758952" y="2103120"/>
            <a:ext cx="147584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7" name="Circle 27"/>
          <p:cNvSpPr/>
          <p:nvPr/>
        </p:nvSpPr>
        <p:spPr>
          <a:xfrm>
            <a:off x="1245413" y="2212848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8" name="Image 28" descr="Shield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295" y="2321730"/>
            <a:ext cx="285156" cy="285156"/>
          </a:xfrm>
          <a:prstGeom prst="rect">
            <a:avLst/>
          </a:prstGeom>
        </p:spPr>
      </p:pic>
      <p:sp>
        <p:nvSpPr>
          <p:cNvPr id="29" name="Text 29"/>
          <p:cNvSpPr txBox="1"/>
          <p:nvPr/>
        </p:nvSpPr>
        <p:spPr>
          <a:xfrm>
            <a:off x="758952" y="2816352"/>
            <a:ext cx="1475842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نحافظ على صحتنا</a:t>
            </a:r>
            <a:endParaRPr lang="ar-SA" sz="1500" dirty="0"/>
          </a:p>
        </p:txBody>
      </p:sp>
      <p:sp>
        <p:nvSpPr>
          <p:cNvPr id="30" name="Text 30"/>
          <p:cNvSpPr txBox="1"/>
          <p:nvPr/>
        </p:nvSpPr>
        <p:spPr>
          <a:xfrm>
            <a:off x="850392" y="3200400"/>
            <a:ext cx="1292962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جلسة صحيحة، ومكان نظيف ومرتب</a:t>
            </a:r>
            <a:endParaRPr lang="ar-SA" sz="1100" dirty="0"/>
          </a:p>
        </p:txBody>
      </p:sp>
      <p:sp>
        <p:nvSpPr>
          <p:cNvPr id="31" name="Card 31"/>
          <p:cNvSpPr/>
          <p:nvPr/>
        </p:nvSpPr>
        <p:spPr>
          <a:xfrm>
            <a:off x="758952" y="4023360"/>
            <a:ext cx="7927848" cy="457200"/>
          </a:xfrm>
          <a:prstGeom prst="roundRect">
            <a:avLst>
              <a:gd name="adj" fmla="val 20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pic>
        <p:nvPicPr>
          <p:cNvPr id="32" name="Image 32" descr="كأس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14800"/>
            <a:ext cx="274320" cy="274320"/>
          </a:xfrm>
          <a:prstGeom prst="rect">
            <a:avLst/>
          </a:prstGeom>
        </p:spPr>
      </p:pic>
      <p:sp>
        <p:nvSpPr>
          <p:cNvPr id="33" name="Text 33"/>
          <p:cNvSpPr txBox="1"/>
          <p:nvPr/>
        </p:nvSpPr>
        <p:spPr>
          <a:xfrm>
            <a:off x="960120" y="4023360"/>
            <a:ext cx="717804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نقاط المجموعات: </a:t>
            </a: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كل إجابة صحيحة أو تعاون مميز نجمةٌ لفريقك، ونحتفي بالفريق الفائز في نهاية الحصة.</a:t>
            </a:r>
            <a:endParaRPr lang="ar-SA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التهيئة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لنبدأ بسؤال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Shape 9"/>
          <p:cNvSpPr/>
          <p:nvPr/>
        </p:nvSpPr>
        <p:spPr>
          <a:xfrm>
            <a:off x="457200" y="914400"/>
            <a:ext cx="3931920" cy="3611880"/>
          </a:xfrm>
          <a:prstGeom prst="roundRect">
            <a:avLst>
              <a:gd name="adj" fmla="val 4557"/>
            </a:avLst>
          </a:prstGeom>
          <a:solidFill>
            <a:srgbClr val="EDFAF2"/>
          </a:solidFill>
          <a:ln w="19050">
            <a:solidFill>
              <a:srgbClr val="CCF2DB"/>
            </a:solidFill>
            <a:prstDash val="dash"/>
          </a:ln>
        </p:spPr>
      </p:sp>
      <p:pic>
        <p:nvPicPr>
          <p:cNvPr id="10" name="Image 10" descr="صور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103120"/>
            <a:ext cx="640080" cy="640080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731520" y="288036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صورة أو مقطعًا مرئيًا أو صوتيًا أو مجسّمًا</a:t>
            </a:r>
            <a:endParaRPr lang="ar-SA" sz="1100" dirty="0"/>
          </a:p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يثير التساؤل، ثم «إرسال إلى الخلف»</a:t>
            </a:r>
            <a:endParaRPr lang="ar-SA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10312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2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مثيرًا للتفكير يربط الدرس بحياة الطالب؟</a:t>
            </a:r>
            <a:endParaRPr lang="ar-SA" sz="2000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324612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استراتيجية مقترحة: فكّر ← زاوج ← شارك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45236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فكّر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6" name="Shape 16"/>
          <p:cNvSpPr/>
          <p:nvPr/>
        </p:nvSpPr>
        <p:spPr>
          <a:xfrm>
            <a:off x="612648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612648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زاوج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480060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480060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شارك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دقيقتان</a:t>
            </a:r>
            <a:endParaRPr lang="ar-SA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السابق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نعرف عن الموضوع؟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608076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rai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76594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26364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أعرف؟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626364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ما نعرفه مسبقًا عن الموضوع من دروس سابقة أو من الحياة.</a:t>
            </a:r>
            <a:endParaRPr lang="ar-SA" sz="1200" dirty="0"/>
          </a:p>
        </p:txBody>
      </p:sp>
      <p:sp>
        <p:nvSpPr>
          <p:cNvPr id="11" name="Shape 11"/>
          <p:cNvSpPr/>
          <p:nvPr/>
        </p:nvSpPr>
        <p:spPr>
          <a:xfrm>
            <a:off x="626364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2" name="Shape 12"/>
          <p:cNvSpPr/>
          <p:nvPr/>
        </p:nvSpPr>
        <p:spPr>
          <a:xfrm>
            <a:off x="626364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3" name="Card 13"/>
          <p:cNvSpPr/>
          <p:nvPr/>
        </p:nvSpPr>
        <p:spPr>
          <a:xfrm>
            <a:off x="326898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518922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5" name="Image 15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102" y="2376594"/>
            <a:ext cx="285156" cy="285156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345186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أريد أن أعرف؟</a:t>
            </a:r>
            <a:endParaRPr lang="ar-SA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345186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الأسئلة التي نريد أن نجد إجابتها اليوم.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345186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9" name="Shape 19"/>
          <p:cNvSpPr/>
          <p:nvPr/>
        </p:nvSpPr>
        <p:spPr>
          <a:xfrm>
            <a:off x="345186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0" name="Card 20"/>
          <p:cNvSpPr/>
          <p:nvPr/>
        </p:nvSpPr>
        <p:spPr>
          <a:xfrm>
            <a:off x="45720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1" name="Circle 21"/>
          <p:cNvSpPr/>
          <p:nvPr/>
        </p:nvSpPr>
        <p:spPr>
          <a:xfrm>
            <a:off x="237744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2" name="Image 22" descr="Spark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322" y="2376594"/>
            <a:ext cx="285156" cy="285156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64008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تعلّمت؟</a:t>
            </a:r>
            <a:endParaRPr lang="ar-SA" sz="1600" dirty="0"/>
          </a:p>
        </p:txBody>
      </p:sp>
      <p:sp>
        <p:nvSpPr>
          <p:cNvPr id="24" name="Text 24"/>
          <p:cNvSpPr txBox="1"/>
          <p:nvPr/>
        </p:nvSpPr>
        <p:spPr>
          <a:xfrm>
            <a:off x="64008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نعود إليها في نهاية الحصة لنكتب ما تعلّمناه.</a:t>
            </a:r>
            <a:endParaRPr lang="ar-SA" sz="1200" dirty="0"/>
          </a:p>
        </p:txBody>
      </p:sp>
      <p:sp>
        <p:nvSpPr>
          <p:cNvPr id="25" name="Shape 25"/>
          <p:cNvSpPr/>
          <p:nvPr/>
        </p:nvSpPr>
        <p:spPr>
          <a:xfrm>
            <a:off x="64008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6" name="Shape 26"/>
          <p:cNvSpPr/>
          <p:nvPr/>
        </p:nvSpPr>
        <p:spPr>
          <a:xfrm>
            <a:off x="64008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أهداف التعلم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في نهاية الحصة سأكون قادرًا على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383280" y="2103120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83880" y="2231136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183880" y="223113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1500" dirty="0"/>
          </a:p>
        </p:txBody>
      </p:sp>
      <p:sp>
        <p:nvSpPr>
          <p:cNvPr id="12" name="Text 12"/>
          <p:cNvSpPr txBox="1"/>
          <p:nvPr/>
        </p:nvSpPr>
        <p:spPr>
          <a:xfrm>
            <a:off x="4709160" y="2103120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تعريف المفهوم الرئيس للدرس بأسلوبي الخاص.</a:t>
            </a:r>
            <a:endParaRPr lang="ar-SA" sz="1400" dirty="0"/>
          </a:p>
        </p:txBody>
      </p:sp>
      <p:sp>
        <p:nvSpPr>
          <p:cNvPr id="13" name="Shape 13"/>
          <p:cNvSpPr/>
          <p:nvPr/>
        </p:nvSpPr>
        <p:spPr>
          <a:xfrm>
            <a:off x="3520440" y="2286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3520440" y="2286000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تذكّر وفهم</a:t>
            </a:r>
            <a:endParaRPr lang="ar-SA" sz="1000" dirty="0"/>
          </a:p>
        </p:txBody>
      </p:sp>
      <p:sp>
        <p:nvSpPr>
          <p:cNvPr id="15" name="Card 15"/>
          <p:cNvSpPr/>
          <p:nvPr/>
        </p:nvSpPr>
        <p:spPr>
          <a:xfrm>
            <a:off x="3383280" y="2889504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183880" y="3017520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183880" y="301752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4709160" y="2889504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تطبيق المهارة أو القاعدة في مواقف جديدة.</a:t>
            </a:r>
            <a:endParaRPr lang="ar-SA" sz="1400" dirty="0"/>
          </a:p>
        </p:txBody>
      </p:sp>
      <p:sp>
        <p:nvSpPr>
          <p:cNvPr id="19" name="Shape 19"/>
          <p:cNvSpPr/>
          <p:nvPr/>
        </p:nvSpPr>
        <p:spPr>
          <a:xfrm>
            <a:off x="3520440" y="307238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520440" y="3072384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تطبيق</a:t>
            </a:r>
            <a:endParaRPr lang="ar-SA" sz="1000" dirty="0"/>
          </a:p>
        </p:txBody>
      </p:sp>
      <p:sp>
        <p:nvSpPr>
          <p:cNvPr id="21" name="Card 21"/>
          <p:cNvSpPr/>
          <p:nvPr/>
        </p:nvSpPr>
        <p:spPr>
          <a:xfrm>
            <a:off x="3383280" y="3675888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8183880" y="3803904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8183880" y="38039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1500" dirty="0"/>
          </a:p>
        </p:txBody>
      </p:sp>
      <p:sp>
        <p:nvSpPr>
          <p:cNvPr id="24" name="Text 24"/>
          <p:cNvSpPr txBox="1"/>
          <p:nvPr/>
        </p:nvSpPr>
        <p:spPr>
          <a:xfrm>
            <a:off x="4709160" y="3675888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تحليل مثال واستنتاج العلاقة بين عناصره.</a:t>
            </a:r>
            <a:endParaRPr lang="ar-SA" sz="1400" dirty="0"/>
          </a:p>
        </p:txBody>
      </p:sp>
      <p:sp>
        <p:nvSpPr>
          <p:cNvPr id="25" name="Shape 25"/>
          <p:cNvSpPr/>
          <p:nvPr/>
        </p:nvSpPr>
        <p:spPr>
          <a:xfrm>
            <a:off x="3520440" y="38587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3520440" y="3858768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تفكير عليا</a:t>
            </a:r>
            <a:endParaRPr lang="ar-SA" sz="1000" dirty="0"/>
          </a:p>
        </p:txBody>
      </p:sp>
      <p:sp>
        <p:nvSpPr>
          <p:cNvPr id="27" name="Card 27"/>
          <p:cNvSpPr/>
          <p:nvPr/>
        </p:nvSpPr>
        <p:spPr>
          <a:xfrm>
            <a:off x="457200" y="2103120"/>
            <a:ext cx="274320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8" name="Circle 28"/>
          <p:cNvSpPr/>
          <p:nvPr/>
        </p:nvSpPr>
        <p:spPr>
          <a:xfrm>
            <a:off x="157276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9" name="Image 29" descr="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650" y="2349162"/>
            <a:ext cx="285156" cy="285156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594360" y="27889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معايير النجاح</a:t>
            </a:r>
            <a:endParaRPr lang="ar-SA" sz="15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315468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أشرح المفهوم لزميلي.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أحل مثالًا جديدًا.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أبرّر إجابتي.</a:t>
            </a:r>
            <a:endParaRPr lang="ar-SA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مفردات الدرس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مفاهيم نحتاجها اليوم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466344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48632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89204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الأول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1" name="Card 11"/>
          <p:cNvSpPr/>
          <p:nvPr/>
        </p:nvSpPr>
        <p:spPr>
          <a:xfrm>
            <a:off x="45720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79476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2486322"/>
            <a:ext cx="285156" cy="285156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68580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الثاني</a:t>
            </a:r>
            <a:endParaRPr lang="ar-SA" sz="1600" dirty="0"/>
          </a:p>
        </p:txBody>
      </p:sp>
      <p:sp>
        <p:nvSpPr>
          <p:cNvPr id="15" name="Text 15"/>
          <p:cNvSpPr txBox="1"/>
          <p:nvPr/>
        </p:nvSpPr>
        <p:spPr>
          <a:xfrm>
            <a:off x="68580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6" name="Card 16"/>
          <p:cNvSpPr/>
          <p:nvPr/>
        </p:nvSpPr>
        <p:spPr>
          <a:xfrm>
            <a:off x="466344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800100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3720762"/>
            <a:ext cx="285156" cy="285156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489204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الثالث</a:t>
            </a:r>
            <a:endParaRPr lang="ar-SA" sz="1600" dirty="0"/>
          </a:p>
        </p:txBody>
      </p:sp>
      <p:sp>
        <p:nvSpPr>
          <p:cNvPr id="20" name="Text 20"/>
          <p:cNvSpPr txBox="1"/>
          <p:nvPr/>
        </p:nvSpPr>
        <p:spPr>
          <a:xfrm>
            <a:off x="489204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21" name="Card 21"/>
          <p:cNvSpPr/>
          <p:nvPr/>
        </p:nvSpPr>
        <p:spPr>
          <a:xfrm>
            <a:off x="45720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379476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37207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68580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الرابع</a:t>
            </a:r>
            <a:endParaRPr lang="ar-SA" sz="1600" dirty="0"/>
          </a:p>
        </p:txBody>
      </p:sp>
      <p:sp>
        <p:nvSpPr>
          <p:cNvPr id="25" name="Text 25"/>
          <p:cNvSpPr txBox="1"/>
          <p:nvPr/>
        </p:nvSpPr>
        <p:spPr>
          <a:xfrm>
            <a:off x="68580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أنا أعمل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بالمثال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الفكرة الرئيسة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الأولى في جملة قصيرة.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الثانية مع رسم أو صورة.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الثالثة وربطها بالهدف.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مثال محلول خطوة بخطوة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886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3886200" y="2743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</a:t>
            </a:r>
            <a:endParaRPr lang="ar-SA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731520" y="27432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أقرأ المعطيات وأحدد المطلوب.</a:t>
            </a:r>
            <a:endParaRPr lang="ar-SA" sz="1300" dirty="0"/>
          </a:p>
        </p:txBody>
      </p:sp>
      <p:sp>
        <p:nvSpPr>
          <p:cNvPr id="17" name="Circle 17"/>
          <p:cNvSpPr/>
          <p:nvPr/>
        </p:nvSpPr>
        <p:spPr>
          <a:xfrm>
            <a:off x="3886200" y="32918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3886200" y="32918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2</a:t>
            </a:r>
            <a:endParaRPr lang="ar-SA" sz="1300" dirty="0"/>
          </a:p>
        </p:txBody>
      </p:sp>
      <p:sp>
        <p:nvSpPr>
          <p:cNvPr id="19" name="Text 19"/>
          <p:cNvSpPr txBox="1"/>
          <p:nvPr/>
        </p:nvSpPr>
        <p:spPr>
          <a:xfrm>
            <a:off x="731520" y="32918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أختار القاعدة أو الإستراتيجية.</a:t>
            </a:r>
            <a:endParaRPr lang="ar-SA" sz="1300" dirty="0"/>
          </a:p>
        </p:txBody>
      </p:sp>
      <p:sp>
        <p:nvSpPr>
          <p:cNvPr id="20" name="Circle 20"/>
          <p:cNvSpPr/>
          <p:nvPr/>
        </p:nvSpPr>
        <p:spPr>
          <a:xfrm>
            <a:off x="3886200" y="384048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840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</a:t>
            </a:r>
            <a:endParaRPr lang="ar-SA" sz="1300" dirty="0"/>
          </a:p>
        </p:txBody>
      </p:sp>
      <p:sp>
        <p:nvSpPr>
          <p:cNvPr id="22" name="Text 22"/>
          <p:cNvSpPr txBox="1"/>
          <p:nvPr/>
        </p:nvSpPr>
        <p:spPr>
          <a:xfrm>
            <a:off x="731520" y="38404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أنفّذ وأتحقق من الإجابة.</a:t>
            </a:r>
            <a:endParaRPr lang="ar-SA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تكويني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تحقّق من فهمك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يكشف الخطأ الشائع في هذا الدرس؟</a:t>
            </a:r>
            <a:endParaRPr lang="ar-SA" sz="1800" dirty="0"/>
          </a:p>
        </p:txBody>
      </p:sp>
      <p:sp>
        <p:nvSpPr>
          <p:cNvPr id="7" name="Card 7"/>
          <p:cNvSpPr/>
          <p:nvPr/>
        </p:nvSpPr>
        <p:spPr>
          <a:xfrm>
            <a:off x="466344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8" name="Circle 8"/>
          <p:cNvSpPr/>
          <p:nvPr/>
        </p:nvSpPr>
        <p:spPr>
          <a:xfrm>
            <a:off x="809244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809244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</a:t>
            </a:r>
            <a:endParaRPr lang="ar-SA" sz="17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الأول</a:t>
            </a:r>
            <a:endParaRPr lang="ar-SA" sz="1500" dirty="0"/>
          </a:p>
        </p:txBody>
      </p:sp>
      <p:sp>
        <p:nvSpPr>
          <p:cNvPr id="11" name="Card 11"/>
          <p:cNvSpPr/>
          <p:nvPr/>
        </p:nvSpPr>
        <p:spPr>
          <a:xfrm>
            <a:off x="45720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88620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388620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</a:t>
            </a:r>
            <a:endParaRPr lang="ar-SA" sz="1700" dirty="0"/>
          </a:p>
        </p:txBody>
      </p:sp>
      <p:sp>
        <p:nvSpPr>
          <p:cNvPr id="14" name="Text 14"/>
          <p:cNvSpPr txBox="1"/>
          <p:nvPr/>
        </p:nvSpPr>
        <p:spPr>
          <a:xfrm>
            <a:off x="68580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الثاني</a:t>
            </a:r>
            <a:endParaRPr lang="ar-SA" sz="1500" dirty="0"/>
          </a:p>
        </p:txBody>
      </p:sp>
      <p:sp>
        <p:nvSpPr>
          <p:cNvPr id="15" name="Card 15"/>
          <p:cNvSpPr/>
          <p:nvPr/>
        </p:nvSpPr>
        <p:spPr>
          <a:xfrm>
            <a:off x="466344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09244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09244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ج</a:t>
            </a:r>
            <a:endParaRPr lang="ar-SA" sz="1700" dirty="0"/>
          </a:p>
        </p:txBody>
      </p:sp>
      <p:sp>
        <p:nvSpPr>
          <p:cNvPr id="18" name="Text 18"/>
          <p:cNvSpPr txBox="1"/>
          <p:nvPr/>
        </p:nvSpPr>
        <p:spPr>
          <a:xfrm>
            <a:off x="489204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الثالث</a:t>
            </a:r>
            <a:endParaRPr lang="ar-SA" sz="1500" dirty="0"/>
          </a:p>
        </p:txBody>
      </p:sp>
      <p:sp>
        <p:nvSpPr>
          <p:cNvPr id="19" name="Card 19"/>
          <p:cNvSpPr/>
          <p:nvPr/>
        </p:nvSpPr>
        <p:spPr>
          <a:xfrm>
            <a:off x="45720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388620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د</a:t>
            </a:r>
            <a:endParaRPr lang="ar-SA" sz="1700" dirty="0"/>
          </a:p>
        </p:txBody>
      </p:sp>
      <p:sp>
        <p:nvSpPr>
          <p:cNvPr id="22" name="Text 22"/>
          <p:cNvSpPr txBox="1"/>
          <p:nvPr/>
        </p:nvSpPr>
        <p:spPr>
          <a:xfrm>
            <a:off x="68580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الرابع</a:t>
            </a:r>
            <a:endParaRPr lang="ar-SA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نحن نعمل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12 دقيقة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تعاوني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703320" y="2103120"/>
            <a:ext cx="4983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Us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3931920" y="224028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مهمة المجموعة</a:t>
            </a:r>
            <a:endParaRPr lang="ar-SA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3931920" y="2834640"/>
            <a:ext cx="452628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اقرؤوا النص أو البيانات في البطاقة وحدّدوا المطلوب.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احسبوا أو نظّموا المعلومات في جدول.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اكتبوا الحل بجمل كاملة، واعرضوه في دقيقة.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5" name="Image 15" descr="قراء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023360"/>
            <a:ext cx="182880" cy="1828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754380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قراءة</a:t>
            </a:r>
            <a:endParaRPr lang="ar-SA" sz="1100" dirty="0"/>
          </a:p>
        </p:txBody>
      </p:sp>
      <p:sp>
        <p:nvSpPr>
          <p:cNvPr id="17" name="Shape 17"/>
          <p:cNvSpPr/>
          <p:nvPr/>
        </p:nvSpPr>
        <p:spPr>
          <a:xfrm>
            <a:off x="635508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8" name="Image 18" descr="حساب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4023360"/>
            <a:ext cx="182880" cy="18288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44652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حساب</a:t>
            </a:r>
            <a:endParaRPr lang="ar-SA" sz="1100" dirty="0"/>
          </a:p>
        </p:txBody>
      </p:sp>
      <p:sp>
        <p:nvSpPr>
          <p:cNvPr id="20" name="Shape 20"/>
          <p:cNvSpPr/>
          <p:nvPr/>
        </p:nvSpPr>
        <p:spPr>
          <a:xfrm>
            <a:off x="525780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21" name="Image 21" descr="كتاب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1032" y="4023360"/>
            <a:ext cx="182880" cy="182880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534924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كتابة</a:t>
            </a:r>
            <a:endParaRPr lang="ar-SA" sz="1100" dirty="0"/>
          </a:p>
        </p:txBody>
      </p:sp>
      <p:sp>
        <p:nvSpPr>
          <p:cNvPr id="23" name="Card 23"/>
          <p:cNvSpPr/>
          <p:nvPr/>
        </p:nvSpPr>
        <p:spPr>
          <a:xfrm>
            <a:off x="196596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4" name="Circle 24"/>
          <p:cNvSpPr/>
          <p:nvPr/>
        </p:nvSpPr>
        <p:spPr>
          <a:xfrm>
            <a:off x="245059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5" name="Image 25" descr="Crow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616" y="2289584"/>
            <a:ext cx="248863" cy="248863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196596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القائد</a:t>
            </a:r>
            <a:endParaRPr lang="ar-SA" sz="1300" dirty="0"/>
          </a:p>
        </p:txBody>
      </p:sp>
      <p:sp>
        <p:nvSpPr>
          <p:cNvPr id="27" name="Text 27"/>
          <p:cNvSpPr txBox="1"/>
          <p:nvPr/>
        </p:nvSpPr>
        <p:spPr>
          <a:xfrm>
            <a:off x="196596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ينظّم العمل</a:t>
            </a:r>
            <a:endParaRPr lang="ar-SA" sz="1000" dirty="0"/>
          </a:p>
        </p:txBody>
      </p:sp>
      <p:sp>
        <p:nvSpPr>
          <p:cNvPr id="28" name="Card 28"/>
          <p:cNvSpPr/>
          <p:nvPr/>
        </p:nvSpPr>
        <p:spPr>
          <a:xfrm>
            <a:off x="45720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9" name="Circle 29"/>
          <p:cNvSpPr/>
          <p:nvPr/>
        </p:nvSpPr>
        <p:spPr>
          <a:xfrm>
            <a:off x="94183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0" name="Image 30" descr="Penci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56" y="2289584"/>
            <a:ext cx="248863" cy="248863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45720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المقرّر</a:t>
            </a:r>
            <a:endParaRPr lang="ar-SA" sz="1300" dirty="0"/>
          </a:p>
        </p:txBody>
      </p:sp>
      <p:sp>
        <p:nvSpPr>
          <p:cNvPr id="32" name="Text 32"/>
          <p:cNvSpPr txBox="1"/>
          <p:nvPr/>
        </p:nvSpPr>
        <p:spPr>
          <a:xfrm>
            <a:off x="45720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يدوّن الإجابة</a:t>
            </a:r>
            <a:endParaRPr lang="ar-SA" sz="1000" dirty="0"/>
          </a:p>
        </p:txBody>
      </p:sp>
      <p:sp>
        <p:nvSpPr>
          <p:cNvPr id="33" name="Card 33"/>
          <p:cNvSpPr/>
          <p:nvPr/>
        </p:nvSpPr>
        <p:spPr>
          <a:xfrm>
            <a:off x="196596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4" name="Circle 34"/>
          <p:cNvSpPr/>
          <p:nvPr/>
        </p:nvSpPr>
        <p:spPr>
          <a:xfrm>
            <a:off x="245059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5" name="Image 35" descr="Tim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5616" y="3524024"/>
            <a:ext cx="248863" cy="248863"/>
          </a:xfrm>
          <a:prstGeom prst="rect">
            <a:avLst/>
          </a:prstGeom>
        </p:spPr>
      </p:pic>
      <p:sp>
        <p:nvSpPr>
          <p:cNvPr id="36" name="Text 36"/>
          <p:cNvSpPr txBox="1"/>
          <p:nvPr/>
        </p:nvSpPr>
        <p:spPr>
          <a:xfrm>
            <a:off x="196596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مراقب الوقت</a:t>
            </a:r>
            <a:endParaRPr lang="ar-SA" sz="1300" dirty="0"/>
          </a:p>
        </p:txBody>
      </p:sp>
      <p:sp>
        <p:nvSpPr>
          <p:cNvPr id="37" name="Text 37"/>
          <p:cNvSpPr txBox="1"/>
          <p:nvPr/>
        </p:nvSpPr>
        <p:spPr>
          <a:xfrm>
            <a:off x="196596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ينبّه للزمن</a:t>
            </a:r>
            <a:endParaRPr lang="ar-SA" sz="1000" dirty="0"/>
          </a:p>
        </p:txBody>
      </p:sp>
      <p:sp>
        <p:nvSpPr>
          <p:cNvPr id="38" name="Card 38"/>
          <p:cNvSpPr/>
          <p:nvPr/>
        </p:nvSpPr>
        <p:spPr>
          <a:xfrm>
            <a:off x="45720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9" name="Circle 39"/>
          <p:cNvSpPr/>
          <p:nvPr/>
        </p:nvSpPr>
        <p:spPr>
          <a:xfrm>
            <a:off x="94183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40" name="Image 40" descr="Mic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856" y="3524024"/>
            <a:ext cx="248863" cy="248863"/>
          </a:xfrm>
          <a:prstGeom prst="rect">
            <a:avLst/>
          </a:prstGeom>
        </p:spPr>
      </p:pic>
      <p:sp>
        <p:nvSpPr>
          <p:cNvPr id="41" name="Text 41"/>
          <p:cNvSpPr txBox="1"/>
          <p:nvPr/>
        </p:nvSpPr>
        <p:spPr>
          <a:xfrm>
            <a:off x="45720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المتحدث</a:t>
            </a:r>
            <a:endParaRPr lang="ar-SA" sz="1300" dirty="0"/>
          </a:p>
        </p:txBody>
      </p:sp>
      <p:sp>
        <p:nvSpPr>
          <p:cNvPr id="42" name="Text 42"/>
          <p:cNvSpPr txBox="1"/>
          <p:nvPr/>
        </p:nvSpPr>
        <p:spPr>
          <a:xfrm>
            <a:off x="45720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يعرض النتيجة</a:t>
            </a:r>
            <a:endParaRPr lang="ar-SA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الأقران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قيّم زميلك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520440" y="2103120"/>
          <a:ext cx="5166360" cy="1828800"/>
        </p:xfrm>
        <a:graphic>
          <a:graphicData uri="http://schemas.openxmlformats.org/drawingml/2006/table">
            <a:tbl>
              <a:tblPr rtl="1" firstRow="1" bandRow="1"/>
              <a:tblGrid>
                <a:gridCol w="1280160"/>
                <a:gridCol w="1280160"/>
                <a:gridCol w="1280160"/>
                <a:gridCol w="1325880"/>
              </a:tblGrid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يحتاج تحسينًا (1)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جيد (2)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متميز (3)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المحك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فيه أخطاء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دون تبرير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ومبرَّر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صحة الحل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غير واضح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وطويل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ومنظّم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وضوح العرض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عمل فرد واحد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أغلبهم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الجميع بأدوارهم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التعاون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3520440" y="4069080"/>
            <a:ext cx="516636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يقيّم كل فريق فريقًا آخر، ويعلن رأيه في 30 ثانية.</a:t>
            </a:r>
            <a:endParaRPr lang="ar-SA" sz="1200" dirty="0"/>
          </a:p>
        </p:txBody>
      </p:sp>
      <p:sp>
        <p:nvSpPr>
          <p:cNvPr id="8" name="Card 8"/>
          <p:cNvSpPr/>
          <p:nvPr/>
        </p:nvSpPr>
        <p:spPr>
          <a:xfrm>
            <a:off x="457200" y="2103120"/>
            <a:ext cx="2834640" cy="2286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9" name="Text 9"/>
          <p:cNvSpPr txBox="1"/>
          <p:nvPr/>
        </p:nvSpPr>
        <p:spPr>
          <a:xfrm>
            <a:off x="640080" y="221284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نجمتان وأمنية</a:t>
            </a:r>
            <a:endParaRPr lang="ar-SA" sz="1700" dirty="0"/>
          </a:p>
        </p:txBody>
      </p:sp>
      <p:sp>
        <p:nvSpPr>
          <p:cNvPr id="10" name="Circle 10"/>
          <p:cNvSpPr/>
          <p:nvPr/>
        </p:nvSpPr>
        <p:spPr>
          <a:xfrm>
            <a:off x="2743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2822387"/>
            <a:ext cx="207386" cy="20738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أعجبني في عرضكم ...</a:t>
            </a:r>
            <a:endParaRPr lang="ar-SA" sz="1300" dirty="0"/>
          </a:p>
        </p:txBody>
      </p:sp>
      <p:sp>
        <p:nvSpPr>
          <p:cNvPr id="13" name="Circle 13"/>
          <p:cNvSpPr/>
          <p:nvPr/>
        </p:nvSpPr>
        <p:spPr>
          <a:xfrm>
            <a:off x="2743200" y="324612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4" name="Image 14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3325307"/>
            <a:ext cx="207386" cy="207386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640080" y="32461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أحسنتم في ...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2743200" y="37490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Lightbul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387" y="3828227"/>
            <a:ext cx="207386" cy="207386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640080" y="3749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أقترح عليكم ...</a:t>
            </a:r>
            <a:endParaRPr lang="ar-SA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7772400" y="777240"/>
            <a:ext cx="914400" cy="10972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96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؟</a:t>
            </a:r>
            <a:endParaRPr lang="ar-SA" sz="9600" dirty="0"/>
          </a:p>
        </p:txBody>
      </p:sp>
      <p:sp>
        <p:nvSpPr>
          <p:cNvPr id="3" name="Text 3"/>
          <p:cNvSpPr txBox="1"/>
          <p:nvPr/>
        </p:nvSpPr>
        <p:spPr>
          <a:xfrm>
            <a:off x="822960" y="1920240"/>
            <a:ext cx="786384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ماذا لو ...؟  وكيف يمكن أن ...؟</a:t>
            </a:r>
            <a:endParaRPr lang="ar-SA" sz="32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35204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89D7AD"/>
                </a:solidFill>
                <a:latin typeface="IBM Plex Sans Arabic"/>
                <a:cs typeface="IBM Plex Sans Arabic"/>
              </a:rPr>
              <a:t>فكّر بمفردك 30 ثانية، ثم ناقش زميلك، ثم شارك.</a:t>
            </a:r>
            <a:endParaRPr lang="ar-SA" sz="15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A9BCB1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أثر التعلم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 علاقة الدرس بحياتنا وقيمنا؟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758952" y="1965960"/>
            <a:ext cx="7927848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يُكمل الطالب كل عبارة بنفسه شفهيًا أو كتابةً:</a:t>
            </a:r>
            <a:endParaRPr lang="ar-SA" sz="1200" dirty="0"/>
          </a:p>
        </p:txBody>
      </p:sp>
      <p:sp>
        <p:nvSpPr>
          <p:cNvPr id="7" name="Card 7"/>
          <p:cNvSpPr/>
          <p:nvPr/>
        </p:nvSpPr>
        <p:spPr>
          <a:xfrm>
            <a:off x="6766560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8" name="Circle 8"/>
          <p:cNvSpPr/>
          <p:nvPr/>
        </p:nvSpPr>
        <p:spPr>
          <a:xfrm>
            <a:off x="7452360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9" name="Image 9" descr="Hou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141" y="2587661"/>
            <a:ext cx="311079" cy="311079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6766560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في حياتي</a:t>
            </a:r>
            <a:endParaRPr lang="ar-SA" sz="1600" dirty="0"/>
          </a:p>
        </p:txBody>
      </p:sp>
      <p:sp>
        <p:nvSpPr>
          <p:cNvPr id="11" name="Text 11"/>
          <p:cNvSpPr txBox="1"/>
          <p:nvPr/>
        </p:nvSpPr>
        <p:spPr>
          <a:xfrm>
            <a:off x="6903720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أستعمل ما تعلّمته عندما ...</a:t>
            </a:r>
            <a:endParaRPr lang="ar-SA" sz="1200" dirty="0"/>
          </a:p>
        </p:txBody>
      </p:sp>
      <p:sp>
        <p:nvSpPr>
          <p:cNvPr id="12" name="Card 12"/>
          <p:cNvSpPr/>
          <p:nvPr/>
        </p:nvSpPr>
        <p:spPr>
          <a:xfrm>
            <a:off x="4764024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Circle 13"/>
          <p:cNvSpPr/>
          <p:nvPr/>
        </p:nvSpPr>
        <p:spPr>
          <a:xfrm>
            <a:off x="5449824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4" name="Image 14" descr="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05" y="2587661"/>
            <a:ext cx="311079" cy="311079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4764024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قيمة أعتز بها</a:t>
            </a:r>
            <a:endParaRPr lang="ar-SA" sz="1600" dirty="0"/>
          </a:p>
        </p:txBody>
      </p:sp>
      <p:sp>
        <p:nvSpPr>
          <p:cNvPr id="16" name="Text 16"/>
          <p:cNvSpPr txBox="1"/>
          <p:nvPr/>
        </p:nvSpPr>
        <p:spPr>
          <a:xfrm>
            <a:off x="4901184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من هذا الدرس أعتز بقيمة ...</a:t>
            </a:r>
            <a:endParaRPr lang="ar-SA" sz="1200" dirty="0"/>
          </a:p>
        </p:txBody>
      </p:sp>
      <p:sp>
        <p:nvSpPr>
          <p:cNvPr id="17" name="Card 17"/>
          <p:cNvSpPr/>
          <p:nvPr/>
        </p:nvSpPr>
        <p:spPr>
          <a:xfrm>
            <a:off x="2761488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8" name="Circle 18"/>
          <p:cNvSpPr/>
          <p:nvPr/>
        </p:nvSpPr>
        <p:spPr>
          <a:xfrm>
            <a:off x="3447288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9" name="Image 19" descr="Fla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069" y="2587661"/>
            <a:ext cx="311079" cy="311079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2761488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وطني</a:t>
            </a:r>
            <a:endParaRPr lang="ar-SA" sz="1600" dirty="0"/>
          </a:p>
        </p:txBody>
      </p:sp>
      <p:sp>
        <p:nvSpPr>
          <p:cNvPr id="21" name="Text 21"/>
          <p:cNvSpPr txBox="1"/>
          <p:nvPr/>
        </p:nvSpPr>
        <p:spPr>
          <a:xfrm>
            <a:off x="2898648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إنجاز أو موروث وطني يرتبط بالدرس ...</a:t>
            </a:r>
            <a:endParaRPr lang="ar-SA" sz="1200" dirty="0"/>
          </a:p>
        </p:txBody>
      </p:sp>
      <p:sp>
        <p:nvSpPr>
          <p:cNvPr id="22" name="Card 22"/>
          <p:cNvSpPr/>
          <p:nvPr/>
        </p:nvSpPr>
        <p:spPr>
          <a:xfrm>
            <a:off x="758952" y="2331720"/>
            <a:ext cx="1920240" cy="21031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3" name="Circle 23"/>
          <p:cNvSpPr/>
          <p:nvPr/>
        </p:nvSpPr>
        <p:spPr>
          <a:xfrm>
            <a:off x="1444752" y="246888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4" name="Image 24" descr="Glo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533" y="2587661"/>
            <a:ext cx="311079" cy="311079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758952" y="31089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ثقافات العالم</a:t>
            </a:r>
            <a:endParaRPr lang="ar-SA" sz="1600" dirty="0"/>
          </a:p>
        </p:txBody>
      </p:sp>
      <p:sp>
        <p:nvSpPr>
          <p:cNvPr id="26" name="Text 26"/>
          <p:cNvSpPr txBox="1"/>
          <p:nvPr/>
        </p:nvSpPr>
        <p:spPr>
          <a:xfrm>
            <a:off x="896112" y="3520440"/>
            <a:ext cx="164592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كيف يُرى هذا في ثقافات أخرى؟ وماذا نتعلّم منها؟</a:t>
            </a:r>
            <a:endParaRPr lang="ar-SA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أنت تعمل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8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مهام متمايزة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6766560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10728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Accessibil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752" y="2335304"/>
            <a:ext cx="248863" cy="248863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903720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ادعمني</a:t>
            </a:r>
            <a:endParaRPr lang="ar-SA" sz="1700" dirty="0"/>
          </a:p>
        </p:txBody>
      </p:sp>
      <p:sp>
        <p:nvSpPr>
          <p:cNvPr id="13" name="Text 13"/>
          <p:cNvSpPr txBox="1"/>
          <p:nvPr/>
        </p:nvSpPr>
        <p:spPr>
          <a:xfrm>
            <a:off x="6903720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دعم فردي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6903720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مبسّطة بوسائل حسية أو صوتية، مع توجيه من المعلم.</a:t>
            </a:r>
            <a:endParaRPr lang="ar-SA" sz="1200" dirty="0"/>
          </a:p>
        </p:txBody>
      </p:sp>
      <p:sp>
        <p:nvSpPr>
          <p:cNvPr id="15" name="Card 15"/>
          <p:cNvSpPr/>
          <p:nvPr/>
        </p:nvSpPr>
        <p:spPr>
          <a:xfrm>
            <a:off x="4764024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6108192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Spr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216" y="2335304"/>
            <a:ext cx="248863" cy="248863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4901184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انطلق</a:t>
            </a:r>
            <a:endParaRPr lang="ar-SA" sz="1700" dirty="0"/>
          </a:p>
        </p:txBody>
      </p:sp>
      <p:sp>
        <p:nvSpPr>
          <p:cNvPr id="19" name="Text 19"/>
          <p:cNvSpPr txBox="1"/>
          <p:nvPr/>
        </p:nvSpPr>
        <p:spPr>
          <a:xfrm>
            <a:off x="4901184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الأساسي</a:t>
            </a:r>
            <a:endParaRPr lang="ar-SA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4901184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تتحقق من الفهم الأساسي، مع مثال مساعد.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4901184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</a:t>
            </a:r>
            <a:endParaRPr lang="ar-SA" sz="1400" dirty="0"/>
          </a:p>
        </p:txBody>
      </p:sp>
      <p:sp>
        <p:nvSpPr>
          <p:cNvPr id="22" name="Card 22"/>
          <p:cNvSpPr/>
          <p:nvPr/>
        </p:nvSpPr>
        <p:spPr>
          <a:xfrm>
            <a:off x="2761488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3" name="Circle 23"/>
          <p:cNvSpPr/>
          <p:nvPr/>
        </p:nvSpPr>
        <p:spPr>
          <a:xfrm>
            <a:off x="4105656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4" name="Image 24" descr="Mounta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680" y="2335304"/>
            <a:ext cx="248863" cy="248863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2898648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تقدّم</a:t>
            </a:r>
            <a:endParaRPr lang="ar-SA" sz="1700" dirty="0"/>
          </a:p>
        </p:txBody>
      </p:sp>
      <p:sp>
        <p:nvSpPr>
          <p:cNvPr id="26" name="Text 26"/>
          <p:cNvSpPr txBox="1"/>
          <p:nvPr/>
        </p:nvSpPr>
        <p:spPr>
          <a:xfrm>
            <a:off x="2898648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المتوسط</a:t>
            </a:r>
            <a:endParaRPr lang="ar-SA" sz="1000" dirty="0"/>
          </a:p>
        </p:txBody>
      </p:sp>
      <p:sp>
        <p:nvSpPr>
          <p:cNvPr id="27" name="Text 27"/>
          <p:cNvSpPr txBox="1"/>
          <p:nvPr/>
        </p:nvSpPr>
        <p:spPr>
          <a:xfrm>
            <a:off x="2898648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تطبيق في موقف جديد دون مساعدة.</a:t>
            </a:r>
            <a:endParaRPr lang="ar-SA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2898648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★★</a:t>
            </a:r>
            <a:endParaRPr lang="ar-SA" sz="1400" dirty="0"/>
          </a:p>
        </p:txBody>
      </p:sp>
      <p:sp>
        <p:nvSpPr>
          <p:cNvPr id="29" name="Card 29"/>
          <p:cNvSpPr/>
          <p:nvPr/>
        </p:nvSpPr>
        <p:spPr>
          <a:xfrm>
            <a:off x="758952" y="21031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3E6350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0" name="Circle 30"/>
          <p:cNvSpPr/>
          <p:nvPr/>
        </p:nvSpPr>
        <p:spPr>
          <a:xfrm>
            <a:off x="2103120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1" name="Image 31" descr="Rock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44" y="2335304"/>
            <a:ext cx="248863" cy="248863"/>
          </a:xfrm>
          <a:prstGeom prst="rect">
            <a:avLst/>
          </a:prstGeom>
        </p:spPr>
      </p:pic>
      <p:sp>
        <p:nvSpPr>
          <p:cNvPr id="32" name="Text 32"/>
          <p:cNvSpPr txBox="1"/>
          <p:nvPr/>
        </p:nvSpPr>
        <p:spPr>
          <a:xfrm>
            <a:off x="896112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تحدَّ</a:t>
            </a:r>
            <a:endParaRPr lang="ar-SA" sz="1700" dirty="0"/>
          </a:p>
        </p:txBody>
      </p:sp>
      <p:sp>
        <p:nvSpPr>
          <p:cNvPr id="33" name="Text 33"/>
          <p:cNvSpPr txBox="1"/>
          <p:nvPr/>
        </p:nvSpPr>
        <p:spPr>
          <a:xfrm>
            <a:off x="896112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CCF2DB"/>
                </a:solidFill>
                <a:latin typeface="IBM Plex Sans Arabic"/>
                <a:cs typeface="IBM Plex Sans Arabic"/>
              </a:rPr>
              <a:t>المستوى المتقدم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896112" y="2880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1200" dirty="0">
                <a:solidFill>
                  <a:srgbClr val="FFFFFF"/>
                </a:solidFill>
                <a:latin typeface="IBM Plex Sans Arabic"/>
                <a:cs typeface="IBM Plex Sans Arabic"/>
              </a:rPr>
              <a:t>ابحث في مصدر رقمي موثوق، ثم حلّل وقدّم حلًا لمشكلة مفتوحة.</a:t>
            </a:r>
            <a:endParaRPr lang="ar-SA" sz="1200" dirty="0"/>
          </a:p>
        </p:txBody>
      </p:sp>
      <p:sp>
        <p:nvSpPr>
          <p:cNvPr id="35" name="Text 35"/>
          <p:cNvSpPr txBox="1"/>
          <p:nvPr/>
        </p:nvSpPr>
        <p:spPr>
          <a:xfrm>
            <a:off x="896112" y="36118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★★★</a:t>
            </a:r>
            <a:endParaRPr lang="ar-SA" sz="1400" dirty="0"/>
          </a:p>
        </p:txBody>
      </p:sp>
      <p:sp>
        <p:nvSpPr>
          <p:cNvPr id="36" name="Card 36"/>
          <p:cNvSpPr/>
          <p:nvPr/>
        </p:nvSpPr>
        <p:spPr>
          <a:xfrm>
            <a:off x="758952" y="4041648"/>
            <a:ext cx="7927848" cy="438912"/>
          </a:xfrm>
          <a:prstGeom prst="roundRect">
            <a:avLst>
              <a:gd name="adj" fmla="val 20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pic>
        <p:nvPicPr>
          <p:cNvPr id="37" name="Image 37" descr="انطلاق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23944"/>
            <a:ext cx="274320" cy="274320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960120" y="4041648"/>
            <a:ext cx="7178040" cy="43891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أنهيت مهمتك؟ أكمل وحدك: </a:t>
            </a: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انتقل إلى المستوى التالي، أو تعلّم ذاتيًا من مصدر الإثراء.</a:t>
            </a:r>
            <a:endParaRPr lang="ar-SA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بطاقة الخروج 3 - 2 - 1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291840" y="2103120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92440" y="2194560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092440" y="219456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2000" dirty="0"/>
          </a:p>
        </p:txBody>
      </p:sp>
      <p:sp>
        <p:nvSpPr>
          <p:cNvPr id="12" name="Text 12"/>
          <p:cNvSpPr txBox="1"/>
          <p:nvPr/>
        </p:nvSpPr>
        <p:spPr>
          <a:xfrm>
            <a:off x="3520440" y="2103120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أشياء تعلّمتها اليوم</a:t>
            </a:r>
            <a:endParaRPr lang="ar-SA" sz="1600" dirty="0"/>
          </a:p>
        </p:txBody>
      </p:sp>
      <p:sp>
        <p:nvSpPr>
          <p:cNvPr id="13" name="Card 13"/>
          <p:cNvSpPr/>
          <p:nvPr/>
        </p:nvSpPr>
        <p:spPr>
          <a:xfrm>
            <a:off x="3291840" y="2889504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8092440" y="2980944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8092440" y="298094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2000" dirty="0"/>
          </a:p>
        </p:txBody>
      </p:sp>
      <p:sp>
        <p:nvSpPr>
          <p:cNvPr id="16" name="Text 16"/>
          <p:cNvSpPr txBox="1"/>
          <p:nvPr/>
        </p:nvSpPr>
        <p:spPr>
          <a:xfrm>
            <a:off x="3520440" y="2889504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فكرتان أستطيع تطبيقهما</a:t>
            </a:r>
            <a:endParaRPr lang="ar-SA" sz="1600" dirty="0"/>
          </a:p>
        </p:txBody>
      </p:sp>
      <p:sp>
        <p:nvSpPr>
          <p:cNvPr id="17" name="Card 17"/>
          <p:cNvSpPr/>
          <p:nvPr/>
        </p:nvSpPr>
        <p:spPr>
          <a:xfrm>
            <a:off x="3291840" y="3675888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8" name="Circle 18"/>
          <p:cNvSpPr/>
          <p:nvPr/>
        </p:nvSpPr>
        <p:spPr>
          <a:xfrm>
            <a:off x="8092440" y="3767328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8092440" y="376732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2000" dirty="0"/>
          </a:p>
        </p:txBody>
      </p:sp>
      <p:sp>
        <p:nvSpPr>
          <p:cNvPr id="20" name="Text 20"/>
          <p:cNvSpPr txBox="1"/>
          <p:nvPr/>
        </p:nvSpPr>
        <p:spPr>
          <a:xfrm>
            <a:off x="3520440" y="3675888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سؤال ما زال لديّ</a:t>
            </a:r>
            <a:endParaRPr lang="ar-SA" sz="1600" dirty="0"/>
          </a:p>
        </p:txBody>
      </p:sp>
      <p:sp>
        <p:nvSpPr>
          <p:cNvPr id="21" name="Card 21"/>
          <p:cNvSpPr/>
          <p:nvPr/>
        </p:nvSpPr>
        <p:spPr>
          <a:xfrm>
            <a:off x="457200" y="2103120"/>
            <a:ext cx="265176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152704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Lap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930" y="23491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594360" y="281635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إلكترونيًا؟</a:t>
            </a:r>
            <a:endParaRPr lang="ar-SA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640080" y="3182112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رمز QR لنموذج أو اختبار قصير في البوابة أو منصة مدرستي.</a:t>
            </a:r>
            <a:endParaRPr lang="ar-SA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الخلاصة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تعلّمنا اليوم؟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خلاصة الدرس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يصوغها الطلاب بأنفسهم.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نعود إلى عمود «ماذا تعلّمت؟».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نربطها بأهداف الحصة.</a:t>
            </a:r>
            <a:endParaRPr lang="ar-SA" sz="1400" dirty="0"/>
          </a:p>
          <a:p>
            <a:pPr rtl="1" algn="r" marL="285750" indent="-285750">
              <a:spcAft>
                <a:spcPts val="6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أفخر اليوم بأنني ...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قيّم فهمك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931920" y="2779776"/>
            <a:ext cx="310896" cy="31089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31520" y="274320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وأستطيع أن أشرح لزميلي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3931920" y="3328416"/>
            <a:ext cx="310896" cy="310896"/>
          </a:xfrm>
          <a:prstGeom prst="ellipse">
            <a:avLst/>
          </a:prstGeom>
          <a:solidFill>
            <a:srgbClr val="C9A13B"/>
          </a:solidFill>
          <a:ln w="12700">
            <a:solidFill>
              <a:srgbClr val="C9A13B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731520" y="329184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وأحتاج إلى مزيد من التدريب</a:t>
            </a:r>
            <a:endParaRPr lang="ar-SA" sz="1300" dirty="0"/>
          </a:p>
        </p:txBody>
      </p:sp>
      <p:sp>
        <p:nvSpPr>
          <p:cNvPr id="18" name="Circle 18"/>
          <p:cNvSpPr/>
          <p:nvPr/>
        </p:nvSpPr>
        <p:spPr>
          <a:xfrm>
            <a:off x="3931920" y="3877056"/>
            <a:ext cx="310896" cy="310896"/>
          </a:xfrm>
          <a:prstGeom prst="ellipse">
            <a:avLst/>
          </a:prstGeom>
          <a:solidFill>
            <a:srgbClr val="A23B3B"/>
          </a:solidFill>
          <a:ln w="12700">
            <a:solidFill>
              <a:srgbClr val="A23B3B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731520" y="38404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أحتاج إلى مساعدة</a:t>
            </a:r>
            <a:endParaRPr lang="ar-SA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الممتد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بعد الحصة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3566160" y="2103120"/>
            <a:ext cx="51206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Notebook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3794760" y="2240280"/>
            <a:ext cx="402336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الواجب</a:t>
            </a:r>
            <a:endParaRPr lang="ar-SA" sz="1800" dirty="0"/>
          </a:p>
        </p:txBody>
      </p:sp>
      <p:sp>
        <p:nvSpPr>
          <p:cNvPr id="10" name="Text 10"/>
          <p:cNvSpPr txBox="1"/>
          <p:nvPr/>
        </p:nvSpPr>
        <p:spPr>
          <a:xfrm>
            <a:off x="3794760" y="288036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المهمة: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قصير مرتبط بأهداف اليوم.</a:t>
            </a:r>
            <a:endParaRPr lang="ar-SA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3794760" y="324612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المنصة: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منصة مدرستي أو البوابة.</a:t>
            </a:r>
            <a:endParaRPr lang="ar-SA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3794760" y="361188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التسليم: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قبل الحصة القادمة.</a:t>
            </a:r>
            <a:endParaRPr lang="ar-SA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3794760" y="39776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التقييم: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وفق معايير النجاح المعروضة.</a:t>
            </a:r>
            <a:endParaRPr lang="ar-SA" sz="1300" dirty="0"/>
          </a:p>
        </p:txBody>
      </p:sp>
      <p:sp>
        <p:nvSpPr>
          <p:cNvPr id="14" name="Card 14"/>
          <p:cNvSpPr/>
          <p:nvPr/>
        </p:nvSpPr>
        <p:spPr>
          <a:xfrm>
            <a:off x="457200" y="2103120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5" name="Circle 15"/>
          <p:cNvSpPr/>
          <p:nvPr/>
        </p:nvSpPr>
        <p:spPr>
          <a:xfrm>
            <a:off x="2697480" y="2258568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6" name="Image 16" descr="Spark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464" y="2357552"/>
            <a:ext cx="259232" cy="259232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40080" y="2258568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إثراء اختياري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640080" y="276148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مصدر للتعلم الذاتي أو تحدٍّ للتوسع.</a:t>
            </a:r>
            <a:endParaRPr lang="ar-SA" sz="1200" dirty="0"/>
          </a:p>
        </p:txBody>
      </p:sp>
      <p:sp>
        <p:nvSpPr>
          <p:cNvPr id="19" name="Card 19"/>
          <p:cNvSpPr/>
          <p:nvPr/>
        </p:nvSpPr>
        <p:spPr>
          <a:xfrm>
            <a:off x="457200" y="3319272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2697480" y="3474720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1" name="Image 21" descr="Book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464" y="3573704"/>
            <a:ext cx="259232" cy="259232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640080" y="347472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الدرس القادم</a:t>
            </a:r>
            <a:endParaRPr lang="ar-SA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640080" y="3977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عنوان الدرس وما نحضّره له.</a:t>
            </a:r>
            <a:endParaRPr lang="ar-SA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005840"/>
            <a:ext cx="914400" cy="9144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أحسنتم!</a:t>
            </a:r>
            <a:endParaRPr lang="ar-SA" sz="40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شكرًا لتفاعلكم اليوم</a:t>
            </a:r>
            <a:endParaRPr lang="ar-SA" sz="20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A9BCB1"/>
                </a:solidFill>
                <a:latin typeface="IBM Plex Sans Arabic"/>
                <a:cs typeface="IBM Plex Sans Arabic"/>
              </a:rPr>
              <a:t>معلم المادة</a:t>
            </a:r>
            <a:endParaRPr lang="ar-SA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endParaRPr lang="ar-SA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1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50</a:t>
            </a:r>
            <a:endParaRPr lang="ar-SA" sz="11000" dirty="0"/>
          </a:p>
        </p:txBody>
      </p:sp>
      <p:sp>
        <p:nvSpPr>
          <p:cNvPr id="3" name="Text 3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ملحق للمعلم — شرائح مخفية لا تظهر أثناء العرض</a:t>
            </a:r>
            <a:endParaRPr lang="ar-SA" sz="16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30632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دليل الحصة النموذجية</a:t>
            </a:r>
            <a:endParaRPr lang="ar-SA" sz="36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A9BCB1"/>
                </a:solidFill>
                <a:latin typeface="IBM Plex Sans Arabic"/>
                <a:cs typeface="IBM Plex Sans Arabic"/>
              </a:rPr>
              <a:t>راجعه قبل الزيارة، ويمكنك حذفه بعد الاطلاع.</a:t>
            </a:r>
            <a:endParaRPr lang="ar-SA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(1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423160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قيمة أعتز بها، ووطني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تعزيز القيم الإسلامية والهوية الوطنية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الاتفاقات، و«الخطأ فرصة للتعلم»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مناخ آمن للتعلم نفسيًا واجتماعيًا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حسية، و«ادعمني» و«تحدَّ»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وأنشطة متنوعة لذوي الإعاقة والموهوبين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الحصة، وشارة الزمن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إدارة الوقت بفاعلية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الأدوار، والإجابة الجماعية، والاختيار العشوائي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فرص متكافئة في الأنشطة والمناقشة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التهيئة، والمفاهيم، وأوراق العمل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تعلم متنوعة تدعم المنهج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الأهداف، والشرح بالمثال، والتعاوني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أنشطة وإستراتيجيات تستوفي نواتج 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والمسارات الأربعة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تنوع الإستراتيجيات وفق القدرات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الاستجابة الرقمية، وQR، وبحث 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تعلم رقمية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(2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180844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في حياتي، ومهمة المجموعة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تطبيقات عملية ترتبط بالحياة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مهمة المجموعة، وبطاقة الخروج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تنمية القراءة والكتابة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مهمة المجموعة (احسبوا أو نظّموا في جدول)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تنمية المهارات العددية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التفكير، و«تحدَّ»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التفكير والبحث والابتكار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التعاوني، وتقويم الأقران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المهارات العاطفية والاجتماعية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نقاط المجموعات، والاحتفاء بالفائز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أساليب تحفيز تعزز الدافعية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الحصة كلها: أدوار وتعاون وتحدٍّ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مشاركة فاعلة واستمتاع بالتعلم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والتحقق، والخروج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تقويم تشخيصي وبنائي وختامي يكشف الفروق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منصة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(3 من 3)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180844"/>
        </p:xfrm>
        <a:graphic>
          <a:graphicData uri="http://schemas.openxmlformats.org/drawingml/2006/table">
            <a:tbl>
              <a:tblPr rtl="1" firstRow="1" bandRow="1"/>
              <a:tblGrid>
                <a:gridCol w="4023360"/>
                <a:gridCol w="379476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بطاقة الخروج، ومعايير النجاح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قياس تحقق نواتج 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التجوال، و«نجمتان وأمنية»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تغذية راجعة متنوعة تحسّن الأداء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الطالب يُكمل: قيمة أعتز بها، ووطني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الطلاب يعتزون بالقيم والهوية الوطنية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«أفخر اليوم بأنني»، و«أعجبني في عرضكم»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اتجاهات إيجابية نحو الذات والآخرين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«نحافظ على صحتنا» في الاتفاقات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الالتزام بالممارسات الصحية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الاتفاقات الصفية، وإشارة الصمت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الالتزام بقواعد السلوك والانضباط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اختيار المسار، و«أكمل وحدك»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الاستقلالية والتعلم الذاتي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الطالب يُكمل: ثقافات العالم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الاعتزاز بالثقافة واحترام التنوع الثقافي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حسب المادة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اختر ما يناسب مادتك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29968"/>
          <a:ext cx="8229600" cy="2414016"/>
        </p:xfrm>
        <a:graphic>
          <a:graphicData uri="http://schemas.openxmlformats.org/drawingml/2006/table">
            <a:tbl>
              <a:tblPr rtl="1" firstRow="1" bandRow="1"/>
              <a:tblGrid>
                <a:gridCol w="1828800"/>
                <a:gridCol w="2651760"/>
                <a:gridCol w="2011680"/>
                <a:gridCol w="1737360"/>
              </a:tblGrid>
              <a:tr h="301752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تقويم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نشاط تعلّم نشط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تهيئة مقترحة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المادة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لوح الإجابات الصغير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حل مشكلات بالأزواج، محطات 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لغز أو نمط عددي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الرياضيات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توقّع، لاحظ، فسّر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استقصاء موجّه، مختبر افتراضي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تجربة أو ظاهرة مثيرة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العلوم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تحليل جملة في بطاقة 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القراءة التبادلية، الكرسي الساخن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بيت شعر أو نص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العربية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بطاقة خروج قصيرة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‎Role play‎، فجوة المعلومات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صورة مع ‎Guess what?‎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الإنجليزية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تطبيق قيمي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خرائط المفاهيم، دراسة حالة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آية أو موقف من السيرة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الدراسات الإسلامية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خط زمني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معرض التجوّل، المناظرة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أو خبر معاصر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الاجتماعيات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تحدٍّ عملي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البرمجة الثنائية، مشروع مصغّر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مشكلة رقمية من الواقع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الحاسب والتقنية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مدرسة مكة الثانوية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قالب الحصة النموذجية — مدرسة مكة الثانوية</dc:title>
  <dc:subject>PptxGenJS Presentation</dc:subject>
  <dc:creator>بوابة مكة الثانوية الرقمية</dc:creator>
  <cp:lastModifiedBy>بوابة مكة الثانوية الرقمية</cp:lastModifiedBy>
  <cp:revision>1</cp:revision>
  <dcterms:created xsi:type="dcterms:W3CDTF">2026-09-30T19:04:56Z</dcterms:created>
  <dcterms:modified xsi:type="dcterms:W3CDTF">2026-09-30T19:04:56Z</dcterms:modified>
</cp:coreProperties>
</file>