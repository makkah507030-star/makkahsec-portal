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النسبة</c:v>
                </c:pt>
              </c:strCache>
            </c:strRef>
          </c:tx>
          <c:spPr>
            <a:solidFill>
              <a:srgbClr val="3E63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3328"/>
                    </a:solidFill>
                    <a:latin typeface="IBM Plex Sans Arab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الأسبوع 1</c:v>
                  </c:pt>
                  <c:pt idx="1">
                    <c:v>الأسبوع 2</c:v>
                  </c:pt>
                  <c:pt idx="2">
                    <c:v>الأسبوع 3</c:v>
                  </c:pt>
                  <c:pt idx="3">
                    <c:v>الأسبوع 4</c:v>
                  </c:pt>
                  <c:pt idx="4">
                    <c:v>الأسبوع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</c:v>
                </c:pt>
                <c:pt idx="1">
                  <c:v>70</c:v>
                </c:pt>
                <c:pt idx="2">
                  <c:v>74</c:v>
                </c:pt>
                <c:pt idx="3">
                  <c:v>81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3328"/>
                  </a:solidFill>
                  <a:latin typeface="IBM Plex Sans Arab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7268"/>
                </a:solidFill>
                <a:latin typeface="IBM Plex Sans Arab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الغلاف: غيّر العنوان والعنوان الفرعي واسم مقدّم العرض والتاريخ.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akkah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akkahTitle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MakkahDark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عنوان و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الشريحة</a:t>
            </a:r>
            <a:endParaRPr lang="ar-SA" sz="30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457200" y="1645920"/>
            <a:ext cx="822960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اكتب المحتوى هنا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غامقة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8-image-1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960120"/>
            <a:ext cx="91440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21031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223760" y="21031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عرض تقديمي</a:t>
            </a:r>
            <a:endParaRPr lang="ar-SA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العرض التقديمي</a:t>
            </a:r>
            <a:endParaRPr lang="ar-SA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العنوان الفرعي أو المناسبة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إعداد: </a:t>
            </a:r>
            <a:pPr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اسم مقدّم العرض</a:t>
            </a:r>
            <a:pPr algn="r" indent="0" marL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     ·     1448/04/19 هـ</a:t>
            </a:r>
            <a:endParaRPr lang="ar-SA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المحتويات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محاور العرض</a:t>
            </a:r>
            <a:endParaRPr lang="ar-SA" sz="3000" dirty="0"/>
          </a:p>
        </p:txBody>
      </p:sp>
      <p:sp>
        <p:nvSpPr>
          <p:cNvPr id="5" name="Shape 3"/>
          <p:cNvSpPr/>
          <p:nvPr/>
        </p:nvSpPr>
        <p:spPr>
          <a:xfrm>
            <a:off x="3108960" y="2057400"/>
            <a:ext cx="5577840" cy="420624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83880" y="2121408"/>
            <a:ext cx="402336" cy="292608"/>
          </a:xfrm>
          <a:prstGeom prst="roundRect">
            <a:avLst>
              <a:gd name="adj" fmla="val 25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83880" y="212140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0574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والأهداف</a:t>
            </a:r>
            <a:endParaRPr lang="ar-SA" sz="1500" dirty="0"/>
          </a:p>
        </p:txBody>
      </p:sp>
      <p:sp>
        <p:nvSpPr>
          <p:cNvPr id="9" name="Shape 7"/>
          <p:cNvSpPr/>
          <p:nvPr/>
        </p:nvSpPr>
        <p:spPr>
          <a:xfrm>
            <a:off x="3108960" y="2569464"/>
            <a:ext cx="5577840" cy="420624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183880" y="2633472"/>
            <a:ext cx="402336" cy="292608"/>
          </a:xfrm>
          <a:prstGeom prst="roundRect">
            <a:avLst>
              <a:gd name="adj" fmla="val 25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263347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56946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أُنجز خلال الفترة</a:t>
            </a:r>
            <a:endParaRPr lang="ar-SA" sz="1500" dirty="0"/>
          </a:p>
        </p:txBody>
      </p:sp>
      <p:sp>
        <p:nvSpPr>
          <p:cNvPr id="13" name="Shape 11"/>
          <p:cNvSpPr/>
          <p:nvPr/>
        </p:nvSpPr>
        <p:spPr>
          <a:xfrm>
            <a:off x="3108960" y="3081528"/>
            <a:ext cx="5577840" cy="420624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83880" y="3145536"/>
            <a:ext cx="402336" cy="292608"/>
          </a:xfrm>
          <a:prstGeom prst="roundRect">
            <a:avLst>
              <a:gd name="adj" fmla="val 25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314553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308152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الأرقام والنتائج</a:t>
            </a:r>
            <a:endParaRPr lang="ar-SA" sz="1500" dirty="0"/>
          </a:p>
        </p:txBody>
      </p:sp>
      <p:sp>
        <p:nvSpPr>
          <p:cNvPr id="17" name="Shape 15"/>
          <p:cNvSpPr/>
          <p:nvPr/>
        </p:nvSpPr>
        <p:spPr>
          <a:xfrm>
            <a:off x="3108960" y="3593592"/>
            <a:ext cx="5577840" cy="420624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83880" y="3657600"/>
            <a:ext cx="402336" cy="292608"/>
          </a:xfrm>
          <a:prstGeom prst="roundRect">
            <a:avLst>
              <a:gd name="adj" fmla="val 25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3880" y="365760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359359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الخطوات القادمة</a:t>
            </a:r>
            <a:endParaRPr lang="ar-SA" sz="1500" dirty="0"/>
          </a:p>
        </p:txBody>
      </p:sp>
      <p:sp>
        <p:nvSpPr>
          <p:cNvPr id="21" name="Shape 19"/>
          <p:cNvSpPr/>
          <p:nvPr/>
        </p:nvSpPr>
        <p:spPr>
          <a:xfrm>
            <a:off x="3108960" y="4105656"/>
            <a:ext cx="5577840" cy="420624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83880" y="4169664"/>
            <a:ext cx="402336" cy="292608"/>
          </a:xfrm>
          <a:prstGeom prst="roundRect">
            <a:avLst>
              <a:gd name="adj" fmla="val 25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83880" y="416966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410565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التوصيات</a:t>
            </a:r>
            <a:endParaRPr lang="ar-SA" sz="1500" dirty="0"/>
          </a:p>
        </p:txBody>
      </p:sp>
      <p:pic>
        <p:nvPicPr>
          <p:cNvPr id="25" name="Image 0" descr="/tmp/claude-0/-home-user-makkahsec-portal/81425304-7752-5996-897d-781fd4f2ca15/scratchpad/office/img/logo-full-m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103120" cy="14344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D9B45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القسم الأول</a:t>
            </a:r>
            <a:endParaRPr lang="ar-SA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6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القسم</a:t>
            </a:r>
            <a:endParaRPr lang="ar-SA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A9BCB1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سطر يلخّص محتوى هذا القسم</a:t>
            </a:r>
            <a:endParaRPr lang="ar-SA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الشريحة</a:t>
            </a:r>
            <a:endParaRPr lang="ar-SA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10312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النقطة الأولى: جملة قصيرة وواضحة.</a:t>
            </a:r>
            <a:endParaRPr lang="ar-SA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النقطة الثانية: فكرة واحدة في كل سطر.</a:t>
            </a:r>
            <a:endParaRPr lang="ar-SA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النقطة الثالثة: لا تزيد النقاط على خمس.</a:t>
            </a:r>
            <a:endParaRPr lang="ar-SA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•"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النقطة الرابعة: استخدم الأرقام الإنجليزية (2026).</a:t>
            </a:r>
            <a:endParaRPr lang="ar-SA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743200" cy="2286000"/>
          </a:xfrm>
          <a:prstGeom prst="roundRect">
            <a:avLst>
              <a:gd name="adj" fmla="val 56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54480" y="2331720"/>
            <a:ext cx="566928" cy="566928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204" y="2456444"/>
            <a:ext cx="317480" cy="317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3063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الفكرة الرئيسة</a:t>
            </a:r>
            <a:endParaRPr lang="ar-SA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اكتب هنا الرسالة التي تريد أن يتذكرها الحضور.</a:t>
            </a:r>
            <a:endParaRPr lang="ar-S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 وبعد</a:t>
            </a:r>
            <a:endParaRPr lang="ar-SA" sz="3000" dirty="0"/>
          </a:p>
        </p:txBody>
      </p:sp>
      <p:sp>
        <p:nvSpPr>
          <p:cNvPr id="5" name="Shape 3"/>
          <p:cNvSpPr/>
          <p:nvPr/>
        </p:nvSpPr>
        <p:spPr>
          <a:xfrm>
            <a:off x="4663440" y="2057400"/>
            <a:ext cx="402336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937760" y="2240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27889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الوضع السابق في نقطة</a:t>
            </a:r>
            <a:endParaRPr lang="ar-SA" sz="14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تحدٍّ واجهناه</a:t>
            </a:r>
            <a:endParaRPr lang="ar-SA" sz="14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كان يستغرقه الإجراء</a:t>
            </a:r>
            <a:endParaRPr lang="ar-SA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4023360" cy="2514600"/>
          </a:xfrm>
          <a:prstGeom prst="roundRect">
            <a:avLst>
              <a:gd name="adj" fmla="val 5091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240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بعد</a:t>
            </a:r>
            <a:endParaRPr lang="ar-SA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889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تحقق بعد التطبيق</a:t>
            </a:r>
            <a:endParaRPr lang="ar-SA" sz="14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على الطلاب</a:t>
            </a:r>
            <a:endParaRPr lang="ar-SA" sz="14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الوقت الذي وُفّر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صورة ونص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مع صورة</a:t>
            </a:r>
            <a:endParaRPr lang="ar-SA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11880"/>
          </a:xfrm>
          <a:prstGeom prst="roundRect">
            <a:avLst>
              <a:gd name="adj" fmla="val 4557"/>
            </a:avLst>
          </a:prstGeom>
          <a:solidFill>
            <a:srgbClr val="EDFAF2"/>
          </a:solidFill>
          <a:ln w="19050">
            <a:solidFill>
              <a:srgbClr val="CCF2DB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اسحب صورتك هنا ثم «إرسال إلى الخلف»</a:t>
            </a:r>
            <a:endParaRPr lang="ar-SA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21031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مختصر للصورة أو الحدث: متى وأين، ومن شارك، وما النتيجة. اجعل الفقرة في ثلاثة أسطر أو أربعة.</a:t>
            </a:r>
            <a:endParaRPr lang="ar-SA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3566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التاريخ: 1448/04/19 هـ</a:t>
            </a:r>
            <a:endParaRPr lang="ar-S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بالأرقام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أبرز الأرقام</a:t>
            </a:r>
            <a:endParaRPr lang="ar-SA" sz="3000" dirty="0"/>
          </a:p>
        </p:txBody>
      </p:sp>
      <p:sp>
        <p:nvSpPr>
          <p:cNvPr id="5" name="Shape 3"/>
          <p:cNvSpPr/>
          <p:nvPr/>
        </p:nvSpPr>
        <p:spPr>
          <a:xfrm>
            <a:off x="6766560" y="2148840"/>
            <a:ext cx="1920240" cy="2240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43216" y="233172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917" y="245242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0" y="29718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240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76656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طالبًا مستهدفًا</a:t>
            </a:r>
            <a:endParaRPr lang="ar-SA" sz="1300" dirty="0"/>
          </a:p>
        </p:txBody>
      </p:sp>
      <p:sp>
        <p:nvSpPr>
          <p:cNvPr id="10" name="Shape 7"/>
          <p:cNvSpPr/>
          <p:nvPr/>
        </p:nvSpPr>
        <p:spPr>
          <a:xfrm>
            <a:off x="4764024" y="2148840"/>
            <a:ext cx="1920240" cy="2240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40680" y="233172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381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64024" y="29718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88%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4764024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نسبة الاستفادة</a:t>
            </a:r>
            <a:endParaRPr lang="ar-SA" sz="1300" dirty="0"/>
          </a:p>
        </p:txBody>
      </p:sp>
      <p:sp>
        <p:nvSpPr>
          <p:cNvPr id="15" name="Shape 11"/>
          <p:cNvSpPr/>
          <p:nvPr/>
        </p:nvSpPr>
        <p:spPr>
          <a:xfrm>
            <a:off x="2761488" y="2148840"/>
            <a:ext cx="1920240" cy="2240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438144" y="233172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8845" y="245242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761488" y="29718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2761488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برنامجًا منفّذًا</a:t>
            </a:r>
            <a:endParaRPr lang="ar-SA" sz="1300" dirty="0"/>
          </a:p>
        </p:txBody>
      </p:sp>
      <p:sp>
        <p:nvSpPr>
          <p:cNvPr id="20" name="Shape 15"/>
          <p:cNvSpPr/>
          <p:nvPr/>
        </p:nvSpPr>
        <p:spPr>
          <a:xfrm>
            <a:off x="758952" y="2148840"/>
            <a:ext cx="1920240" cy="2240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435608" y="233172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6309" y="245242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8952" y="29718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35</a:t>
            </a:r>
            <a:endParaRPr lang="en-US" sz="3600" dirty="0"/>
          </a:p>
        </p:txBody>
      </p:sp>
      <p:sp>
        <p:nvSpPr>
          <p:cNvPr id="24" name="Text 18"/>
          <p:cNvSpPr txBox="1"/>
          <p:nvPr/>
        </p:nvSpPr>
        <p:spPr>
          <a:xfrm>
            <a:off x="758952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ساعة تدريبية</a:t>
            </a:r>
            <a:endParaRPr lang="ar-S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رسم بياني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تطور النتائج</a:t>
            </a:r>
            <a:endParaRPr lang="ar-SA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91840" y="201168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2103120"/>
            <a:ext cx="2560320" cy="2377440"/>
          </a:xfrm>
          <a:prstGeom prst="roundRect">
            <a:avLst>
              <a:gd name="adj" fmla="val 5385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331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88%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1546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ارتفعت النسبة 26 نقطة خلال خمسة أسابيع. انقر على الرسم بالزر الأيمن ← «تحرير البيانات».</a:t>
            </a:r>
            <a:endParaRPr lang="ar-S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جدول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جدول البيانات</a:t>
            </a:r>
            <a:endParaRPr lang="ar-SA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743200"/>
                <a:gridCol w="2103120"/>
                <a:gridCol w="155448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البند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المسؤول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الموعد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الحالة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63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1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اجتماع اللجنة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وكيل شؤون الطلاب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1448/03/10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منفّذ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2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حصر الحالات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الموجّه الطلابي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1448/03/17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منفّذ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3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التواصل مع الأسر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رواد الفصول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1448/03/24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جارٍ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4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تقرير الإنجاز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الإدارة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1448/04/01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332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قادم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B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خط زمني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مراحل التنفيذ</a:t>
            </a:r>
            <a:endParaRPr lang="ar-SA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926080"/>
            <a:ext cx="7498080" cy="0"/>
          </a:xfrm>
          <a:prstGeom prst="line">
            <a:avLst/>
          </a:prstGeom>
          <a:noFill/>
          <a:ln w="38100">
            <a:solidFill>
              <a:srgbClr val="CCF2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2743200"/>
            <a:ext cx="365760" cy="365760"/>
          </a:xfrm>
          <a:prstGeom prst="ellipse">
            <a:avLst/>
          </a:prstGeom>
          <a:solidFill>
            <a:srgbClr val="3E635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محرم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الإطلاق</a:t>
            </a:r>
            <a:endParaRPr lang="ar-SA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قصير للمرحلة</a:t>
            </a:r>
            <a:endParaRPr lang="ar-SA" sz="1100" dirty="0"/>
          </a:p>
        </p:txBody>
      </p:sp>
      <p:sp>
        <p:nvSpPr>
          <p:cNvPr id="10" name="Shape 8"/>
          <p:cNvSpPr/>
          <p:nvPr/>
        </p:nvSpPr>
        <p:spPr>
          <a:xfrm>
            <a:off x="6263640" y="2743200"/>
            <a:ext cx="365760" cy="365760"/>
          </a:xfrm>
          <a:prstGeom prst="ellipse">
            <a:avLst/>
          </a:prstGeom>
          <a:solidFill>
            <a:srgbClr val="3E635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صفر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التدريب</a:t>
            </a:r>
            <a:endParaRPr lang="ar-SA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قصير للمرحلة</a:t>
            </a:r>
            <a:endParaRPr lang="ar-SA" sz="1100" dirty="0"/>
          </a:p>
        </p:txBody>
      </p:sp>
      <p:sp>
        <p:nvSpPr>
          <p:cNvPr id="14" name="Shape 12"/>
          <p:cNvSpPr/>
          <p:nvPr/>
        </p:nvSpPr>
        <p:spPr>
          <a:xfrm>
            <a:off x="4389120" y="2743200"/>
            <a:ext cx="365760" cy="365760"/>
          </a:xfrm>
          <a:prstGeom prst="ellipse">
            <a:avLst/>
          </a:prstGeom>
          <a:solidFill>
            <a:srgbClr val="89D7A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904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ربيع الأول</a:t>
            </a:r>
            <a:endParaRPr lang="ar-SA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التطبيق</a:t>
            </a:r>
            <a:endParaRPr lang="ar-SA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قصير للمرحلة</a:t>
            </a:r>
            <a:endParaRPr lang="ar-SA" sz="11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365760" cy="365760"/>
          </a:xfrm>
          <a:prstGeom prst="ellipse">
            <a:avLst/>
          </a:prstGeom>
          <a:solidFill>
            <a:srgbClr val="89D7A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7452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ربيع الآخر</a:t>
            </a:r>
            <a:endParaRPr lang="ar-SA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87452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القياس</a:t>
            </a:r>
            <a:endParaRPr lang="ar-SA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87452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قصير للمرحلة</a:t>
            </a:r>
            <a:endParaRPr lang="ar-SA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743200"/>
            <a:ext cx="365760" cy="365760"/>
          </a:xfrm>
          <a:prstGeom prst="ellipse">
            <a:avLst/>
          </a:prstGeom>
          <a:solidFill>
            <a:srgbClr val="89D7A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جمادى الأولى</a:t>
            </a:r>
            <a:endParaRPr lang="ar-SA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</a:t>
            </a:r>
            <a:endParaRPr lang="ar-SA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قصير للمرحلة</a:t>
            </a:r>
            <a:endParaRPr lang="ar-SA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خطوات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نعمل؟</a:t>
            </a:r>
            <a:endParaRPr lang="ar-SA" sz="3000" dirty="0"/>
          </a:p>
        </p:txBody>
      </p:sp>
      <p:sp>
        <p:nvSpPr>
          <p:cNvPr id="5" name="Shape 3"/>
          <p:cNvSpPr/>
          <p:nvPr/>
        </p:nvSpPr>
        <p:spPr>
          <a:xfrm>
            <a:off x="6675120" y="2103120"/>
            <a:ext cx="1874520" cy="2286000"/>
          </a:xfrm>
          <a:prstGeom prst="roundRect">
            <a:avLst>
              <a:gd name="adj" fmla="val 6829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33488" y="228600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3488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971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نرصد</a:t>
            </a:r>
            <a:endParaRPr lang="ar-SA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812280" y="34747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الخطوة في سطرين قصيرين.</a:t>
            </a:r>
            <a:endParaRPr lang="ar-SA" sz="1200" dirty="0"/>
          </a:p>
        </p:txBody>
      </p:sp>
      <p:sp>
        <p:nvSpPr>
          <p:cNvPr id="10" name="Text 8"/>
          <p:cNvSpPr/>
          <p:nvPr/>
        </p:nvSpPr>
        <p:spPr>
          <a:xfrm>
            <a:off x="6419088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17720" y="2103120"/>
            <a:ext cx="1874520" cy="228600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76088" y="228600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76088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971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نحلّل</a:t>
            </a:r>
            <a:endParaRPr lang="ar-SA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4747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الخطوة في سطرين قصيرين.</a:t>
            </a:r>
            <a:endParaRPr lang="ar-SA" sz="1200" dirty="0"/>
          </a:p>
        </p:txBody>
      </p:sp>
      <p:sp>
        <p:nvSpPr>
          <p:cNvPr id="16" name="Text 14"/>
          <p:cNvSpPr/>
          <p:nvPr/>
        </p:nvSpPr>
        <p:spPr>
          <a:xfrm>
            <a:off x="4361688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60320" y="2103120"/>
            <a:ext cx="1874520" cy="228600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18688" y="228600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971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ننفّذ</a:t>
            </a:r>
            <a:endParaRPr lang="ar-S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34747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الخطوة في سطرين قصيرين.</a:t>
            </a:r>
            <a:endParaRPr lang="ar-SA" sz="1200" dirty="0"/>
          </a:p>
        </p:txBody>
      </p:sp>
      <p:sp>
        <p:nvSpPr>
          <p:cNvPr id="22" name="Text 20"/>
          <p:cNvSpPr/>
          <p:nvPr/>
        </p:nvSpPr>
        <p:spPr>
          <a:xfrm>
            <a:off x="2304288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2920" y="2103120"/>
            <a:ext cx="1874520" cy="228600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161288" y="228600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61288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2971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نقيس</a:t>
            </a:r>
            <a:endParaRPr lang="ar-SA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4747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وصف الخطوة في سطرين قصيرين.</a:t>
            </a:r>
            <a:endParaRPr lang="ar-S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7772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«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«العلم نورٌ يُضيء الطريق، والعمل به يصنع الأثر.»</a:t>
            </a:r>
            <a:endParaRPr lang="ar-SA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— اسم القائل أو المصدر</a:t>
            </a:r>
            <a:endParaRPr lang="ar-SA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العمل</a:t>
            </a:r>
            <a:endParaRPr lang="ar-SA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العمل</a:t>
            </a:r>
            <a:endParaRPr lang="ar-SA" sz="3000" dirty="0"/>
          </a:p>
        </p:txBody>
      </p:sp>
      <p:sp>
        <p:nvSpPr>
          <p:cNvPr id="5" name="Shape 3"/>
          <p:cNvSpPr/>
          <p:nvPr/>
        </p:nvSpPr>
        <p:spPr>
          <a:xfrm>
            <a:off x="6766560" y="2057400"/>
            <a:ext cx="1920240" cy="24231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69480" y="2240280"/>
            <a:ext cx="914400" cy="914400"/>
          </a:xfrm>
          <a:prstGeom prst="ellipse">
            <a:avLst/>
          </a:prstGeom>
          <a:solidFill>
            <a:srgbClr val="EDFAF2"/>
          </a:solidFill>
          <a:ln w="31750">
            <a:solidFill>
              <a:srgbClr val="89D7A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468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0" y="3291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عبدالله بن حسن الفيفي</a:t>
            </a:r>
            <a:endParaRPr lang="ar-SA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3840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مدير المدرسة</a:t>
            </a:r>
            <a:endParaRPr lang="ar-SA" sz="1100" dirty="0"/>
          </a:p>
        </p:txBody>
      </p:sp>
      <p:sp>
        <p:nvSpPr>
          <p:cNvPr id="10" name="Shape 7"/>
          <p:cNvSpPr/>
          <p:nvPr/>
        </p:nvSpPr>
        <p:spPr>
          <a:xfrm>
            <a:off x="4764024" y="2057400"/>
            <a:ext cx="1920240" cy="24231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66944" y="2240280"/>
            <a:ext cx="914400" cy="914400"/>
          </a:xfrm>
          <a:prstGeom prst="ellipse">
            <a:avLst/>
          </a:prstGeom>
          <a:solidFill>
            <a:srgbClr val="EDFAF2"/>
          </a:solidFill>
          <a:ln w="31750">
            <a:solidFill>
              <a:srgbClr val="89D7A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544" y="24688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55464" y="3291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الاسم</a:t>
            </a:r>
            <a:endParaRPr lang="ar-SA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855464" y="3840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وكيل شؤون الطلاب</a:t>
            </a:r>
            <a:endParaRPr lang="ar-SA" sz="1100" dirty="0"/>
          </a:p>
        </p:txBody>
      </p:sp>
      <p:sp>
        <p:nvSpPr>
          <p:cNvPr id="15" name="Shape 11"/>
          <p:cNvSpPr/>
          <p:nvPr/>
        </p:nvSpPr>
        <p:spPr>
          <a:xfrm>
            <a:off x="2761488" y="2057400"/>
            <a:ext cx="1920240" cy="24231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64408" y="2240280"/>
            <a:ext cx="914400" cy="914400"/>
          </a:xfrm>
          <a:prstGeom prst="ellipse">
            <a:avLst/>
          </a:prstGeom>
          <a:solidFill>
            <a:srgbClr val="EDFAF2"/>
          </a:solidFill>
          <a:ln w="31750">
            <a:solidFill>
              <a:srgbClr val="89D7A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24688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52928" y="3291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الاسم</a:t>
            </a:r>
            <a:endParaRPr lang="ar-SA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2852928" y="3840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الموجّه الطلابي</a:t>
            </a:r>
            <a:endParaRPr lang="ar-SA" sz="1100" dirty="0"/>
          </a:p>
        </p:txBody>
      </p:sp>
      <p:sp>
        <p:nvSpPr>
          <p:cNvPr id="20" name="Shape 15"/>
          <p:cNvSpPr/>
          <p:nvPr/>
        </p:nvSpPr>
        <p:spPr>
          <a:xfrm>
            <a:off x="758952" y="2057400"/>
            <a:ext cx="1920240" cy="24231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sx="100000" sy="100000" kx="0" ky="0" algn="bl" rotWithShape="0" blurRad="127000" dist="38100" dir="5400000">
              <a:srgbClr val="3E635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261872" y="2240280"/>
            <a:ext cx="914400" cy="914400"/>
          </a:xfrm>
          <a:prstGeom prst="ellipse">
            <a:avLst/>
          </a:prstGeom>
          <a:solidFill>
            <a:srgbClr val="EDFAF2"/>
          </a:solidFill>
          <a:ln w="31750">
            <a:solidFill>
              <a:srgbClr val="89D7A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0472" y="246888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50392" y="3291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الاسم</a:t>
            </a:r>
            <a:endParaRPr lang="ar-SA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50392" y="3840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رائد النشاط</a:t>
            </a:r>
            <a:endParaRPr lang="ar-SA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0058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شكرًا لكم</a:t>
            </a:r>
            <a:endParaRPr lang="ar-SA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880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A9BCB1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مدير المدرسة</a:t>
            </a:r>
            <a:endParaRPr lang="ar-SA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عبدالله بن حسن سلمان الفيفي</a:t>
            </a:r>
            <a:endParaRPr lang="ar-SA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مدرسة مكة الثانوية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قالب عرض — مدرسة مكة الثانوية</dc:title>
  <dc:subject>PptxGenJS Presentation</dc:subject>
  <dc:creator>بوابة مكة الثانوية الرقمية</dc:creator>
  <cp:lastModifiedBy>بوابة مكة الثانوية الرقمية</cp:lastModifiedBy>
  <cp:revision>1</cp:revision>
  <dcterms:created xsi:type="dcterms:W3CDTF">2026-09-30T19:04:56Z</dcterms:created>
  <dcterms:modified xsi:type="dcterms:W3CDTF">2026-09-30T19:04:56Z</dcterms:modified>
</cp:coreProperties>
</file>