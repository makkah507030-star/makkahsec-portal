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S1"/>
    <p:sldId id="257" r:id="rIdS2"/>
    <p:sldId id="258" r:id="rIdS3"/>
    <p:sldId id="259" r:id="rIdS4"/>
    <p:sldId id="260" r:id="rIdS5"/>
    <p:sldId id="261" r:id="rIdS6"/>
    <p:sldId id="262" r:id="rIdS7"/>
    <p:sldId id="263" r:id="rIdS8"/>
    <p:sldId id="264" r:id="rIdS9"/>
    <p:sldId id="265" r:id="rIdS10"/>
    <p:sldId id="266" r:id="rIdS11"/>
    <p:sldId id="267" r:id="rIdS12"/>
    <p:sldId id="268" r:id="rIdS13"/>
    <p:sldId id="269" r:id="rIdS14"/>
    <p:sldId id="270" r:id="rIdS15"/>
    <p:sldId id="271" r:id="rIdS16"/>
    <p:sldId id="272" r:id="rIdS17"/>
    <p:sldId id="273" r:id="rIdS18"/>
    <p:sldId id="274" r:id="rIdS19"/>
    <p:sldId id="275" r:id="rIdS20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حصة" id="{6A0C7E0B-1A63-4C55-9C8C-3B1A1D2B6E0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دليل المعلم (مخفي)" id="{6A0C7E0B-1A63-4C55-9C8C-3B1A1D2B6E02}">
          <p14:sldIdLst>
            <p14:sldId id="273"/>
            <p14:sldId id="274"/>
            <p14:sldId id="27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S5" Type="http://schemas.openxmlformats.org/officeDocument/2006/relationships/slide" Target="slides/slide5.xml"/><Relationship Id="rIdS6" Type="http://schemas.openxmlformats.org/officeDocument/2006/relationships/slide" Target="slides/slide6.xml"/><Relationship Id="rIdS7" Type="http://schemas.openxmlformats.org/officeDocument/2006/relationships/slide" Target="slides/slide7.xml"/><Relationship Id="rIdS8" Type="http://schemas.openxmlformats.org/officeDocument/2006/relationships/slide" Target="slides/slide8.xml"/><Relationship Id="rIdS9" Type="http://schemas.openxmlformats.org/officeDocument/2006/relationships/slide" Target="slides/slide9.xml"/><Relationship Id="rIdS10" Type="http://schemas.openxmlformats.org/officeDocument/2006/relationships/slide" Target="slides/slide10.xml"/><Relationship Id="rIdS11" Type="http://schemas.openxmlformats.org/officeDocument/2006/relationships/slide" Target="slides/slide11.xml"/><Relationship Id="rIdS12" Type="http://schemas.openxmlformats.org/officeDocument/2006/relationships/slide" Target="slides/slide12.xml"/><Relationship Id="rIdS13" Type="http://schemas.openxmlformats.org/officeDocument/2006/relationships/slide" Target="slides/slide13.xml"/><Relationship Id="rIdS14" Type="http://schemas.openxmlformats.org/officeDocument/2006/relationships/slide" Target="slides/slide14.xml"/><Relationship Id="rIdS15" Type="http://schemas.openxmlformats.org/officeDocument/2006/relationships/slide" Target="slides/slide15.xml"/><Relationship Id="rIdS16" Type="http://schemas.openxmlformats.org/officeDocument/2006/relationships/slide" Target="slides/slide16.xml"/><Relationship Id="rIdS17" Type="http://schemas.openxmlformats.org/officeDocument/2006/relationships/slide" Target="slides/slide17.xml"/><Relationship Id="rIdS18" Type="http://schemas.openxmlformats.org/officeDocument/2006/relationships/slide" Target="slides/slide18.xml"/><Relationship Id="rIdS19" Type="http://schemas.openxmlformats.org/officeDocument/2006/relationships/slide" Target="slides/slide19.xml"/><Relationship Id="rIdS20" Type="http://schemas.openxmlformats.org/officeDocument/2006/relationships/slide" Target="slides/slide20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SA" dirty="0"/>
              <a:t>غيّر عنوان الدرس والمادة والصف والوحدة واسمك والتاريخ. اعرض هذه الشريحة أثناء دخول الطلاب.</a:t>
            </a:r>
          </a:p>
          <a:p>
            <a:pPr rtl="1" algn="r"/>
            <a:r>
              <a:rPr lang="ar-SA" dirty="0"/>
              <a:t>قبل الحصة: رتّب الطلاب في مجموعات (4–5)، وجهّز بطاقات الأدوار وبطاقات الاستجابة (أ، ب، ج، د) وبطاقة الخروج، وشغّل المؤقت.</a:t>
            </a:r>
          </a:p>
          <a:p>
            <a:pPr rtl="1" algn="r"/>
            <a:r>
              <a:rPr lang="ar-SA" dirty="0"/>
              <a:t>ابدأ بالسلام والترحيب، وقدّم الضيوف للطلاب بلطف. لا تغيّر أسلوبك المعتاد كثيرًا؛ الطبيعية تقنع المقيّم أكثر من الاستعراض.</a:t>
            </a:r>
          </a:p>
          <a:p>
            <a:pPr rtl="1" algn="r"/>
            <a:r>
              <a:rPr lang="ar-SA" dirty="0"/>
              <a:t>الشرائح الثلاث الأخيرة مخفية (دليل المعلم): لا تظهر أثناء العرض، راجعها قبل الزيارة.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SA" dirty="0"/>
              <a:t>اعرض الخريطة 20 ثانية فقط ليعرف الطلاب مسار الحصة. الأزمنة مقترحة ويمكن تعديلها دقيقتين زيادة أو نقصًا حسب المادة.</a:t>
            </a:r>
          </a:p>
          <a:p>
            <a:pPr rtl="1" algn="r"/>
            <a:r>
              <a:rPr lang="ar-SA" dirty="0"/>
              <a:t>لتعديل الأزمنة: غيّر الرقم داخل كل جزء وعرضه، وحدّث شارة الزمن أعلى شريحة كل مرحلة.</a:t>
            </a:r>
          </a:p>
          <a:p>
            <a:pPr rtl="1" algn="r"/>
            <a:r>
              <a:rPr lang="ar-SA" dirty="0"/>
              <a:t>استعمل مؤقتًا ظاهرًا للطلاب (على السبورة الذكية أو الجوال)؛ الانتقال السلس بين المراحل وإنهاء الحصة في وقتها مؤشر واضح على الإدارة الصفية.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SA" dirty="0"/>
              <a:t>ضمن التهيئة (30 ثانية). الأفضل أن تكون الاتفاقات مما صاغه الطلاب في بداية الفصل، فاستبدلها بها.</a:t>
            </a:r>
          </a:p>
          <a:p>
            <a:pPr rtl="1" algn="r"/>
            <a:r>
              <a:rPr lang="ar-SA" dirty="0"/>
              <a:t>اتفق على إشارة صمت سريعة (رفع اليد، أو العد التنازلي 3–2–1).</a:t>
            </a:r>
          </a:p>
          <a:p>
            <a:pPr rtl="1" algn="r"/>
            <a:r>
              <a:rPr lang="ar-SA" dirty="0"/>
              <a:t>ما يلاحظه المقيّم: انضباط إيجابي، وتعزيز للسلوك الجيد، ومعالجة السلوك دون إيقاف الحصة.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SA" dirty="0"/>
              <a:t>الهدف: إثارة الدافعية وربط الدرس بخبرات الطالب، لا الشرح. اكتب سؤالًا مفتوحًا لا يُجاب بنعم أو لا.</a:t>
            </a:r>
          </a:p>
          <a:p>
            <a:pPr rtl="1" algn="r"/>
            <a:r>
              <a:rPr lang="ar-SA" dirty="0"/>
              <a:t>أفكار حسب المادة: الرياضيات لغز أو نمط عددي، والعلوم ظاهرة أو تجربة سريعة، واللغة العربية بيت شعر أو عبارة، والإنجليزية صورة مع ‎Guess what?‎، والدراسات الإسلامية آية أو موقف من السيرة، والاجتماعيات خبر أو خريطة، والحاسب مشكلة رقمية من الواقع.</a:t>
            </a:r>
          </a:p>
          <a:p>
            <a:pPr rtl="1" algn="r"/>
            <a:r>
              <a:rPr lang="ar-SA" dirty="0"/>
              <a:t>ما يلاحظه المقيّم: مشاركة أكبر عدد من الطلاب، لا طالبين أو ثلاثة. اطلب من الأزواج المشاركة ثم اختر عشوائيًا.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SA" dirty="0"/>
              <a:t>استراتيجية (أعرف، أريد أن أعرف، تعلّمت) تشخّص التعلم السابق. املأ العمودين الأولين بإجابات الطلاب شفهيًا أو على السبورة.</a:t>
            </a:r>
          </a:p>
          <a:p>
            <a:pPr rtl="1" algn="r"/>
            <a:r>
              <a:rPr lang="ar-SA" dirty="0"/>
              <a:t>عُد إلى العمود الثالث في الغلق؛ ربط بداية الحصة بنهايتها يُظهر للمقيّم تخطيطًا متماسكًا.</a:t>
            </a:r>
          </a:p>
          <a:p>
            <a:pPr rtl="1" algn="r"/>
            <a:r>
              <a:rPr lang="ar-SA" dirty="0"/>
              <a:t>في المواد الكمية يمكن حذف هذه الشريحة والاكتفاء بسؤالين تشخيصيين سريعين على متطلبات الدرس السابقة.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SA" dirty="0"/>
              <a:t>اكتب أهدافًا قابلة للقياس بأفعال سلوكية (يعرّف، يطبّق، يقارن، يستنتج، يصمّم)، وتجنّب «يفهم» و«يعرف» لأنها لا تُقاس.</a:t>
            </a:r>
          </a:p>
          <a:p>
            <a:pPr rtl="1" algn="r"/>
            <a:r>
              <a:rPr lang="ar-SA" dirty="0"/>
              <a:t>اطلب من طالب أن يقرأ الأهداف بصوت مرتفع، واسأل: لماذا نحتاج هذا الدرس؟</a:t>
            </a:r>
          </a:p>
          <a:p>
            <a:pPr rtl="1" algn="r"/>
            <a:r>
              <a:rPr lang="ar-SA" dirty="0"/>
              <a:t>قد يسأل المقيّم أحد الطلاب: ماذا تتعلّم اليوم؟ ولماذا؟ فاحرص أن تكون الأهداف ومعايير النجاح واضحة لهم.</a:t>
            </a:r>
          </a:p>
          <a:p>
            <a:pPr rtl="1" algn="r"/>
            <a:r>
              <a:rPr lang="ar-SA" dirty="0"/>
              <a:t>تدرّج الأهداف من الفهم إلى التطبيق إلى التفكير العليا يُظهر مراعاة مستويات التفكير.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SA" dirty="0"/>
              <a:t>اكتب المصطلحات أو القواعد أو القوانين الأساسية للدرس. في الرياضيات والعلوم: الرموز والقوانين، وفي اللغات: المفردات الجديدة، وفي الدراسات الإسلامية: المصطلحات الشرعية.</a:t>
            </a:r>
          </a:p>
          <a:p>
            <a:pPr rtl="1" algn="r"/>
            <a:r>
              <a:rPr lang="ar-SA" dirty="0"/>
              <a:t>بديل فعّال: نموذج فراير (التعريف، الخصائص، أمثلة، لا أمثلة) لمفهوم واحد محوري.</a:t>
            </a:r>
          </a:p>
          <a:p>
            <a:pPr rtl="1" algn="r"/>
            <a:r>
              <a:rPr lang="ar-SA" dirty="0"/>
              <a:t>احذف البطاقات الزائدة إن كانت المفاهيم أقل من أربعة.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SA" dirty="0"/>
              <a:t>لا تتجاوز 10 دقائق من حديث المعلم. فكّر بصوت مسموع أثناء حل المثال: «لماذا اخترت هذه الخطوة؟».</a:t>
            </a:r>
          </a:p>
          <a:p>
            <a:pPr rtl="1" algn="r"/>
            <a:r>
              <a:rPr lang="ar-SA" dirty="0"/>
              <a:t>توقّف كل 3 دقائق بسؤال قصير أو طلب إشارة (إبهام لأعلى أو لأسفل) للتحقق من الفهم.</a:t>
            </a:r>
          </a:p>
          <a:p>
            <a:pPr rtl="1" algn="r"/>
            <a:r>
              <a:rPr lang="ar-SA" dirty="0"/>
              <a:t>وظّف التقنية حين تخدم الفهم: محاكاة، أو مقطع قصير، أو أداة تفاعلية على السبورة الذكية.</a:t>
            </a:r>
          </a:p>
          <a:p>
            <a:pPr rtl="1" algn="r"/>
            <a:r>
              <a:rPr lang="ar-SA" dirty="0"/>
              <a:t>ما يلاحظه المقيّم: دقة المحتوى العلمي، ووضوح العرض، وتسلسله، وتوظيف الوسائل.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SA" dirty="0"/>
              <a:t>يجيب كل الطلاب في وقت واحد: بطاقات (أ، ب، ج، د)، أو أصابع اليد، أو لوح صغير، أو أداة رقمية (اختبارات البوابة القصيرة، Kahoot، Quizizz، Wordwall).</a:t>
            </a:r>
          </a:p>
          <a:p>
            <a:pPr rtl="1" algn="r"/>
            <a:r>
              <a:rPr lang="ar-SA" dirty="0"/>
              <a:t>اجعل البدائل الخاطئة من الأخطاء الشائعة؛ فكل إجابة خاطئة تكشف لك سوء فهم بعينه.</a:t>
            </a:r>
          </a:p>
          <a:p>
            <a:pPr rtl="1" algn="r"/>
            <a:r>
              <a:rPr lang="ar-SA" dirty="0"/>
              <a:t>قرار بعد السؤال: إن أخطأ أكثر من ثلث الطلاب فأعد الشرح بطريقة مختلفة قبل الانتقال، وإلا فانتقل للنشاط.</a:t>
            </a:r>
          </a:p>
          <a:p>
            <a:pPr rtl="1" algn="r"/>
            <a:r>
              <a:rPr lang="ar-SA" dirty="0"/>
              <a:t>ما يلاحظه المقيّم: أن يُبنى قرار تدريسي على نتيجة التقويم، لا أن يكون السؤال شكليًا.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SA" dirty="0"/>
              <a:t>مجموعات غير متجانسة من 4 إلى 5 طلاب، ولكل طالب دور مكتوب على بطاقة؛ هذا يمنع اتكال بعضهم على بعض.</a:t>
            </a:r>
          </a:p>
          <a:p>
            <a:pPr rtl="1" algn="r"/>
            <a:r>
              <a:rPr lang="ar-SA" dirty="0"/>
              <a:t>إستراتيجيات بديلة: الرؤوس المرقّمة، أو الطاولة المستديرة، أو جيجسو (الخبراء)، أو معرض التجوّل.</a:t>
            </a:r>
          </a:p>
          <a:p>
            <a:pPr rtl="1" algn="r"/>
            <a:r>
              <a:rPr lang="ar-SA" dirty="0"/>
              <a:t>تجوّل بين المجموعات واطرح أسئلة سابرة، وقدّم تغذية راجعة محددة («أحسنت في...، وتحتاج إلى...»).</a:t>
            </a:r>
          </a:p>
          <a:p>
            <a:pPr rtl="1" algn="r"/>
            <a:r>
              <a:rPr lang="ar-SA" dirty="0"/>
              <a:t>الدقائق الأخيرة: تعرض مجموعتان أو ثلاث، ثم سؤال التفكير وسؤال الربط بالحياة في الشريحتين التاليتين.</a:t>
            </a:r>
          </a:p>
          <a:p>
            <a:pPr rtl="1" algn="r"/>
            <a:r>
              <a:rPr lang="ar-SA" dirty="0"/>
              <a:t>ما يلاحظه المقيّم: تفاعل حقيقي بين الطلاب، ودور المعلم ميسّرًا لا ملقّنًا.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SA" dirty="0"/>
              <a:t>سؤال مفتوح من مستويات التفكير العليا (تحليل، تقويم، إبداع)، ويُطرح ضمن زمن النشاط التعاوني.</a:t>
            </a:r>
          </a:p>
          <a:p>
            <a:pPr rtl="1" algn="r"/>
            <a:r>
              <a:rPr lang="ar-SA" dirty="0"/>
              <a:t>صيغ مقترحة: ماذا يحدث لو...؟ ما الفرق بين... و...؟ كيف تحكم على...؟ اقترح حلًا آخر لـ... ما الدليل على...؟</a:t>
            </a:r>
          </a:p>
          <a:p>
            <a:pPr rtl="1" algn="r"/>
            <a:r>
              <a:rPr lang="ar-SA" dirty="0"/>
              <a:t>انتظر 5 ثوانٍ على الأقل قبل استقبال الإجابة، واختر المجيب عشوائيًا (أعواد الأسماء أو عجلة الأسماء) بدل رفع الأيدي.</a:t>
            </a:r>
          </a:p>
          <a:p>
            <a:pPr rtl="1" algn="r"/>
            <a:r>
              <a:rPr lang="ar-SA" dirty="0"/>
              <a:t>ابنِ على إجابة الطالب بسؤال آخر: «لماذا؟»، «من يضيف؟»، «من يخالف؟».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SA" dirty="0"/>
              <a:t>اكتب أمثلة محددة من مادتك بدل العبارات العامة، واطلب من الطلاب إضافة أمثلة أخرى.</a:t>
            </a:r>
          </a:p>
          <a:p>
            <a:pPr rtl="1" algn="r"/>
            <a:r>
              <a:rPr lang="ar-SA" dirty="0"/>
              <a:t>دمج القيم يكون طبيعيًا من سياق الدرس، لا بموعظة منفصلة.</a:t>
            </a:r>
          </a:p>
          <a:p>
            <a:pPr rtl="1" algn="r"/>
            <a:r>
              <a:rPr lang="ar-SA" dirty="0"/>
              <a:t>الربط بالواقع ورؤية المملكة 2030 والمهن المستقبلية يعطي الدرس معنى ويرفع الدافعية.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SA" dirty="0"/>
              <a:t>وزّع الطلاب حسب نتيجة سؤال التحقق من الفهم، أو اترك لهم اختيار المستوى مع التشجيع على التحدي.</a:t>
            </a:r>
          </a:p>
          <a:p>
            <a:pPr rtl="1" algn="r"/>
            <a:r>
              <a:rPr lang="ar-SA" dirty="0"/>
              <a:t>جهّز المهام الثلاث على بطاقات ملوّنة أو ورقة عمل واحدة بثلاثة أقسام.</a:t>
            </a:r>
          </a:p>
          <a:p>
            <a:pPr rtl="1" algn="r"/>
            <a:r>
              <a:rPr lang="ar-SA" dirty="0"/>
              <a:t>قدّم دعمًا فرديًا لطلاب صعوبات التعلم أثناء العمل، ووجّه المتميزين إلى مهمة «تحدَّ».</a:t>
            </a:r>
          </a:p>
          <a:p>
            <a:pPr rtl="1" algn="r"/>
            <a:r>
              <a:rPr lang="ar-SA" dirty="0"/>
              <a:t>ما يلاحظه المقيّم: مراعاة الفروق الفردية من أكثر ما يُرصد في الزيارات الصفية؛ أظهرها بوضوح.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SA" dirty="0"/>
              <a:t>بديل للبطاقة: ثلاثة أسئلة قصيرة مرتبطة مباشرة بالأهداف الثلاثة.</a:t>
            </a:r>
          </a:p>
          <a:p>
            <a:pPr rtl="1" algn="r"/>
            <a:r>
              <a:rPr lang="ar-SA" dirty="0"/>
              <a:t>اجمع البطاقات عند الباب، وصنّفها بعد الحصة إلى: حقق الهدف، قريب، يحتاج دعمًا؛ وابنِ عليها تخطيط الحصة القادمة.</a:t>
            </a:r>
          </a:p>
          <a:p>
            <a:pPr rtl="1" algn="r"/>
            <a:r>
              <a:rPr lang="ar-SA" dirty="0"/>
              <a:t>ما يلاحظه المقيّم: قياس تحقق الأهداف فعليًا في نهاية الحصة، لا الاكتفاء بسؤال «هل فهمتم؟».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SA" dirty="0"/>
              <a:t>اطلب من طالبين أو ثلاثة تلخيص الدرس في جملة، ثم عُد إلى عمود «ماذا تعلّمت؟» في شريحة التعلم السابق.</a:t>
            </a:r>
          </a:p>
          <a:p>
            <a:pPr rtl="1" algn="r"/>
            <a:r>
              <a:rPr lang="ar-SA" dirty="0"/>
              <a:t>التقييم الذاتي بإشارة المرور: يرفع كل طالب اللون المناسب (بطاقة أو أصابع). دوّن أسماء من اختار الأحمر لمتابعتهم.</a:t>
            </a:r>
          </a:p>
          <a:p>
            <a:pPr rtl="1" algn="r"/>
            <a:r>
              <a:rPr lang="ar-SA" dirty="0"/>
              <a:t>اختم بموعد الحصة القادمة وما يحتاجه الطلاب لها.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SA" dirty="0"/>
              <a:t>الواجب قصير ومرتبط بالأهداف ومتدرج، ويُفضّل أن يكون إلكترونيًا لتسهيل المتابعة والتغذية الراجعة.</a:t>
            </a:r>
          </a:p>
          <a:p>
            <a:pPr rtl="1" algn="r"/>
            <a:r>
              <a:rPr lang="ar-SA" dirty="0"/>
              <a:t>وضّح للطلاب طريقة التقييم وموعد التسليم، وتابع الإنجاز في الحصة القادمة.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SA" dirty="0"/>
              <a:t>اشكر الطلاب على مشاركتهم والضيوف على حضورهم. الشرائح بعد هذه مخفية ولن تظهر في العرض.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SA" dirty="0"/>
              <a:t>هذه الشريحة والشريحتان بعدها مخفية: تظهر في وضع التحرير فقط، ولا تُعرض للطلاب.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SA" dirty="0"/>
              <a:t>هذه أبرز الجوانب التي يركّز عليها المقيّمون عادةً في ملاحظة الحصة ضمن مجال التعليم والتعلم؛ وكلها مغطاة في شرائح هذا القالب.</a:t>
            </a:r>
          </a:p>
          <a:p>
            <a:pPr rtl="1" algn="r"/>
            <a:r>
              <a:rPr lang="ar-SA" dirty="0"/>
              <a:t>جهّز في متناولك: خطة الدرس (التحضير)، ونماذج من أعمال الطلاب ودفاترهم، وسجل الدرجات في البوابة، وأوراق العمل والبطاقات.</a:t>
            </a:r>
          </a:p>
          <a:p>
            <a:pPr rtl="1" algn="r"/>
            <a:r>
              <a:rPr lang="ar-SA" dirty="0"/>
              <a:t>قد يتحدث المقيّم مع الطلاب أو يطّلع على دفاترهم؛ اجعل تصحيح الدفاتر محدّثًا بتغذية راجعة مكتوبة.</a:t>
            </a:r>
          </a:p>
          <a:p>
            <a:pPr rtl="1" algn="r"/>
            <a:r>
              <a:rPr lang="ar-SA" dirty="0"/>
              <a:t>نصيحة: لا تحاول حشد كل الإستراتيجيات؛ ثلاث إستراتيجيات متقنة ومترابطة أفضل من سبع شكلية.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SA" dirty="0"/>
              <a:t>أمثلة للاستئناس؛ اختر ما يناسب درسك وطلابك، وطبّقه في الشرائح المقابلة: التهيئة، والنشاط التعاوني، والتقويم.</a:t>
            </a:r>
          </a:p>
          <a:p>
            <a:pPr rtl="1" algn="r"/>
            <a:r>
              <a:rPr lang="ar-SA" dirty="0"/>
              <a:t>للمواد غير المذكورة (التربية البدنية، الفنية، المهارات الحياتية...) اتبع النمط نفسه: موقف محفّز، ثم ممارسة عملية في مجموعات، ثم عرض أو أداء قصير يُقيَّم بمعايير واضحة.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MakkahContent-image-2.jpe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MakkahTitleContent-image-2.jpe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MakkahDark-image-2.jpe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هوية — محتو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kkahsec-portal/81425304-7752-5996-897d-781fd4f2ca15/scratchpad/office/img/icon-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2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35040" y="30175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100" b="1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مدرسة مكة الثانوية</a:t>
            </a:r>
            <a:endParaRPr lang="ar-SA" sz="1100" dirty="0"/>
          </a:p>
        </p:txBody>
      </p:sp>
      <p:sp>
        <p:nvSpPr>
          <p:cNvPr id="4" name="Text 1"/>
          <p:cNvSpPr/>
          <p:nvPr/>
        </p:nvSpPr>
        <p:spPr>
          <a:xfrm>
            <a:off x="411480" y="47365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635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makkahsec.com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268"/>
                </a:solidFill>
                <a:latin typeface="IBM Plex Sans Arabic"/>
                <a:ea typeface="IBM Plex Sans Arabic"/>
                <a:cs typeface="IBM Plex Sans Arabi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هوية — عنوان ومحتو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kkahsec-portal/81425304-7752-5996-897d-781fd4f2ca15/scratchpad/office/img/icon-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2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35040" y="30175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100" b="1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مدرسة مكة الثانوية</a:t>
            </a:r>
            <a:endParaRPr lang="ar-SA" sz="1100" dirty="0"/>
          </a:p>
        </p:txBody>
      </p:sp>
      <p:sp>
        <p:nvSpPr>
          <p:cNvPr id="4" name="Text 1"/>
          <p:cNvSpPr/>
          <p:nvPr/>
        </p:nvSpPr>
        <p:spPr>
          <a:xfrm>
            <a:off x="411480" y="47365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635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makkahsec.com</a:t>
            </a:r>
            <a:endParaRPr lang="en-US" sz="900" dirty="0"/>
          </a:p>
        </p:txBody>
      </p:sp>
      <p:sp>
        <p:nvSpPr>
          <p:cNvPr id="5" name="Text 2"/>
          <p:cNvSpPr txBox="1"/>
          <p:nvPr>
            <p:ph idx="103" type="title" hasCustomPrompt="1"/>
          </p:nvPr>
        </p:nvSpPr>
        <p:spPr>
          <a:xfrm>
            <a:off x="45720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SA" altLang="en-US" sz="3000" b="1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defRPr>
            </a:lvl1pPr>
          </a:lstStyle>
          <a:p>
            <a:pPr algn="r" indent="0" marL="0">
              <a:buNone/>
            </a:pPr>
            <a:r>
              <a:rPr lang="ar-SA" altLang="en-US" sz="3000" b="1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عنوان الشريحة</a:t>
            </a:r>
            <a:endParaRPr lang="ar-SA" sz="3000" dirty="0"/>
          </a:p>
        </p:txBody>
      </p:sp>
      <p:sp>
        <p:nvSpPr>
          <p:cNvPr id="6" name="Text 2"/>
          <p:cNvSpPr txBox="1"/>
          <p:nvPr>
            <p:ph idx="104" type="body" hasCustomPrompt="1"/>
          </p:nvPr>
        </p:nvSpPr>
        <p:spPr>
          <a:xfrm>
            <a:off x="457200" y="1645920"/>
            <a:ext cx="8229600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SA" altLang="en-US" sz="1600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defRPr>
            </a:lvl1pPr>
          </a:lstStyle>
          <a:p>
            <a:pPr algn="r" indent="0" marL="0">
              <a:buNone/>
            </a:pPr>
            <a:r>
              <a:rPr lang="ar-SA" altLang="en-US" sz="1600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اكتب المحتوى هنا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268"/>
                </a:solidFill>
                <a:latin typeface="IBM Plex Sans Arabic"/>
                <a:ea typeface="IBM Plex Sans Arabic"/>
                <a:cs typeface="IBM Plex Sans Arabic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هوية — غامق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kkahsec-portal/81425304-7752-5996-897d-781fd4f2ca15/scratchpad/office/img/icon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2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35040" y="30175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1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مدرسة مكة الثانوية</a:t>
            </a:r>
            <a:endParaRPr lang="ar-SA" sz="1100" dirty="0"/>
          </a:p>
        </p:txBody>
      </p:sp>
      <p:sp>
        <p:nvSpPr>
          <p:cNvPr id="4" name="Text 1"/>
          <p:cNvSpPr/>
          <p:nvPr/>
        </p:nvSpPr>
        <p:spPr>
          <a:xfrm>
            <a:off x="411480" y="47365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9D7A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makkahsec.com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268"/>
                </a:solidFill>
                <a:latin typeface="IBM Plex Sans Arabic"/>
                <a:ea typeface="IBM Plex Sans Arabic"/>
                <a:cs typeface="IBM Plex Sans Arab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lesson-Eye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lesson-Ear.png"/><Relationship Id="rId2" Type="http://schemas.openxmlformats.org/officeDocument/2006/relationships/image" Target="../media/lesson-Hand.png"/><Relationship Id="rId3" Type="http://schemas.openxmlformats.org/officeDocument/2006/relationships/image" Target="../media/lesson-Timer.png"/><Relationship Id="rId4" Type="http://schemas.openxmlformats.org/officeDocument/2006/relationships/image" Target="../media/lesson-Handshake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lesson-Timer-w.png"/><Relationship Id="rId2" Type="http://schemas.openxmlformats.org/officeDocument/2006/relationships/image" Target="../media/lesson-Image-m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../media/lesson-Brain.png"/><Relationship Id="rId2" Type="http://schemas.openxmlformats.org/officeDocument/2006/relationships/image" Target="../media/lesson-Search.png"/><Relationship Id="rId3" Type="http://schemas.openxmlformats.org/officeDocument/2006/relationships/image" Target="../media/lesson-Sparkles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../media/lesson-Timer-w.png"/><Relationship Id="rId2" Type="http://schemas.openxmlformats.org/officeDocument/2006/relationships/image" Target="../media/lesson-Target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../media/lesson-BookOpen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../media/lesson-Timer-w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../media/lesson-Timer-w.png"/><Relationship Id="rId2" Type="http://schemas.openxmlformats.org/officeDocument/2006/relationships/image" Target="../media/lesson-Users.png"/><Relationship Id="rId3" Type="http://schemas.openxmlformats.org/officeDocument/2006/relationships/image" Target="../media/lesson-Crown.png"/><Relationship Id="rId4" Type="http://schemas.openxmlformats.org/officeDocument/2006/relationships/image" Target="../media/lesson-Pencil.png"/><Relationship Id="rId5" Type="http://schemas.openxmlformats.org/officeDocument/2006/relationships/image" Target="../media/lesson-Timer.png"/><Relationship Id="rId6" Type="http://schemas.openxmlformats.org/officeDocument/2006/relationships/image" Target="../media/lesson-Mic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../media/lesson-House.png"/><Relationship Id="rId2" Type="http://schemas.openxmlformats.org/officeDocument/2006/relationships/image" Target="../media/lesson-Heart.png"/><Relationship Id="rId3" Type="http://schemas.openxmlformats.org/officeDocument/2006/relationships/image" Target="../media/lesson-Flag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../media/lesson-Timer-w.png"/><Relationship Id="rId2" Type="http://schemas.openxmlformats.org/officeDocument/2006/relationships/image" Target="../media/lesson-Sprout.png"/><Relationship Id="rId3" Type="http://schemas.openxmlformats.org/officeDocument/2006/relationships/image" Target="../media/lesson-Mountain.png"/><Relationship Id="rId4" Type="http://schemas.openxmlformats.org/officeDocument/2006/relationships/image" Target="../media/lesson-Rocket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../media/lesson-Timer-w.png"/><Relationship Id="rId2" Type="http://schemas.openxmlformats.org/officeDocument/2006/relationships/image" Target="../media/lesson-Laptop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../media/lesson-Timer-w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../media/lesson-NotebookPen.png"/><Relationship Id="rId2" Type="http://schemas.openxmlformats.org/officeDocument/2006/relationships/image" Target="../media/lesson-Sparkles.png"/><Relationship Id="rId3" Type="http://schemas.openxmlformats.org/officeDocument/2006/relationships/image" Target="../media/lesson-BookOpen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../media/lesson-Check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 descr="شعار المدرسة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960120"/>
            <a:ext cx="914400" cy="914400"/>
          </a:xfrm>
          <a:prstGeom prst="rect">
            <a:avLst/>
          </a:prstGeom>
        </p:spPr>
      </p:pic>
      <p:sp>
        <p:nvSpPr>
          <p:cNvPr id="3" name="Shape 3"/>
          <p:cNvSpPr/>
          <p:nvPr/>
        </p:nvSpPr>
        <p:spPr>
          <a:xfrm>
            <a:off x="7223760" y="210312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4" name="Text 4"/>
          <p:cNvSpPr txBox="1"/>
          <p:nvPr/>
        </p:nvSpPr>
        <p:spPr>
          <a:xfrm>
            <a:off x="7223760" y="210312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200" b="1" dirty="0">
                <a:solidFill>
                  <a:srgbClr val="16301F"/>
                </a:solidFill>
                <a:latin typeface="IBM Plex Sans Arabic"/>
                <a:cs typeface="IBM Plex Sans Arabic"/>
              </a:rPr>
              <a:t>حصة نموذجية</a:t>
            </a:r>
            <a:endParaRPr lang="ar-SA" sz="1200" dirty="0"/>
          </a:p>
        </p:txBody>
      </p:sp>
      <p:sp>
        <p:nvSpPr>
          <p:cNvPr id="5" name="Text 5"/>
          <p:cNvSpPr txBox="1"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عنوان الدرس</a:t>
            </a:r>
            <a:endParaRPr lang="ar-SA" sz="4000" dirty="0"/>
          </a:p>
        </p:txBody>
      </p:sp>
      <p:sp>
        <p:nvSpPr>
          <p:cNvPr id="6" name="Text 6"/>
          <p:cNvSpPr txBox="1"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2000" b="1" dirty="0">
                <a:solidFill>
                  <a:srgbClr val="89D7AD"/>
                </a:solidFill>
                <a:latin typeface="IBM Plex Sans Arabic"/>
                <a:cs typeface="IBM Plex Sans Arabic"/>
              </a:rPr>
              <a:t>المادة  ·  الصف  ·  الوحدة</a:t>
            </a:r>
            <a:endParaRPr lang="ar-SA" sz="2000" dirty="0"/>
          </a:p>
        </p:txBody>
      </p:sp>
      <p:sp>
        <p:nvSpPr>
          <p:cNvPr id="7" name="Text 7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1300" dirty="0">
                <a:solidFill>
                  <a:srgbClr val="A9BCB1"/>
                </a:solidFill>
                <a:latin typeface="IBM Plex Sans Arabic"/>
                <a:cs typeface="IBM Plex Sans Arabic"/>
              </a:rPr>
              <a:t>المعلم: </a:t>
            </a:r>
            <a:r>
              <a:rPr lang="ar-SA" altLang="en-US" sz="13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اسم المعلم</a:t>
            </a:r>
            <a:r>
              <a:rPr lang="ar-SA" altLang="en-US" sz="1300" dirty="0">
                <a:solidFill>
                  <a:srgbClr val="A9BCB1"/>
                </a:solidFill>
                <a:latin typeface="IBM Plex Sans Arabic"/>
                <a:cs typeface="IBM Plex Sans Arabic"/>
              </a:rPr>
              <a:t>     ·     الحصة الثالثة     ·     1448/__/__ هـ</a:t>
            </a:r>
            <a:endParaRPr lang="ar-SA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 2"/>
          <p:cNvSpPr/>
          <p:nvPr/>
        </p:nvSpPr>
        <p:spPr>
          <a:xfrm>
            <a:off x="7223760" y="868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3" name="Label 3"/>
          <p:cNvSpPr txBox="1"/>
          <p:nvPr/>
        </p:nvSpPr>
        <p:spPr>
          <a:xfrm>
            <a:off x="7223760" y="86868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200" b="1" dirty="0">
                <a:solidFill>
                  <a:srgbClr val="16301F"/>
                </a:solidFill>
                <a:latin typeface="IBM Plex Sans Arabic"/>
                <a:cs typeface="IBM Plex Sans Arabic"/>
              </a:rPr>
              <a:t>خطة الحصة</a:t>
            </a:r>
            <a:endParaRPr lang="ar-SA" sz="1200" dirty="0"/>
          </a:p>
        </p:txBody>
      </p:sp>
      <p:sp>
        <p:nvSpPr>
          <p:cNvPr id="4" name="Title 4"/>
          <p:cNvSpPr txBox="1"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30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رحلتنا اليوم في 50 دقيقة</a:t>
            </a:r>
            <a:endParaRPr lang="ar-SA" sz="3000" dirty="0"/>
          </a:p>
        </p:txBody>
      </p:sp>
      <p:sp>
        <p:nvSpPr>
          <p:cNvPr id="5" name="Slide Number 5"/>
          <p:cNvSpPr txBox="1"/>
          <p:nvPr/>
        </p:nvSpPr>
        <p:spPr>
          <a:xfrm>
            <a:off x="8412480" y="47091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fld id="{B6F15528-21DE-4FAA-801E-634DDDAF4B2B}" type="slidenum">
              <a:rPr lang="en-US" sz="900" dirty="0">
                <a:solidFill>
                  <a:srgbClr val="5E7268"/>
                </a:solidFill>
                <a:latin typeface="IBM Plex Sans Arabic"/>
                <a:cs typeface="IBM Plex Sans Arabic"/>
              </a:rPr>
              <a:t>‹#›</a:t>
            </a:fld>
          </a:p>
        </p:txBody>
      </p:sp>
      <p:sp>
        <p:nvSpPr>
          <p:cNvPr id="6" name="Text 6"/>
          <p:cNvSpPr txBox="1"/>
          <p:nvPr/>
        </p:nvSpPr>
        <p:spPr>
          <a:xfrm>
            <a:off x="8503920" y="210312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buNone/>
            </a:pPr>
            <a:r>
              <a:rPr lang="ar-SA" altLang="en-US" sz="1000" b="1" dirty="0">
                <a:solidFill>
                  <a:srgbClr val="5E7268"/>
                </a:solidFill>
                <a:latin typeface="IBM Plex Sans Arabic"/>
                <a:cs typeface="IBM Plex Sans Arabic"/>
              </a:rPr>
              <a:t>0</a:t>
            </a:r>
            <a:endParaRPr lang="ar-SA" sz="1000" dirty="0"/>
          </a:p>
        </p:txBody>
      </p:sp>
      <p:sp>
        <p:nvSpPr>
          <p:cNvPr id="7" name="Shape 7"/>
          <p:cNvSpPr/>
          <p:nvPr/>
        </p:nvSpPr>
        <p:spPr>
          <a:xfrm>
            <a:off x="7863840" y="2377440"/>
            <a:ext cx="822960" cy="457200"/>
          </a:xfrm>
          <a:prstGeom prst="rect">
            <a:avLst/>
          </a:prstGeom>
          <a:solidFill>
            <a:srgbClr val="CCF2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8"/>
          <p:cNvSpPr txBox="1"/>
          <p:nvPr/>
        </p:nvSpPr>
        <p:spPr>
          <a:xfrm>
            <a:off x="7863840" y="237744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200" b="1" dirty="0">
                <a:solidFill>
                  <a:srgbClr val="16301F"/>
                </a:solidFill>
                <a:latin typeface="IBM Plex Sans Arabic"/>
                <a:cs typeface="IBM Plex Sans Arabic"/>
              </a:rPr>
              <a:t>5 د</a:t>
            </a:r>
            <a:endParaRPr lang="ar-SA" sz="1200" dirty="0"/>
          </a:p>
        </p:txBody>
      </p:sp>
      <p:sp>
        <p:nvSpPr>
          <p:cNvPr id="9" name="Text 9"/>
          <p:cNvSpPr txBox="1"/>
          <p:nvPr/>
        </p:nvSpPr>
        <p:spPr>
          <a:xfrm>
            <a:off x="7680960" y="210312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buNone/>
            </a:pPr>
            <a:r>
              <a:rPr lang="ar-SA" altLang="en-US" sz="1000" b="1" dirty="0">
                <a:solidFill>
                  <a:srgbClr val="5E7268"/>
                </a:solidFill>
                <a:latin typeface="IBM Plex Sans Arabic"/>
                <a:cs typeface="IBM Plex Sans Arabic"/>
              </a:rPr>
              <a:t>5</a:t>
            </a:r>
            <a:endParaRPr lang="ar-SA" sz="1000" dirty="0"/>
          </a:p>
        </p:txBody>
      </p:sp>
      <p:sp>
        <p:nvSpPr>
          <p:cNvPr id="10" name="Text 10"/>
          <p:cNvSpPr txBox="1"/>
          <p:nvPr/>
        </p:nvSpPr>
        <p:spPr>
          <a:xfrm>
            <a:off x="7882128" y="2926080"/>
            <a:ext cx="786384" cy="50292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lnSpc>
                <a:spcPct val="90000"/>
              </a:lnSpc>
              <a:buNone/>
            </a:pPr>
            <a:r>
              <a:rPr lang="ar-SA" altLang="en-US" sz="11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التهيئة</a:t>
            </a:r>
            <a:endParaRPr lang="ar-SA" sz="1100" dirty="0"/>
          </a:p>
        </p:txBody>
      </p:sp>
      <p:sp>
        <p:nvSpPr>
          <p:cNvPr id="11" name="Shape 11"/>
          <p:cNvSpPr/>
          <p:nvPr/>
        </p:nvSpPr>
        <p:spPr>
          <a:xfrm>
            <a:off x="7370064" y="2377440"/>
            <a:ext cx="493776" cy="457200"/>
          </a:xfrm>
          <a:prstGeom prst="rect">
            <a:avLst/>
          </a:prstGeom>
          <a:solidFill>
            <a:srgbClr val="CCF2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2"/>
          <p:cNvSpPr txBox="1"/>
          <p:nvPr/>
        </p:nvSpPr>
        <p:spPr>
          <a:xfrm>
            <a:off x="7370064" y="2377440"/>
            <a:ext cx="493776" cy="457200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200" b="1" dirty="0">
                <a:solidFill>
                  <a:srgbClr val="16301F"/>
                </a:solidFill>
                <a:latin typeface="IBM Plex Sans Arabic"/>
                <a:cs typeface="IBM Plex Sans Arabic"/>
              </a:rPr>
              <a:t>3 د</a:t>
            </a:r>
            <a:endParaRPr lang="ar-SA" sz="1200" dirty="0"/>
          </a:p>
        </p:txBody>
      </p:sp>
      <p:sp>
        <p:nvSpPr>
          <p:cNvPr id="13" name="Text 13"/>
          <p:cNvSpPr txBox="1"/>
          <p:nvPr/>
        </p:nvSpPr>
        <p:spPr>
          <a:xfrm>
            <a:off x="7187184" y="210312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buNone/>
            </a:pPr>
            <a:r>
              <a:rPr lang="ar-SA" altLang="en-US" sz="1000" b="1" dirty="0">
                <a:solidFill>
                  <a:srgbClr val="5E7268"/>
                </a:solidFill>
                <a:latin typeface="IBM Plex Sans Arabic"/>
                <a:cs typeface="IBM Plex Sans Arabic"/>
              </a:rPr>
              <a:t>8</a:t>
            </a:r>
            <a:endParaRPr lang="ar-SA" sz="1000" dirty="0"/>
          </a:p>
        </p:txBody>
      </p:sp>
      <p:sp>
        <p:nvSpPr>
          <p:cNvPr id="14" name="Text 14"/>
          <p:cNvSpPr txBox="1"/>
          <p:nvPr/>
        </p:nvSpPr>
        <p:spPr>
          <a:xfrm>
            <a:off x="7388352" y="2926080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lnSpc>
                <a:spcPct val="90000"/>
              </a:lnSpc>
              <a:buNone/>
            </a:pPr>
            <a:r>
              <a:rPr lang="ar-SA" altLang="en-US" sz="11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الأهداف</a:t>
            </a:r>
            <a:endParaRPr lang="ar-SA" sz="1100" dirty="0"/>
          </a:p>
        </p:txBody>
      </p:sp>
      <p:sp>
        <p:nvSpPr>
          <p:cNvPr id="15" name="Shape 15"/>
          <p:cNvSpPr/>
          <p:nvPr/>
        </p:nvSpPr>
        <p:spPr>
          <a:xfrm>
            <a:off x="5724144" y="2377440"/>
            <a:ext cx="1645920" cy="457200"/>
          </a:xfrm>
          <a:prstGeom prst="rect">
            <a:avLst/>
          </a:prstGeom>
          <a:solidFill>
            <a:srgbClr val="3E635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6"/>
          <p:cNvSpPr txBox="1"/>
          <p:nvPr/>
        </p:nvSpPr>
        <p:spPr>
          <a:xfrm>
            <a:off x="5724144" y="237744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10 د</a:t>
            </a:r>
            <a:endParaRPr lang="ar-SA" sz="1200" dirty="0"/>
          </a:p>
        </p:txBody>
      </p:sp>
      <p:sp>
        <p:nvSpPr>
          <p:cNvPr id="17" name="Text 17"/>
          <p:cNvSpPr txBox="1"/>
          <p:nvPr/>
        </p:nvSpPr>
        <p:spPr>
          <a:xfrm>
            <a:off x="5541264" y="210312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buNone/>
            </a:pPr>
            <a:r>
              <a:rPr lang="ar-SA" altLang="en-US" sz="1000" b="1" dirty="0">
                <a:solidFill>
                  <a:srgbClr val="5E7268"/>
                </a:solidFill>
                <a:latin typeface="IBM Plex Sans Arabic"/>
                <a:cs typeface="IBM Plex Sans Arabic"/>
              </a:rPr>
              <a:t>18</a:t>
            </a:r>
            <a:endParaRPr lang="ar-SA" sz="1000" dirty="0"/>
          </a:p>
        </p:txBody>
      </p:sp>
      <p:sp>
        <p:nvSpPr>
          <p:cNvPr id="18" name="Text 18"/>
          <p:cNvSpPr txBox="1"/>
          <p:nvPr/>
        </p:nvSpPr>
        <p:spPr>
          <a:xfrm>
            <a:off x="5742432" y="2926080"/>
            <a:ext cx="1609344" cy="50292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lnSpc>
                <a:spcPct val="90000"/>
              </a:lnSpc>
              <a:buNone/>
            </a:pPr>
            <a:r>
              <a:rPr lang="ar-SA" altLang="en-US" sz="11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الشرح والنمذجة</a:t>
            </a:r>
            <a:endParaRPr lang="ar-SA" sz="1100" dirty="0"/>
          </a:p>
        </p:txBody>
      </p:sp>
      <p:sp>
        <p:nvSpPr>
          <p:cNvPr id="19" name="Shape 19"/>
          <p:cNvSpPr/>
          <p:nvPr/>
        </p:nvSpPr>
        <p:spPr>
          <a:xfrm>
            <a:off x="3749040" y="2377440"/>
            <a:ext cx="1975104" cy="457200"/>
          </a:xfrm>
          <a:prstGeom prst="rect">
            <a:avLst/>
          </a:prstGeom>
          <a:solidFill>
            <a:srgbClr val="89D7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20"/>
          <p:cNvSpPr txBox="1"/>
          <p:nvPr/>
        </p:nvSpPr>
        <p:spPr>
          <a:xfrm>
            <a:off x="3749040" y="2377440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200" b="1" dirty="0">
                <a:solidFill>
                  <a:srgbClr val="16301F"/>
                </a:solidFill>
                <a:latin typeface="IBM Plex Sans Arabic"/>
                <a:cs typeface="IBM Plex Sans Arabic"/>
              </a:rPr>
              <a:t>12 د</a:t>
            </a:r>
            <a:endParaRPr lang="ar-SA" sz="1200" dirty="0"/>
          </a:p>
        </p:txBody>
      </p:sp>
      <p:sp>
        <p:nvSpPr>
          <p:cNvPr id="21" name="Text 21"/>
          <p:cNvSpPr txBox="1"/>
          <p:nvPr/>
        </p:nvSpPr>
        <p:spPr>
          <a:xfrm>
            <a:off x="3566160" y="210312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buNone/>
            </a:pPr>
            <a:r>
              <a:rPr lang="ar-SA" altLang="en-US" sz="1000" b="1" dirty="0">
                <a:solidFill>
                  <a:srgbClr val="5E7268"/>
                </a:solidFill>
                <a:latin typeface="IBM Plex Sans Arabic"/>
                <a:cs typeface="IBM Plex Sans Arabic"/>
              </a:rPr>
              <a:t>30</a:t>
            </a:r>
            <a:endParaRPr lang="ar-SA" sz="1000" dirty="0"/>
          </a:p>
        </p:txBody>
      </p:sp>
      <p:sp>
        <p:nvSpPr>
          <p:cNvPr id="22" name="Text 22"/>
          <p:cNvSpPr txBox="1"/>
          <p:nvPr/>
        </p:nvSpPr>
        <p:spPr>
          <a:xfrm>
            <a:off x="3767328" y="2926080"/>
            <a:ext cx="1938528" cy="50292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lnSpc>
                <a:spcPct val="90000"/>
              </a:lnSpc>
              <a:buNone/>
            </a:pPr>
            <a:r>
              <a:rPr lang="ar-SA" altLang="en-US" sz="11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التعلم التعاوني</a:t>
            </a:r>
            <a:endParaRPr lang="ar-SA" sz="1100" dirty="0"/>
          </a:p>
        </p:txBody>
      </p:sp>
      <p:sp>
        <p:nvSpPr>
          <p:cNvPr id="23" name="Shape 23"/>
          <p:cNvSpPr/>
          <p:nvPr/>
        </p:nvSpPr>
        <p:spPr>
          <a:xfrm>
            <a:off x="2432304" y="2377440"/>
            <a:ext cx="1316736" cy="457200"/>
          </a:xfrm>
          <a:prstGeom prst="rect">
            <a:avLst/>
          </a:prstGeom>
          <a:solidFill>
            <a:srgbClr val="89D7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2432304" y="2377440"/>
            <a:ext cx="1316736" cy="457200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200" b="1" dirty="0">
                <a:solidFill>
                  <a:srgbClr val="16301F"/>
                </a:solidFill>
                <a:latin typeface="IBM Plex Sans Arabic"/>
                <a:cs typeface="IBM Plex Sans Arabic"/>
              </a:rPr>
              <a:t>8 د</a:t>
            </a:r>
            <a:endParaRPr lang="ar-SA" sz="1200" dirty="0"/>
          </a:p>
        </p:txBody>
      </p:sp>
      <p:sp>
        <p:nvSpPr>
          <p:cNvPr id="25" name="Text 25"/>
          <p:cNvSpPr txBox="1"/>
          <p:nvPr/>
        </p:nvSpPr>
        <p:spPr>
          <a:xfrm>
            <a:off x="2249424" y="210312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buNone/>
            </a:pPr>
            <a:r>
              <a:rPr lang="ar-SA" altLang="en-US" sz="1000" b="1" dirty="0">
                <a:solidFill>
                  <a:srgbClr val="5E7268"/>
                </a:solidFill>
                <a:latin typeface="IBM Plex Sans Arabic"/>
                <a:cs typeface="IBM Plex Sans Arabic"/>
              </a:rPr>
              <a:t>38</a:t>
            </a:r>
            <a:endParaRPr lang="ar-SA" sz="1000" dirty="0"/>
          </a:p>
        </p:txBody>
      </p:sp>
      <p:sp>
        <p:nvSpPr>
          <p:cNvPr id="26" name="Text 26"/>
          <p:cNvSpPr txBox="1"/>
          <p:nvPr/>
        </p:nvSpPr>
        <p:spPr>
          <a:xfrm>
            <a:off x="2450592" y="2926080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lnSpc>
                <a:spcPct val="90000"/>
              </a:lnSpc>
              <a:buNone/>
            </a:pPr>
            <a:r>
              <a:rPr lang="ar-SA" altLang="en-US" sz="11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المهام المتمايزة</a:t>
            </a:r>
            <a:endParaRPr lang="ar-SA" sz="1100" dirty="0"/>
          </a:p>
        </p:txBody>
      </p:sp>
      <p:sp>
        <p:nvSpPr>
          <p:cNvPr id="27" name="Shape 27"/>
          <p:cNvSpPr/>
          <p:nvPr/>
        </p:nvSpPr>
        <p:spPr>
          <a:xfrm>
            <a:off x="1280160" y="2377440"/>
            <a:ext cx="1152144" cy="457200"/>
          </a:xfrm>
          <a:prstGeom prst="rect">
            <a:avLst/>
          </a:prstGeom>
          <a:solidFill>
            <a:srgbClr val="1630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1280160" y="2377440"/>
            <a:ext cx="1152144" cy="457200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7 د</a:t>
            </a:r>
            <a:endParaRPr lang="ar-SA" sz="1200" dirty="0"/>
          </a:p>
        </p:txBody>
      </p:sp>
      <p:sp>
        <p:nvSpPr>
          <p:cNvPr id="29" name="Text 29"/>
          <p:cNvSpPr txBox="1"/>
          <p:nvPr/>
        </p:nvSpPr>
        <p:spPr>
          <a:xfrm>
            <a:off x="1097280" y="210312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buNone/>
            </a:pPr>
            <a:r>
              <a:rPr lang="ar-SA" altLang="en-US" sz="1000" b="1" dirty="0">
                <a:solidFill>
                  <a:srgbClr val="5E7268"/>
                </a:solidFill>
                <a:latin typeface="IBM Plex Sans Arabic"/>
                <a:cs typeface="IBM Plex Sans Arabic"/>
              </a:rPr>
              <a:t>45</a:t>
            </a:r>
            <a:endParaRPr lang="ar-SA" sz="1000" dirty="0"/>
          </a:p>
        </p:txBody>
      </p:sp>
      <p:sp>
        <p:nvSpPr>
          <p:cNvPr id="30" name="Text 30"/>
          <p:cNvSpPr txBox="1"/>
          <p:nvPr/>
        </p:nvSpPr>
        <p:spPr>
          <a:xfrm>
            <a:off x="1298448" y="2926080"/>
            <a:ext cx="1115568" cy="50292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lnSpc>
                <a:spcPct val="90000"/>
              </a:lnSpc>
              <a:buNone/>
            </a:pPr>
            <a:r>
              <a:rPr lang="ar-SA" altLang="en-US" sz="11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التقويم الختامي</a:t>
            </a:r>
            <a:endParaRPr lang="ar-SA" sz="1100" dirty="0"/>
          </a:p>
        </p:txBody>
      </p:sp>
      <p:sp>
        <p:nvSpPr>
          <p:cNvPr id="31" name="Shape 31"/>
          <p:cNvSpPr/>
          <p:nvPr/>
        </p:nvSpPr>
        <p:spPr>
          <a:xfrm>
            <a:off x="457200" y="2377440"/>
            <a:ext cx="822960" cy="457200"/>
          </a:xfrm>
          <a:prstGeom prst="rect">
            <a:avLst/>
          </a:prstGeom>
          <a:solidFill>
            <a:srgbClr val="1630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2"/>
          <p:cNvSpPr txBox="1"/>
          <p:nvPr/>
        </p:nvSpPr>
        <p:spPr>
          <a:xfrm>
            <a:off x="457200" y="237744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5 د</a:t>
            </a:r>
            <a:endParaRPr lang="ar-SA" sz="1200" dirty="0"/>
          </a:p>
        </p:txBody>
      </p:sp>
      <p:sp>
        <p:nvSpPr>
          <p:cNvPr id="33" name="Text 33"/>
          <p:cNvSpPr txBox="1"/>
          <p:nvPr/>
        </p:nvSpPr>
        <p:spPr>
          <a:xfrm>
            <a:off x="274320" y="210312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buNone/>
            </a:pPr>
            <a:r>
              <a:rPr lang="ar-SA" altLang="en-US" sz="1000" b="1" dirty="0">
                <a:solidFill>
                  <a:srgbClr val="5E7268"/>
                </a:solidFill>
                <a:latin typeface="IBM Plex Sans Arabic"/>
                <a:cs typeface="IBM Plex Sans Arabic"/>
              </a:rPr>
              <a:t>50</a:t>
            </a:r>
            <a:endParaRPr lang="ar-SA" sz="1000" dirty="0"/>
          </a:p>
        </p:txBody>
      </p:sp>
      <p:sp>
        <p:nvSpPr>
          <p:cNvPr id="34" name="Text 34"/>
          <p:cNvSpPr txBox="1"/>
          <p:nvPr/>
        </p:nvSpPr>
        <p:spPr>
          <a:xfrm>
            <a:off x="475488" y="2926080"/>
            <a:ext cx="786384" cy="50292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lnSpc>
                <a:spcPct val="90000"/>
              </a:lnSpc>
              <a:buNone/>
            </a:pPr>
            <a:r>
              <a:rPr lang="ar-SA" altLang="en-US" sz="11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الغلق والواجب</a:t>
            </a:r>
            <a:endParaRPr lang="ar-SA" sz="1100" dirty="0"/>
          </a:p>
        </p:txBody>
      </p:sp>
      <p:sp>
        <p:nvSpPr>
          <p:cNvPr id="35" name="Card 35"/>
          <p:cNvSpPr/>
          <p:nvPr/>
        </p:nvSpPr>
        <p:spPr>
          <a:xfrm>
            <a:off x="457200" y="3657600"/>
            <a:ext cx="8229600" cy="777240"/>
          </a:xfrm>
          <a:prstGeom prst="roundRect">
            <a:avLst>
              <a:gd name="adj" fmla="val 6000"/>
            </a:avLst>
          </a:prstGeom>
          <a:solidFill>
            <a:srgbClr val="EDFAF2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36" name="Circle 36"/>
          <p:cNvSpPr/>
          <p:nvPr/>
        </p:nvSpPr>
        <p:spPr>
          <a:xfrm>
            <a:off x="8001000" y="3776472"/>
            <a:ext cx="548640" cy="54864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37" name="Image 37" descr="Ey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9781" y="3895253"/>
            <a:ext cx="311079" cy="311079"/>
          </a:xfrm>
          <a:prstGeom prst="rect">
            <a:avLst/>
          </a:prstGeom>
        </p:spPr>
      </p:pic>
      <p:sp>
        <p:nvSpPr>
          <p:cNvPr id="38" name="Text 38"/>
          <p:cNvSpPr txBox="1"/>
          <p:nvPr/>
        </p:nvSpPr>
        <p:spPr>
          <a:xfrm>
            <a:off x="914400" y="3721608"/>
            <a:ext cx="6903720" cy="32004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14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التقويم التكويني مستمر طوال الحصة</a:t>
            </a:r>
            <a:endParaRPr lang="ar-SA" sz="1400" dirty="0"/>
          </a:p>
        </p:txBody>
      </p:sp>
      <p:sp>
        <p:nvSpPr>
          <p:cNvPr id="39" name="Text 39"/>
          <p:cNvSpPr txBox="1"/>
          <p:nvPr/>
        </p:nvSpPr>
        <p:spPr>
          <a:xfrm>
            <a:off x="914400" y="4041648"/>
            <a:ext cx="6903720" cy="32004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1200" dirty="0">
                <a:solidFill>
                  <a:srgbClr val="5E7268"/>
                </a:solidFill>
                <a:latin typeface="IBM Plex Sans Arabic"/>
                <a:cs typeface="IBM Plex Sans Arabic"/>
              </a:rPr>
              <a:t>أسئلة سريعة، وملاحظة عمل المجموعات، وبطاقات الاستجابة، وتغذية راجعة فورية.</a:t>
            </a:r>
            <a:endParaRPr lang="ar-SA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 2"/>
          <p:cNvSpPr/>
          <p:nvPr/>
        </p:nvSpPr>
        <p:spPr>
          <a:xfrm>
            <a:off x="7223760" y="868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3" name="Label 3"/>
          <p:cNvSpPr txBox="1"/>
          <p:nvPr/>
        </p:nvSpPr>
        <p:spPr>
          <a:xfrm>
            <a:off x="7223760" y="86868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200" b="1" dirty="0">
                <a:solidFill>
                  <a:srgbClr val="16301F"/>
                </a:solidFill>
                <a:latin typeface="IBM Plex Sans Arabic"/>
                <a:cs typeface="IBM Plex Sans Arabic"/>
              </a:rPr>
              <a:t>بيئة صفية</a:t>
            </a:r>
            <a:endParaRPr lang="ar-SA" sz="1200" dirty="0"/>
          </a:p>
        </p:txBody>
      </p:sp>
      <p:sp>
        <p:nvSpPr>
          <p:cNvPr id="4" name="Title 4"/>
          <p:cNvSpPr txBox="1"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30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اتفاقاتنا الصفية</a:t>
            </a:r>
            <a:endParaRPr lang="ar-SA" sz="3000" dirty="0"/>
          </a:p>
        </p:txBody>
      </p:sp>
      <p:sp>
        <p:nvSpPr>
          <p:cNvPr id="5" name="Slide Number 5"/>
          <p:cNvSpPr txBox="1"/>
          <p:nvPr/>
        </p:nvSpPr>
        <p:spPr>
          <a:xfrm>
            <a:off x="8412480" y="47091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fld id="{B6F15528-21DE-4FAA-801E-634DDDAF4B2B}" type="slidenum">
              <a:rPr lang="en-US" sz="900" dirty="0">
                <a:solidFill>
                  <a:srgbClr val="5E7268"/>
                </a:solidFill>
                <a:latin typeface="IBM Plex Sans Arabic"/>
                <a:cs typeface="IBM Plex Sans Arabic"/>
              </a:rPr>
              <a:t>‹#›</a:t>
            </a:fld>
          </a:p>
        </p:txBody>
      </p:sp>
      <p:sp>
        <p:nvSpPr>
          <p:cNvPr id="6" name="Card 6"/>
          <p:cNvSpPr/>
          <p:nvPr/>
        </p:nvSpPr>
        <p:spPr>
          <a:xfrm>
            <a:off x="6766560" y="2148840"/>
            <a:ext cx="192024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7" name="Circle 7"/>
          <p:cNvSpPr/>
          <p:nvPr/>
        </p:nvSpPr>
        <p:spPr>
          <a:xfrm>
            <a:off x="7452360" y="2331720"/>
            <a:ext cx="548640" cy="54864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8" name="Image 8" descr="Ea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141" y="2450501"/>
            <a:ext cx="311079" cy="311079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6766560" y="301752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buNone/>
            </a:pPr>
            <a:r>
              <a:rPr lang="ar-SA" altLang="en-US" sz="17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نُنصت باهتمام</a:t>
            </a:r>
            <a:endParaRPr lang="ar-SA" sz="1700" dirty="0"/>
          </a:p>
        </p:txBody>
      </p:sp>
      <p:sp>
        <p:nvSpPr>
          <p:cNvPr id="10" name="Text 10"/>
          <p:cNvSpPr txBox="1"/>
          <p:nvPr/>
        </p:nvSpPr>
        <p:spPr>
          <a:xfrm>
            <a:off x="6903720" y="3520440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buNone/>
            </a:pPr>
            <a:r>
              <a:rPr lang="ar-SA" altLang="en-US" sz="1300" dirty="0">
                <a:solidFill>
                  <a:srgbClr val="5E7268"/>
                </a:solidFill>
                <a:latin typeface="IBM Plex Sans Arabic"/>
                <a:cs typeface="IBM Plex Sans Arabic"/>
              </a:rPr>
              <a:t>نستمع للمتحدث حتى يُنهي فكرته</a:t>
            </a:r>
            <a:endParaRPr lang="ar-SA" sz="1300" dirty="0"/>
          </a:p>
        </p:txBody>
      </p:sp>
      <p:sp>
        <p:nvSpPr>
          <p:cNvPr id="11" name="Card 11"/>
          <p:cNvSpPr/>
          <p:nvPr/>
        </p:nvSpPr>
        <p:spPr>
          <a:xfrm>
            <a:off x="4764024" y="2148840"/>
            <a:ext cx="192024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12" name="Circle 12"/>
          <p:cNvSpPr/>
          <p:nvPr/>
        </p:nvSpPr>
        <p:spPr>
          <a:xfrm>
            <a:off x="5449824" y="2331720"/>
            <a:ext cx="548640" cy="54864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13" name="Image 13" descr="Ha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605" y="2450501"/>
            <a:ext cx="311079" cy="311079"/>
          </a:xfrm>
          <a:prstGeom prst="rect">
            <a:avLst/>
          </a:prstGeom>
        </p:spPr>
      </p:pic>
      <p:sp>
        <p:nvSpPr>
          <p:cNvPr id="14" name="Text 14"/>
          <p:cNvSpPr txBox="1"/>
          <p:nvPr/>
        </p:nvSpPr>
        <p:spPr>
          <a:xfrm>
            <a:off x="4764024" y="301752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buNone/>
            </a:pPr>
            <a:r>
              <a:rPr lang="ar-SA" altLang="en-US" sz="17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نرفع أيدينا</a:t>
            </a:r>
            <a:endParaRPr lang="ar-SA" sz="1700" dirty="0"/>
          </a:p>
        </p:txBody>
      </p:sp>
      <p:sp>
        <p:nvSpPr>
          <p:cNvPr id="15" name="Text 15"/>
          <p:cNvSpPr txBox="1"/>
          <p:nvPr/>
        </p:nvSpPr>
        <p:spPr>
          <a:xfrm>
            <a:off x="4901184" y="3520440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buNone/>
            </a:pPr>
            <a:r>
              <a:rPr lang="ar-SA" altLang="en-US" sz="1300" dirty="0">
                <a:solidFill>
                  <a:srgbClr val="5E7268"/>
                </a:solidFill>
                <a:latin typeface="IBM Plex Sans Arabic"/>
                <a:cs typeface="IBM Plex Sans Arabic"/>
              </a:rPr>
              <a:t>نستأذن قبل المشاركة ونحترم الدور</a:t>
            </a:r>
            <a:endParaRPr lang="ar-SA" sz="1300" dirty="0"/>
          </a:p>
        </p:txBody>
      </p:sp>
      <p:sp>
        <p:nvSpPr>
          <p:cNvPr id="16" name="Card 16"/>
          <p:cNvSpPr/>
          <p:nvPr/>
        </p:nvSpPr>
        <p:spPr>
          <a:xfrm>
            <a:off x="2761488" y="2148840"/>
            <a:ext cx="192024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17" name="Circle 17"/>
          <p:cNvSpPr/>
          <p:nvPr/>
        </p:nvSpPr>
        <p:spPr>
          <a:xfrm>
            <a:off x="3447288" y="2331720"/>
            <a:ext cx="548640" cy="54864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18" name="Image 18" descr="Tim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069" y="2450501"/>
            <a:ext cx="311079" cy="311079"/>
          </a:xfrm>
          <a:prstGeom prst="rect">
            <a:avLst/>
          </a:prstGeom>
        </p:spPr>
      </p:pic>
      <p:sp>
        <p:nvSpPr>
          <p:cNvPr id="19" name="Text 19"/>
          <p:cNvSpPr txBox="1"/>
          <p:nvPr/>
        </p:nvSpPr>
        <p:spPr>
          <a:xfrm>
            <a:off x="2761488" y="301752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buNone/>
            </a:pPr>
            <a:r>
              <a:rPr lang="ar-SA" altLang="en-US" sz="17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نلتزم بالوقت</a:t>
            </a:r>
            <a:endParaRPr lang="ar-SA" sz="1700" dirty="0"/>
          </a:p>
        </p:txBody>
      </p:sp>
      <p:sp>
        <p:nvSpPr>
          <p:cNvPr id="20" name="Text 20"/>
          <p:cNvSpPr txBox="1"/>
          <p:nvPr/>
        </p:nvSpPr>
        <p:spPr>
          <a:xfrm>
            <a:off x="2898648" y="3520440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buNone/>
            </a:pPr>
            <a:r>
              <a:rPr lang="ar-SA" altLang="en-US" sz="1300" dirty="0">
                <a:solidFill>
                  <a:srgbClr val="5E7268"/>
                </a:solidFill>
                <a:latin typeface="IBM Plex Sans Arabic"/>
                <a:cs typeface="IBM Plex Sans Arabic"/>
              </a:rPr>
              <a:t>ننجز المهمة قبل انتهاء المؤقت</a:t>
            </a:r>
            <a:endParaRPr lang="ar-SA" sz="1300" dirty="0"/>
          </a:p>
        </p:txBody>
      </p:sp>
      <p:sp>
        <p:nvSpPr>
          <p:cNvPr id="21" name="Card 21"/>
          <p:cNvSpPr/>
          <p:nvPr/>
        </p:nvSpPr>
        <p:spPr>
          <a:xfrm>
            <a:off x="758952" y="2148840"/>
            <a:ext cx="192024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22" name="Circle 22"/>
          <p:cNvSpPr/>
          <p:nvPr/>
        </p:nvSpPr>
        <p:spPr>
          <a:xfrm>
            <a:off x="1444752" y="2331720"/>
            <a:ext cx="548640" cy="54864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23" name="Image 23" descr="Handshak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3533" y="2450501"/>
            <a:ext cx="311079" cy="311079"/>
          </a:xfrm>
          <a:prstGeom prst="rect">
            <a:avLst/>
          </a:prstGeom>
        </p:spPr>
      </p:pic>
      <p:sp>
        <p:nvSpPr>
          <p:cNvPr id="24" name="Text 24"/>
          <p:cNvSpPr txBox="1"/>
          <p:nvPr/>
        </p:nvSpPr>
        <p:spPr>
          <a:xfrm>
            <a:off x="758952" y="301752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buNone/>
            </a:pPr>
            <a:r>
              <a:rPr lang="ar-SA" altLang="en-US" sz="17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نتعاون ونحترم</a:t>
            </a:r>
            <a:endParaRPr lang="ar-SA" sz="1700" dirty="0"/>
          </a:p>
        </p:txBody>
      </p:sp>
      <p:sp>
        <p:nvSpPr>
          <p:cNvPr id="25" name="Text 25"/>
          <p:cNvSpPr txBox="1"/>
          <p:nvPr/>
        </p:nvSpPr>
        <p:spPr>
          <a:xfrm>
            <a:off x="896112" y="3520440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buNone/>
            </a:pPr>
            <a:r>
              <a:rPr lang="ar-SA" altLang="en-US" sz="1300" dirty="0">
                <a:solidFill>
                  <a:srgbClr val="5E7268"/>
                </a:solidFill>
                <a:latin typeface="IBM Plex Sans Arabic"/>
                <a:cs typeface="IBM Plex Sans Arabic"/>
              </a:rPr>
              <a:t>النقد للفكرة لا للشخص</a:t>
            </a:r>
            <a:endParaRPr lang="ar-SA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 2"/>
          <p:cNvSpPr/>
          <p:nvPr/>
        </p:nvSpPr>
        <p:spPr>
          <a:xfrm>
            <a:off x="7223760" y="868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3" name="Label 3"/>
          <p:cNvSpPr txBox="1"/>
          <p:nvPr/>
        </p:nvSpPr>
        <p:spPr>
          <a:xfrm>
            <a:off x="7223760" y="86868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200" b="1" dirty="0">
                <a:solidFill>
                  <a:srgbClr val="16301F"/>
                </a:solidFill>
                <a:latin typeface="IBM Plex Sans Arabic"/>
                <a:cs typeface="IBM Plex Sans Arabic"/>
              </a:rPr>
              <a:t>التهيئة</a:t>
            </a:r>
            <a:endParaRPr lang="ar-SA" sz="1200" dirty="0"/>
          </a:p>
        </p:txBody>
      </p:sp>
      <p:sp>
        <p:nvSpPr>
          <p:cNvPr id="4" name="Time 4"/>
          <p:cNvSpPr/>
          <p:nvPr/>
        </p:nvSpPr>
        <p:spPr>
          <a:xfrm>
            <a:off x="5623560" y="868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3E6350"/>
          </a:solidFill>
          <a:ln w="12700">
            <a:solidFill>
              <a:srgbClr val="3E6350"/>
            </a:solidFill>
            <a:prstDash val="solid"/>
          </a:ln>
        </p:spPr>
      </p:sp>
      <p:pic>
        <p:nvPicPr>
          <p:cNvPr id="5" name="Image 5" descr="مؤقت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2" y="941832"/>
            <a:ext cx="182880" cy="182880"/>
          </a:xfrm>
          <a:prstGeom prst="rect">
            <a:avLst/>
          </a:prstGeom>
        </p:spPr>
      </p:pic>
      <p:sp>
        <p:nvSpPr>
          <p:cNvPr id="6" name="TimeText 6"/>
          <p:cNvSpPr txBox="1"/>
          <p:nvPr/>
        </p:nvSpPr>
        <p:spPr>
          <a:xfrm>
            <a:off x="5715000" y="868680"/>
            <a:ext cx="987552" cy="329184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5 دقائق</a:t>
            </a:r>
            <a:endParaRPr lang="ar-SA" sz="1200" dirty="0"/>
          </a:p>
        </p:txBody>
      </p:sp>
      <p:sp>
        <p:nvSpPr>
          <p:cNvPr id="7" name="Title 7"/>
          <p:cNvSpPr txBox="1"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30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لنبدأ بسؤال</a:t>
            </a:r>
            <a:endParaRPr lang="ar-SA" sz="3000" dirty="0"/>
          </a:p>
        </p:txBody>
      </p:sp>
      <p:sp>
        <p:nvSpPr>
          <p:cNvPr id="8" name="Slide Number 8"/>
          <p:cNvSpPr txBox="1"/>
          <p:nvPr/>
        </p:nvSpPr>
        <p:spPr>
          <a:xfrm>
            <a:off x="8412480" y="47091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fld id="{B6F15528-21DE-4FAA-801E-634DDDAF4B2B}" type="slidenum">
              <a:rPr lang="en-US" sz="900" dirty="0">
                <a:solidFill>
                  <a:srgbClr val="5E7268"/>
                </a:solidFill>
                <a:latin typeface="IBM Plex Sans Arabic"/>
                <a:cs typeface="IBM Plex Sans Arabic"/>
              </a:rPr>
              <a:t>‹#›</a:t>
            </a:fld>
          </a:p>
        </p:txBody>
      </p:sp>
      <p:sp>
        <p:nvSpPr>
          <p:cNvPr id="9" name="Shape 9"/>
          <p:cNvSpPr/>
          <p:nvPr/>
        </p:nvSpPr>
        <p:spPr>
          <a:xfrm>
            <a:off x="457200" y="914400"/>
            <a:ext cx="3931920" cy="3611880"/>
          </a:xfrm>
          <a:prstGeom prst="roundRect">
            <a:avLst>
              <a:gd name="adj" fmla="val 4557"/>
            </a:avLst>
          </a:prstGeom>
          <a:solidFill>
            <a:srgbClr val="EDFAF2"/>
          </a:solidFill>
          <a:ln w="19050">
            <a:solidFill>
              <a:srgbClr val="CCF2DB"/>
            </a:solidFill>
            <a:prstDash val="dash"/>
          </a:ln>
        </p:spPr>
      </p:sp>
      <p:pic>
        <p:nvPicPr>
          <p:cNvPr id="10" name="Image 10" descr="صورة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2103120"/>
            <a:ext cx="640080" cy="640080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731520" y="288036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buNone/>
            </a:pPr>
            <a:r>
              <a:rPr lang="ar-SA" altLang="en-US" sz="1100" dirty="0">
                <a:solidFill>
                  <a:srgbClr val="5E7268"/>
                </a:solidFill>
                <a:latin typeface="IBM Plex Sans Arabic"/>
                <a:cs typeface="IBM Plex Sans Arabic"/>
              </a:rPr>
              <a:t>ضع هنا صورة أو مقطعًا قصيرًا أو موقفًا</a:t>
            </a:r>
            <a:endParaRPr lang="ar-SA" sz="1100" dirty="0"/>
          </a:p>
          <a:p>
            <a:pPr rtl="1" algn="ctr" marL="0" indent="0">
              <a:buNone/>
            </a:pPr>
            <a:r>
              <a:rPr lang="ar-SA" altLang="en-US" sz="1100" dirty="0">
                <a:solidFill>
                  <a:srgbClr val="5E7268"/>
                </a:solidFill>
                <a:latin typeface="IBM Plex Sans Arabic"/>
                <a:cs typeface="IBM Plex Sans Arabic"/>
              </a:rPr>
              <a:t>يثير التساؤل، ثم «إرسال إلى الخلف»</a:t>
            </a:r>
            <a:endParaRPr lang="ar-SA" sz="1100" dirty="0"/>
          </a:p>
        </p:txBody>
      </p:sp>
      <p:sp>
        <p:nvSpPr>
          <p:cNvPr id="12" name="Text 12"/>
          <p:cNvSpPr txBox="1"/>
          <p:nvPr/>
        </p:nvSpPr>
        <p:spPr>
          <a:xfrm>
            <a:off x="4754880" y="2103120"/>
            <a:ext cx="3931920" cy="100584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lnSpc>
                <a:spcPct val="105000"/>
              </a:lnSpc>
              <a:buNone/>
            </a:pPr>
            <a:r>
              <a:rPr lang="ar-SA" altLang="en-US" sz="20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اكتب هنا سؤالًا مثيرًا للتفكير يربط الدرس بحياة الطالب؟</a:t>
            </a:r>
            <a:endParaRPr lang="ar-SA" sz="2000" dirty="0"/>
          </a:p>
        </p:txBody>
      </p:sp>
      <p:sp>
        <p:nvSpPr>
          <p:cNvPr id="13" name="Text 13"/>
          <p:cNvSpPr txBox="1"/>
          <p:nvPr/>
        </p:nvSpPr>
        <p:spPr>
          <a:xfrm>
            <a:off x="4754880" y="324612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13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استراتيجية مقترحة: فكّر ← زاوج ← شارك</a:t>
            </a:r>
            <a:endParaRPr lang="ar-SA" sz="1300" dirty="0"/>
          </a:p>
        </p:txBody>
      </p:sp>
      <p:sp>
        <p:nvSpPr>
          <p:cNvPr id="14" name="Shape 14"/>
          <p:cNvSpPr/>
          <p:nvPr/>
        </p:nvSpPr>
        <p:spPr>
          <a:xfrm>
            <a:off x="7452360" y="3703320"/>
            <a:ext cx="123444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</p:spPr>
      </p:sp>
      <p:sp>
        <p:nvSpPr>
          <p:cNvPr id="15" name="Text 15"/>
          <p:cNvSpPr txBox="1"/>
          <p:nvPr/>
        </p:nvSpPr>
        <p:spPr>
          <a:xfrm>
            <a:off x="7452360" y="370332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2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فكّر  </a:t>
            </a:r>
            <a:r>
              <a:rPr lang="ar-SA" altLang="en-US" sz="1100" dirty="0">
                <a:solidFill>
                  <a:srgbClr val="5E7268"/>
                </a:solidFill>
                <a:latin typeface="IBM Plex Sans Arabic"/>
                <a:cs typeface="IBM Plex Sans Arabic"/>
              </a:rPr>
              <a:t>دقيقة</a:t>
            </a:r>
            <a:endParaRPr lang="ar-SA" sz="1200" dirty="0"/>
          </a:p>
        </p:txBody>
      </p:sp>
      <p:sp>
        <p:nvSpPr>
          <p:cNvPr id="16" name="Shape 16"/>
          <p:cNvSpPr/>
          <p:nvPr/>
        </p:nvSpPr>
        <p:spPr>
          <a:xfrm>
            <a:off x="6126480" y="3703320"/>
            <a:ext cx="123444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</p:spPr>
      </p:sp>
      <p:sp>
        <p:nvSpPr>
          <p:cNvPr id="17" name="Text 17"/>
          <p:cNvSpPr txBox="1"/>
          <p:nvPr/>
        </p:nvSpPr>
        <p:spPr>
          <a:xfrm>
            <a:off x="6126480" y="370332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2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زاوج  </a:t>
            </a:r>
            <a:r>
              <a:rPr lang="ar-SA" altLang="en-US" sz="1100" dirty="0">
                <a:solidFill>
                  <a:srgbClr val="5E7268"/>
                </a:solidFill>
                <a:latin typeface="IBM Plex Sans Arabic"/>
                <a:cs typeface="IBM Plex Sans Arabic"/>
              </a:rPr>
              <a:t>دقيقة</a:t>
            </a:r>
            <a:endParaRPr lang="ar-SA" sz="1200" dirty="0"/>
          </a:p>
        </p:txBody>
      </p:sp>
      <p:sp>
        <p:nvSpPr>
          <p:cNvPr id="18" name="Shape 18"/>
          <p:cNvSpPr/>
          <p:nvPr/>
        </p:nvSpPr>
        <p:spPr>
          <a:xfrm>
            <a:off x="4800600" y="3703320"/>
            <a:ext cx="123444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</p:spPr>
      </p:sp>
      <p:sp>
        <p:nvSpPr>
          <p:cNvPr id="19" name="Text 19"/>
          <p:cNvSpPr txBox="1"/>
          <p:nvPr/>
        </p:nvSpPr>
        <p:spPr>
          <a:xfrm>
            <a:off x="4800600" y="370332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2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شارك  </a:t>
            </a:r>
            <a:r>
              <a:rPr lang="ar-SA" altLang="en-US" sz="1100" dirty="0">
                <a:solidFill>
                  <a:srgbClr val="5E7268"/>
                </a:solidFill>
                <a:latin typeface="IBM Plex Sans Arabic"/>
                <a:cs typeface="IBM Plex Sans Arabic"/>
              </a:rPr>
              <a:t>دقيقتان</a:t>
            </a:r>
            <a:endParaRPr lang="ar-SA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 2"/>
          <p:cNvSpPr/>
          <p:nvPr/>
        </p:nvSpPr>
        <p:spPr>
          <a:xfrm>
            <a:off x="7223760" y="868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3" name="Label 3"/>
          <p:cNvSpPr txBox="1"/>
          <p:nvPr/>
        </p:nvSpPr>
        <p:spPr>
          <a:xfrm>
            <a:off x="7223760" y="86868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200" b="1" dirty="0">
                <a:solidFill>
                  <a:srgbClr val="16301F"/>
                </a:solidFill>
                <a:latin typeface="IBM Plex Sans Arabic"/>
                <a:cs typeface="IBM Plex Sans Arabic"/>
              </a:rPr>
              <a:t>التعلم السابق</a:t>
            </a:r>
            <a:endParaRPr lang="ar-SA" sz="1200" dirty="0"/>
          </a:p>
        </p:txBody>
      </p:sp>
      <p:sp>
        <p:nvSpPr>
          <p:cNvPr id="4" name="Title 4"/>
          <p:cNvSpPr txBox="1"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30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ماذا نعرف عن الموضوع؟</a:t>
            </a:r>
            <a:endParaRPr lang="ar-SA" sz="3000" dirty="0"/>
          </a:p>
        </p:txBody>
      </p:sp>
      <p:sp>
        <p:nvSpPr>
          <p:cNvPr id="5" name="Slide Number 5"/>
          <p:cNvSpPr txBox="1"/>
          <p:nvPr/>
        </p:nvSpPr>
        <p:spPr>
          <a:xfrm>
            <a:off x="8412480" y="47091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fld id="{B6F15528-21DE-4FAA-801E-634DDDAF4B2B}" type="slidenum">
              <a:rPr lang="en-US" sz="900" dirty="0">
                <a:solidFill>
                  <a:srgbClr val="5E7268"/>
                </a:solidFill>
                <a:latin typeface="IBM Plex Sans Arabic"/>
                <a:cs typeface="IBM Plex Sans Arabic"/>
              </a:rPr>
              <a:t>‹#›</a:t>
            </a:fld>
          </a:p>
        </p:txBody>
      </p:sp>
      <p:sp>
        <p:nvSpPr>
          <p:cNvPr id="6" name="Card 6"/>
          <p:cNvSpPr/>
          <p:nvPr/>
        </p:nvSpPr>
        <p:spPr>
          <a:xfrm>
            <a:off x="6080760" y="2103120"/>
            <a:ext cx="26060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7" name="Circle 7"/>
          <p:cNvSpPr/>
          <p:nvPr/>
        </p:nvSpPr>
        <p:spPr>
          <a:xfrm>
            <a:off x="8001000" y="2267712"/>
            <a:ext cx="502920" cy="50292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8" name="Image 8" descr="Brai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9882" y="2376594"/>
            <a:ext cx="285156" cy="285156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6263640" y="22860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r" marL="0" indent="0">
              <a:buNone/>
            </a:pPr>
            <a:r>
              <a:rPr lang="ar-SA" altLang="en-US" sz="16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ماذا أعرف؟</a:t>
            </a:r>
            <a:endParaRPr lang="ar-SA" sz="1600" dirty="0"/>
          </a:p>
        </p:txBody>
      </p:sp>
      <p:sp>
        <p:nvSpPr>
          <p:cNvPr id="10" name="Text 10"/>
          <p:cNvSpPr txBox="1"/>
          <p:nvPr/>
        </p:nvSpPr>
        <p:spPr>
          <a:xfrm>
            <a:off x="6263640" y="2880360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lnSpc>
                <a:spcPct val="110000"/>
              </a:lnSpc>
              <a:buNone/>
            </a:pPr>
            <a:r>
              <a:rPr lang="ar-SA" altLang="en-US" sz="1200" dirty="0">
                <a:solidFill>
                  <a:srgbClr val="5E7268"/>
                </a:solidFill>
                <a:latin typeface="IBM Plex Sans Arabic"/>
                <a:cs typeface="IBM Plex Sans Arabic"/>
              </a:rPr>
              <a:t>ما نعرفه مسبقًا عن الموضوع من دروس سابقة أو من الحياة.</a:t>
            </a:r>
            <a:endParaRPr lang="ar-SA" sz="1200" dirty="0"/>
          </a:p>
        </p:txBody>
      </p:sp>
      <p:sp>
        <p:nvSpPr>
          <p:cNvPr id="11" name="Shape 11"/>
          <p:cNvSpPr/>
          <p:nvPr/>
        </p:nvSpPr>
        <p:spPr>
          <a:xfrm>
            <a:off x="6263640" y="3749040"/>
            <a:ext cx="2240280" cy="0"/>
          </a:xfrm>
          <a:prstGeom prst="line">
            <a:avLst/>
          </a:prstGeom>
          <a:noFill/>
          <a:ln w="9525">
            <a:solidFill>
              <a:srgbClr val="D5E7DC"/>
            </a:solidFill>
            <a:prstDash val="dash"/>
          </a:ln>
        </p:spPr>
      </p:sp>
      <p:sp>
        <p:nvSpPr>
          <p:cNvPr id="12" name="Shape 12"/>
          <p:cNvSpPr/>
          <p:nvPr/>
        </p:nvSpPr>
        <p:spPr>
          <a:xfrm>
            <a:off x="6263640" y="4069080"/>
            <a:ext cx="2240280" cy="0"/>
          </a:xfrm>
          <a:prstGeom prst="line">
            <a:avLst/>
          </a:prstGeom>
          <a:noFill/>
          <a:ln w="9525">
            <a:solidFill>
              <a:srgbClr val="D5E7DC"/>
            </a:solidFill>
            <a:prstDash val="dash"/>
          </a:ln>
        </p:spPr>
      </p:sp>
      <p:sp>
        <p:nvSpPr>
          <p:cNvPr id="13" name="Card 13"/>
          <p:cNvSpPr/>
          <p:nvPr/>
        </p:nvSpPr>
        <p:spPr>
          <a:xfrm>
            <a:off x="3268980" y="2103120"/>
            <a:ext cx="26060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14" name="Circle 14"/>
          <p:cNvSpPr/>
          <p:nvPr/>
        </p:nvSpPr>
        <p:spPr>
          <a:xfrm>
            <a:off x="5189220" y="2267712"/>
            <a:ext cx="502920" cy="50292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15" name="Image 15" descr="Sear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8102" y="2376594"/>
            <a:ext cx="285156" cy="285156"/>
          </a:xfrm>
          <a:prstGeom prst="rect">
            <a:avLst/>
          </a:prstGeom>
        </p:spPr>
      </p:pic>
      <p:sp>
        <p:nvSpPr>
          <p:cNvPr id="16" name="Text 16"/>
          <p:cNvSpPr txBox="1"/>
          <p:nvPr/>
        </p:nvSpPr>
        <p:spPr>
          <a:xfrm>
            <a:off x="3451860" y="22860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r" marL="0" indent="0">
              <a:buNone/>
            </a:pPr>
            <a:r>
              <a:rPr lang="ar-SA" altLang="en-US" sz="16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ماذا أريد أن أعرف؟</a:t>
            </a:r>
            <a:endParaRPr lang="ar-SA" sz="1600" dirty="0"/>
          </a:p>
        </p:txBody>
      </p:sp>
      <p:sp>
        <p:nvSpPr>
          <p:cNvPr id="17" name="Text 17"/>
          <p:cNvSpPr txBox="1"/>
          <p:nvPr/>
        </p:nvSpPr>
        <p:spPr>
          <a:xfrm>
            <a:off x="3451860" y="2880360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lnSpc>
                <a:spcPct val="110000"/>
              </a:lnSpc>
              <a:buNone/>
            </a:pPr>
            <a:r>
              <a:rPr lang="ar-SA" altLang="en-US" sz="1200" dirty="0">
                <a:solidFill>
                  <a:srgbClr val="5E7268"/>
                </a:solidFill>
                <a:latin typeface="IBM Plex Sans Arabic"/>
                <a:cs typeface="IBM Plex Sans Arabic"/>
              </a:rPr>
              <a:t>الأسئلة التي نريد أن نجد إجابتها اليوم.</a:t>
            </a:r>
            <a:endParaRPr lang="ar-SA" sz="1200" dirty="0"/>
          </a:p>
        </p:txBody>
      </p:sp>
      <p:sp>
        <p:nvSpPr>
          <p:cNvPr id="18" name="Shape 18"/>
          <p:cNvSpPr/>
          <p:nvPr/>
        </p:nvSpPr>
        <p:spPr>
          <a:xfrm>
            <a:off x="3451860" y="3749040"/>
            <a:ext cx="2240280" cy="0"/>
          </a:xfrm>
          <a:prstGeom prst="line">
            <a:avLst/>
          </a:prstGeom>
          <a:noFill/>
          <a:ln w="9525">
            <a:solidFill>
              <a:srgbClr val="D5E7DC"/>
            </a:solidFill>
            <a:prstDash val="dash"/>
          </a:ln>
        </p:spPr>
      </p:sp>
      <p:sp>
        <p:nvSpPr>
          <p:cNvPr id="19" name="Shape 19"/>
          <p:cNvSpPr/>
          <p:nvPr/>
        </p:nvSpPr>
        <p:spPr>
          <a:xfrm>
            <a:off x="3451860" y="4069080"/>
            <a:ext cx="2240280" cy="0"/>
          </a:xfrm>
          <a:prstGeom prst="line">
            <a:avLst/>
          </a:prstGeom>
          <a:noFill/>
          <a:ln w="9525">
            <a:solidFill>
              <a:srgbClr val="D5E7DC"/>
            </a:solidFill>
            <a:prstDash val="dash"/>
          </a:ln>
        </p:spPr>
      </p:sp>
      <p:sp>
        <p:nvSpPr>
          <p:cNvPr id="20" name="Card 20"/>
          <p:cNvSpPr/>
          <p:nvPr/>
        </p:nvSpPr>
        <p:spPr>
          <a:xfrm>
            <a:off x="457200" y="2103120"/>
            <a:ext cx="2606040" cy="2331720"/>
          </a:xfrm>
          <a:prstGeom prst="roundRect">
            <a:avLst>
              <a:gd name="adj" fmla="val 6000"/>
            </a:avLst>
          </a:prstGeom>
          <a:solidFill>
            <a:srgbClr val="EDFAF2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21" name="Circle 21"/>
          <p:cNvSpPr/>
          <p:nvPr/>
        </p:nvSpPr>
        <p:spPr>
          <a:xfrm>
            <a:off x="2377440" y="2267712"/>
            <a:ext cx="502920" cy="50292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22" name="Image 22" descr="Spark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322" y="2376594"/>
            <a:ext cx="285156" cy="285156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640080" y="22860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r" marL="0" indent="0">
              <a:buNone/>
            </a:pPr>
            <a:r>
              <a:rPr lang="ar-SA" altLang="en-US" sz="16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ماذا تعلّمت؟</a:t>
            </a:r>
            <a:endParaRPr lang="ar-SA" sz="1600" dirty="0"/>
          </a:p>
        </p:txBody>
      </p:sp>
      <p:sp>
        <p:nvSpPr>
          <p:cNvPr id="24" name="Text 24"/>
          <p:cNvSpPr txBox="1"/>
          <p:nvPr/>
        </p:nvSpPr>
        <p:spPr>
          <a:xfrm>
            <a:off x="640080" y="2880360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lnSpc>
                <a:spcPct val="110000"/>
              </a:lnSpc>
              <a:buNone/>
            </a:pPr>
            <a:r>
              <a:rPr lang="ar-SA" altLang="en-US" sz="1200" dirty="0">
                <a:solidFill>
                  <a:srgbClr val="5E7268"/>
                </a:solidFill>
                <a:latin typeface="IBM Plex Sans Arabic"/>
                <a:cs typeface="IBM Plex Sans Arabic"/>
              </a:rPr>
              <a:t>نعود إليها في نهاية الحصة لنكتب ما تعلّمناه.</a:t>
            </a:r>
            <a:endParaRPr lang="ar-SA" sz="1200" dirty="0"/>
          </a:p>
        </p:txBody>
      </p:sp>
      <p:sp>
        <p:nvSpPr>
          <p:cNvPr id="25" name="Shape 25"/>
          <p:cNvSpPr/>
          <p:nvPr/>
        </p:nvSpPr>
        <p:spPr>
          <a:xfrm>
            <a:off x="640080" y="3749040"/>
            <a:ext cx="2240280" cy="0"/>
          </a:xfrm>
          <a:prstGeom prst="line">
            <a:avLst/>
          </a:prstGeom>
          <a:noFill/>
          <a:ln w="9525">
            <a:solidFill>
              <a:srgbClr val="D5E7DC"/>
            </a:solidFill>
            <a:prstDash val="dash"/>
          </a:ln>
        </p:spPr>
      </p:sp>
      <p:sp>
        <p:nvSpPr>
          <p:cNvPr id="26" name="Shape 26"/>
          <p:cNvSpPr/>
          <p:nvPr/>
        </p:nvSpPr>
        <p:spPr>
          <a:xfrm>
            <a:off x="640080" y="4069080"/>
            <a:ext cx="2240280" cy="0"/>
          </a:xfrm>
          <a:prstGeom prst="line">
            <a:avLst/>
          </a:prstGeom>
          <a:noFill/>
          <a:ln w="9525">
            <a:solidFill>
              <a:srgbClr val="D5E7DC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 2"/>
          <p:cNvSpPr/>
          <p:nvPr/>
        </p:nvSpPr>
        <p:spPr>
          <a:xfrm>
            <a:off x="7223760" y="868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3" name="Label 3"/>
          <p:cNvSpPr txBox="1"/>
          <p:nvPr/>
        </p:nvSpPr>
        <p:spPr>
          <a:xfrm>
            <a:off x="7223760" y="86868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200" b="1" dirty="0">
                <a:solidFill>
                  <a:srgbClr val="16301F"/>
                </a:solidFill>
                <a:latin typeface="IBM Plex Sans Arabic"/>
                <a:cs typeface="IBM Plex Sans Arabic"/>
              </a:rPr>
              <a:t>أهداف التعلم</a:t>
            </a:r>
            <a:endParaRPr lang="ar-SA" sz="1200" dirty="0"/>
          </a:p>
        </p:txBody>
      </p:sp>
      <p:sp>
        <p:nvSpPr>
          <p:cNvPr id="4" name="Time 4"/>
          <p:cNvSpPr/>
          <p:nvPr/>
        </p:nvSpPr>
        <p:spPr>
          <a:xfrm>
            <a:off x="5623560" y="868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3E6350"/>
          </a:solidFill>
          <a:ln w="12700">
            <a:solidFill>
              <a:srgbClr val="3E6350"/>
            </a:solidFill>
            <a:prstDash val="solid"/>
          </a:ln>
        </p:spPr>
      </p:sp>
      <p:pic>
        <p:nvPicPr>
          <p:cNvPr id="5" name="Image 5" descr="مؤقت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2" y="941832"/>
            <a:ext cx="182880" cy="182880"/>
          </a:xfrm>
          <a:prstGeom prst="rect">
            <a:avLst/>
          </a:prstGeom>
        </p:spPr>
      </p:pic>
      <p:sp>
        <p:nvSpPr>
          <p:cNvPr id="6" name="TimeText 6"/>
          <p:cNvSpPr txBox="1"/>
          <p:nvPr/>
        </p:nvSpPr>
        <p:spPr>
          <a:xfrm>
            <a:off x="5715000" y="868680"/>
            <a:ext cx="987552" cy="329184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3 دقائق</a:t>
            </a:r>
            <a:endParaRPr lang="ar-SA" sz="1200" dirty="0"/>
          </a:p>
        </p:txBody>
      </p:sp>
      <p:sp>
        <p:nvSpPr>
          <p:cNvPr id="7" name="Title 7"/>
          <p:cNvSpPr txBox="1"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30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في نهاية الحصة سأكون قادرًا على</a:t>
            </a:r>
            <a:endParaRPr lang="ar-SA" sz="3000" dirty="0"/>
          </a:p>
        </p:txBody>
      </p:sp>
      <p:sp>
        <p:nvSpPr>
          <p:cNvPr id="8" name="Slide Number 8"/>
          <p:cNvSpPr txBox="1"/>
          <p:nvPr/>
        </p:nvSpPr>
        <p:spPr>
          <a:xfrm>
            <a:off x="8412480" y="47091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fld id="{B6F15528-21DE-4FAA-801E-634DDDAF4B2B}" type="slidenum">
              <a:rPr lang="en-US" sz="900" dirty="0">
                <a:solidFill>
                  <a:srgbClr val="5E7268"/>
                </a:solidFill>
                <a:latin typeface="IBM Plex Sans Arabic"/>
                <a:cs typeface="IBM Plex Sans Arabic"/>
              </a:rPr>
              <a:t>‹#›</a:t>
            </a:fld>
          </a:p>
        </p:txBody>
      </p:sp>
      <p:sp>
        <p:nvSpPr>
          <p:cNvPr id="9" name="Card 9"/>
          <p:cNvSpPr/>
          <p:nvPr/>
        </p:nvSpPr>
        <p:spPr>
          <a:xfrm>
            <a:off x="3383280" y="2103120"/>
            <a:ext cx="530352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10" name="Circle 10"/>
          <p:cNvSpPr/>
          <p:nvPr/>
        </p:nvSpPr>
        <p:spPr>
          <a:xfrm>
            <a:off x="8183880" y="2231136"/>
            <a:ext cx="402336" cy="402336"/>
          </a:xfrm>
          <a:prstGeom prst="ellipse">
            <a:avLst/>
          </a:prstGeom>
          <a:solidFill>
            <a:srgbClr val="3E6350"/>
          </a:solidFill>
          <a:ln w="12700">
            <a:solidFill>
              <a:srgbClr val="3E6350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8183880" y="223113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1</a:t>
            </a:r>
            <a:endParaRPr lang="ar-SA" sz="1500" dirty="0"/>
          </a:p>
        </p:txBody>
      </p:sp>
      <p:sp>
        <p:nvSpPr>
          <p:cNvPr id="12" name="Text 12"/>
          <p:cNvSpPr txBox="1"/>
          <p:nvPr/>
        </p:nvSpPr>
        <p:spPr>
          <a:xfrm>
            <a:off x="4709160" y="2103120"/>
            <a:ext cx="3337560" cy="658368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r" marL="0" indent="0">
              <a:buNone/>
            </a:pPr>
            <a:r>
              <a:rPr lang="ar-SA" altLang="en-US" sz="14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تعريف المفهوم الرئيس للدرس بأسلوبي الخاص.</a:t>
            </a:r>
            <a:endParaRPr lang="ar-SA" sz="1400" dirty="0"/>
          </a:p>
        </p:txBody>
      </p:sp>
      <p:sp>
        <p:nvSpPr>
          <p:cNvPr id="13" name="Shape 13"/>
          <p:cNvSpPr/>
          <p:nvPr/>
        </p:nvSpPr>
        <p:spPr>
          <a:xfrm>
            <a:off x="3520440" y="228600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DFAF2"/>
          </a:solidFill>
          <a:ln w="12700">
            <a:solidFill>
              <a:srgbClr val="CCF2DB"/>
            </a:solidFill>
            <a:prstDash val="solid"/>
          </a:ln>
        </p:spPr>
      </p:sp>
      <p:sp>
        <p:nvSpPr>
          <p:cNvPr id="14" name="Text 14"/>
          <p:cNvSpPr txBox="1"/>
          <p:nvPr/>
        </p:nvSpPr>
        <p:spPr>
          <a:xfrm>
            <a:off x="3520440" y="2286000"/>
            <a:ext cx="1051560" cy="292608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0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تذكّر وفهم</a:t>
            </a:r>
            <a:endParaRPr lang="ar-SA" sz="1000" dirty="0"/>
          </a:p>
        </p:txBody>
      </p:sp>
      <p:sp>
        <p:nvSpPr>
          <p:cNvPr id="15" name="Card 15"/>
          <p:cNvSpPr/>
          <p:nvPr/>
        </p:nvSpPr>
        <p:spPr>
          <a:xfrm>
            <a:off x="3383280" y="2889504"/>
            <a:ext cx="530352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16" name="Circle 16"/>
          <p:cNvSpPr/>
          <p:nvPr/>
        </p:nvSpPr>
        <p:spPr>
          <a:xfrm>
            <a:off x="8183880" y="3017520"/>
            <a:ext cx="402336" cy="402336"/>
          </a:xfrm>
          <a:prstGeom prst="ellipse">
            <a:avLst/>
          </a:prstGeom>
          <a:solidFill>
            <a:srgbClr val="3E6350"/>
          </a:solidFill>
          <a:ln w="12700">
            <a:solidFill>
              <a:srgbClr val="3E6350"/>
            </a:solidFill>
            <a:prstDash val="solid"/>
          </a:ln>
        </p:spPr>
      </p:sp>
      <p:sp>
        <p:nvSpPr>
          <p:cNvPr id="17" name="Text 17"/>
          <p:cNvSpPr txBox="1"/>
          <p:nvPr/>
        </p:nvSpPr>
        <p:spPr>
          <a:xfrm>
            <a:off x="8183880" y="30175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2</a:t>
            </a:r>
            <a:endParaRPr lang="ar-SA" sz="1500" dirty="0"/>
          </a:p>
        </p:txBody>
      </p:sp>
      <p:sp>
        <p:nvSpPr>
          <p:cNvPr id="18" name="Text 18"/>
          <p:cNvSpPr txBox="1"/>
          <p:nvPr/>
        </p:nvSpPr>
        <p:spPr>
          <a:xfrm>
            <a:off x="4709160" y="2889504"/>
            <a:ext cx="3337560" cy="658368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r" marL="0" indent="0">
              <a:buNone/>
            </a:pPr>
            <a:r>
              <a:rPr lang="ar-SA" altLang="en-US" sz="14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تطبيق المهارة أو القاعدة في مواقف جديدة.</a:t>
            </a:r>
            <a:endParaRPr lang="ar-SA" sz="1400" dirty="0"/>
          </a:p>
        </p:txBody>
      </p:sp>
      <p:sp>
        <p:nvSpPr>
          <p:cNvPr id="19" name="Shape 19"/>
          <p:cNvSpPr/>
          <p:nvPr/>
        </p:nvSpPr>
        <p:spPr>
          <a:xfrm>
            <a:off x="3520440" y="307238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DFAF2"/>
          </a:solidFill>
          <a:ln w="12700">
            <a:solidFill>
              <a:srgbClr val="CCF2DB"/>
            </a:solidFill>
            <a:prstDash val="solid"/>
          </a:ln>
        </p:spPr>
      </p:sp>
      <p:sp>
        <p:nvSpPr>
          <p:cNvPr id="20" name="Text 20"/>
          <p:cNvSpPr txBox="1"/>
          <p:nvPr/>
        </p:nvSpPr>
        <p:spPr>
          <a:xfrm>
            <a:off x="3520440" y="3072384"/>
            <a:ext cx="1051560" cy="292608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0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تطبيق</a:t>
            </a:r>
            <a:endParaRPr lang="ar-SA" sz="1000" dirty="0"/>
          </a:p>
        </p:txBody>
      </p:sp>
      <p:sp>
        <p:nvSpPr>
          <p:cNvPr id="21" name="Card 21"/>
          <p:cNvSpPr/>
          <p:nvPr/>
        </p:nvSpPr>
        <p:spPr>
          <a:xfrm>
            <a:off x="3383280" y="3675888"/>
            <a:ext cx="530352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22" name="Circle 22"/>
          <p:cNvSpPr/>
          <p:nvPr/>
        </p:nvSpPr>
        <p:spPr>
          <a:xfrm>
            <a:off x="8183880" y="3803904"/>
            <a:ext cx="402336" cy="402336"/>
          </a:xfrm>
          <a:prstGeom prst="ellipse">
            <a:avLst/>
          </a:prstGeom>
          <a:solidFill>
            <a:srgbClr val="3E6350"/>
          </a:solidFill>
          <a:ln w="12700">
            <a:solidFill>
              <a:srgbClr val="3E6350"/>
            </a:solidFill>
            <a:prstDash val="solid"/>
          </a:ln>
        </p:spPr>
      </p:sp>
      <p:sp>
        <p:nvSpPr>
          <p:cNvPr id="23" name="Text 23"/>
          <p:cNvSpPr txBox="1"/>
          <p:nvPr/>
        </p:nvSpPr>
        <p:spPr>
          <a:xfrm>
            <a:off x="8183880" y="380390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3</a:t>
            </a:r>
            <a:endParaRPr lang="ar-SA" sz="1500" dirty="0"/>
          </a:p>
        </p:txBody>
      </p:sp>
      <p:sp>
        <p:nvSpPr>
          <p:cNvPr id="24" name="Text 24"/>
          <p:cNvSpPr txBox="1"/>
          <p:nvPr/>
        </p:nvSpPr>
        <p:spPr>
          <a:xfrm>
            <a:off x="4709160" y="3675888"/>
            <a:ext cx="3337560" cy="658368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r" marL="0" indent="0">
              <a:buNone/>
            </a:pPr>
            <a:r>
              <a:rPr lang="ar-SA" altLang="en-US" sz="14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تحليل مثال واستنتاج العلاقة بين عناصره.</a:t>
            </a:r>
            <a:endParaRPr lang="ar-SA" sz="1400" dirty="0"/>
          </a:p>
        </p:txBody>
      </p:sp>
      <p:sp>
        <p:nvSpPr>
          <p:cNvPr id="25" name="Shape 25"/>
          <p:cNvSpPr/>
          <p:nvPr/>
        </p:nvSpPr>
        <p:spPr>
          <a:xfrm>
            <a:off x="3520440" y="385876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DFAF2"/>
          </a:solidFill>
          <a:ln w="12700">
            <a:solidFill>
              <a:srgbClr val="CCF2DB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3520440" y="3858768"/>
            <a:ext cx="1051560" cy="292608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0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تفكير عليا</a:t>
            </a:r>
            <a:endParaRPr lang="ar-SA" sz="1000" dirty="0"/>
          </a:p>
        </p:txBody>
      </p:sp>
      <p:sp>
        <p:nvSpPr>
          <p:cNvPr id="27" name="Card 27"/>
          <p:cNvSpPr/>
          <p:nvPr/>
        </p:nvSpPr>
        <p:spPr>
          <a:xfrm>
            <a:off x="457200" y="2103120"/>
            <a:ext cx="2743200" cy="2231136"/>
          </a:xfrm>
          <a:prstGeom prst="roundRect">
            <a:avLst>
              <a:gd name="adj" fmla="val 6000"/>
            </a:avLst>
          </a:prstGeom>
          <a:solidFill>
            <a:srgbClr val="EDFAF2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28" name="Circle 28"/>
          <p:cNvSpPr/>
          <p:nvPr/>
        </p:nvSpPr>
        <p:spPr>
          <a:xfrm>
            <a:off x="1572768" y="2240280"/>
            <a:ext cx="502920" cy="50292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29" name="Image 29" descr="Targe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650" y="2349162"/>
            <a:ext cx="285156" cy="285156"/>
          </a:xfrm>
          <a:prstGeom prst="rect">
            <a:avLst/>
          </a:prstGeom>
        </p:spPr>
      </p:pic>
      <p:sp>
        <p:nvSpPr>
          <p:cNvPr id="30" name="Text 30"/>
          <p:cNvSpPr txBox="1"/>
          <p:nvPr/>
        </p:nvSpPr>
        <p:spPr>
          <a:xfrm>
            <a:off x="594360" y="278892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buNone/>
            </a:pPr>
            <a:r>
              <a:rPr lang="ar-SA" altLang="en-US" sz="15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معايير النجاح</a:t>
            </a:r>
            <a:endParaRPr lang="ar-SA" sz="1500" dirty="0"/>
          </a:p>
        </p:txBody>
      </p:sp>
      <p:sp>
        <p:nvSpPr>
          <p:cNvPr id="31" name="Text 31"/>
          <p:cNvSpPr txBox="1"/>
          <p:nvPr/>
        </p:nvSpPr>
        <p:spPr>
          <a:xfrm>
            <a:off x="640080" y="3154680"/>
            <a:ext cx="2377440" cy="109728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285750" indent="-285750">
              <a:spcAft>
                <a:spcPts val="3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1C3328"/>
                </a:solidFill>
                <a:latin typeface="IBM Plex Sans Arabic"/>
                <a:cs typeface="IBM Plex Sans Arabic"/>
              </a:rPr>
              <a:t>أستطيع أن أشرح المفهوم لزميلي.</a:t>
            </a:r>
            <a:endParaRPr lang="ar-SA" sz="1200" dirty="0"/>
          </a:p>
          <a:p>
            <a:pPr rtl="1" algn="r" marL="285750" indent="-285750">
              <a:spcAft>
                <a:spcPts val="3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1C3328"/>
                </a:solidFill>
                <a:latin typeface="IBM Plex Sans Arabic"/>
                <a:cs typeface="IBM Plex Sans Arabic"/>
              </a:rPr>
              <a:t>أستطيع أن أحل مثالًا جديدًا.</a:t>
            </a:r>
            <a:endParaRPr lang="ar-SA" sz="1200" dirty="0"/>
          </a:p>
          <a:p>
            <a:pPr rtl="1" algn="r" marL="285750" indent="-285750">
              <a:spcAft>
                <a:spcPts val="3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1C3328"/>
                </a:solidFill>
                <a:latin typeface="IBM Plex Sans Arabic"/>
                <a:cs typeface="IBM Plex Sans Arabic"/>
              </a:rPr>
              <a:t>أستطيع أن أبرّر إجابتي.</a:t>
            </a:r>
            <a:endParaRPr lang="ar-SA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 2"/>
          <p:cNvSpPr/>
          <p:nvPr/>
        </p:nvSpPr>
        <p:spPr>
          <a:xfrm>
            <a:off x="7223760" y="868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3" name="Label 3"/>
          <p:cNvSpPr txBox="1"/>
          <p:nvPr/>
        </p:nvSpPr>
        <p:spPr>
          <a:xfrm>
            <a:off x="7223760" y="86868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200" b="1" dirty="0">
                <a:solidFill>
                  <a:srgbClr val="16301F"/>
                </a:solidFill>
                <a:latin typeface="IBM Plex Sans Arabic"/>
                <a:cs typeface="IBM Plex Sans Arabic"/>
              </a:rPr>
              <a:t>مفردات الدرس</a:t>
            </a:r>
            <a:endParaRPr lang="ar-SA" sz="1200" dirty="0"/>
          </a:p>
        </p:txBody>
      </p:sp>
      <p:sp>
        <p:nvSpPr>
          <p:cNvPr id="4" name="Title 4"/>
          <p:cNvSpPr txBox="1"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30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مفاهيم نحتاجها اليوم</a:t>
            </a:r>
            <a:endParaRPr lang="ar-SA" sz="3000" dirty="0"/>
          </a:p>
        </p:txBody>
      </p:sp>
      <p:sp>
        <p:nvSpPr>
          <p:cNvPr id="5" name="Slide Number 5"/>
          <p:cNvSpPr txBox="1"/>
          <p:nvPr/>
        </p:nvSpPr>
        <p:spPr>
          <a:xfrm>
            <a:off x="8412480" y="47091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fld id="{B6F15528-21DE-4FAA-801E-634DDDAF4B2B}" type="slidenum">
              <a:rPr lang="en-US" sz="900" dirty="0">
                <a:solidFill>
                  <a:srgbClr val="5E7268"/>
                </a:solidFill>
                <a:latin typeface="IBM Plex Sans Arabic"/>
                <a:cs typeface="IBM Plex Sans Arabic"/>
              </a:rPr>
              <a:t>‹#›</a:t>
            </a:fld>
          </a:p>
        </p:txBody>
      </p:sp>
      <p:sp>
        <p:nvSpPr>
          <p:cNvPr id="6" name="Card 6"/>
          <p:cNvSpPr/>
          <p:nvPr/>
        </p:nvSpPr>
        <p:spPr>
          <a:xfrm>
            <a:off x="4663440" y="2103120"/>
            <a:ext cx="4023360" cy="1097280"/>
          </a:xfrm>
          <a:prstGeom prst="roundRect">
            <a:avLst>
              <a:gd name="adj" fmla="val 6000"/>
            </a:avLst>
          </a:prstGeom>
          <a:solidFill>
            <a:srgbClr val="EDFAF2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7" name="Circle 7"/>
          <p:cNvSpPr/>
          <p:nvPr/>
        </p:nvSpPr>
        <p:spPr>
          <a:xfrm>
            <a:off x="8001000" y="2377440"/>
            <a:ext cx="502920" cy="50292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8" name="Image 8" descr="BookOpe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9882" y="2486322"/>
            <a:ext cx="285156" cy="285156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4892040" y="2258568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16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المفهوم الأول</a:t>
            </a:r>
            <a:endParaRPr lang="ar-SA" sz="1600" dirty="0"/>
          </a:p>
        </p:txBody>
      </p:sp>
      <p:sp>
        <p:nvSpPr>
          <p:cNvPr id="10" name="Text 10"/>
          <p:cNvSpPr txBox="1"/>
          <p:nvPr/>
        </p:nvSpPr>
        <p:spPr>
          <a:xfrm>
            <a:off x="4892040" y="2633472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1200" dirty="0">
                <a:solidFill>
                  <a:srgbClr val="5E7268"/>
                </a:solidFill>
                <a:latin typeface="IBM Plex Sans Arabic"/>
                <a:cs typeface="IBM Plex Sans Arabic"/>
              </a:rPr>
              <a:t>تعريف مختصر بلغة الطالب مع مثال من الواقع.</a:t>
            </a:r>
            <a:endParaRPr lang="ar-SA" sz="1200" dirty="0"/>
          </a:p>
        </p:txBody>
      </p:sp>
      <p:sp>
        <p:nvSpPr>
          <p:cNvPr id="11" name="Card 11"/>
          <p:cNvSpPr/>
          <p:nvPr/>
        </p:nvSpPr>
        <p:spPr>
          <a:xfrm>
            <a:off x="457200" y="2103120"/>
            <a:ext cx="40233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12" name="Circle 12"/>
          <p:cNvSpPr/>
          <p:nvPr/>
        </p:nvSpPr>
        <p:spPr>
          <a:xfrm>
            <a:off x="3794760" y="2377440"/>
            <a:ext cx="502920" cy="50292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13" name="Image 13" descr="BookOpe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03642" y="2486322"/>
            <a:ext cx="285156" cy="285156"/>
          </a:xfrm>
          <a:prstGeom prst="rect">
            <a:avLst/>
          </a:prstGeom>
        </p:spPr>
      </p:pic>
      <p:sp>
        <p:nvSpPr>
          <p:cNvPr id="14" name="Text 14"/>
          <p:cNvSpPr txBox="1"/>
          <p:nvPr/>
        </p:nvSpPr>
        <p:spPr>
          <a:xfrm>
            <a:off x="685800" y="2258568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16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المفهوم الثاني</a:t>
            </a:r>
            <a:endParaRPr lang="ar-SA" sz="1600" dirty="0"/>
          </a:p>
        </p:txBody>
      </p:sp>
      <p:sp>
        <p:nvSpPr>
          <p:cNvPr id="15" name="Text 15"/>
          <p:cNvSpPr txBox="1"/>
          <p:nvPr/>
        </p:nvSpPr>
        <p:spPr>
          <a:xfrm>
            <a:off x="685800" y="2633472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1200" dirty="0">
                <a:solidFill>
                  <a:srgbClr val="5E7268"/>
                </a:solidFill>
                <a:latin typeface="IBM Plex Sans Arabic"/>
                <a:cs typeface="IBM Plex Sans Arabic"/>
              </a:rPr>
              <a:t>تعريف مختصر بلغة الطالب مع مثال من الواقع.</a:t>
            </a:r>
            <a:endParaRPr lang="ar-SA" sz="1200" dirty="0"/>
          </a:p>
        </p:txBody>
      </p:sp>
      <p:sp>
        <p:nvSpPr>
          <p:cNvPr id="16" name="Card 16"/>
          <p:cNvSpPr/>
          <p:nvPr/>
        </p:nvSpPr>
        <p:spPr>
          <a:xfrm>
            <a:off x="4663440" y="3337560"/>
            <a:ext cx="40233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17" name="Circle 17"/>
          <p:cNvSpPr/>
          <p:nvPr/>
        </p:nvSpPr>
        <p:spPr>
          <a:xfrm>
            <a:off x="8001000" y="3611880"/>
            <a:ext cx="502920" cy="50292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18" name="Image 18" descr="BookOpe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9882" y="3720762"/>
            <a:ext cx="285156" cy="285156"/>
          </a:xfrm>
          <a:prstGeom prst="rect">
            <a:avLst/>
          </a:prstGeom>
        </p:spPr>
      </p:pic>
      <p:sp>
        <p:nvSpPr>
          <p:cNvPr id="19" name="Text 19"/>
          <p:cNvSpPr txBox="1"/>
          <p:nvPr/>
        </p:nvSpPr>
        <p:spPr>
          <a:xfrm>
            <a:off x="4892040" y="3493008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16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المفهوم الثالث</a:t>
            </a:r>
            <a:endParaRPr lang="ar-SA" sz="1600" dirty="0"/>
          </a:p>
        </p:txBody>
      </p:sp>
      <p:sp>
        <p:nvSpPr>
          <p:cNvPr id="20" name="Text 20"/>
          <p:cNvSpPr txBox="1"/>
          <p:nvPr/>
        </p:nvSpPr>
        <p:spPr>
          <a:xfrm>
            <a:off x="4892040" y="3867912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1200" dirty="0">
                <a:solidFill>
                  <a:srgbClr val="5E7268"/>
                </a:solidFill>
                <a:latin typeface="IBM Plex Sans Arabic"/>
                <a:cs typeface="IBM Plex Sans Arabic"/>
              </a:rPr>
              <a:t>تعريف مختصر بلغة الطالب مع مثال من الواقع.</a:t>
            </a:r>
            <a:endParaRPr lang="ar-SA" sz="1200" dirty="0"/>
          </a:p>
        </p:txBody>
      </p:sp>
      <p:sp>
        <p:nvSpPr>
          <p:cNvPr id="21" name="Card 21"/>
          <p:cNvSpPr/>
          <p:nvPr/>
        </p:nvSpPr>
        <p:spPr>
          <a:xfrm>
            <a:off x="457200" y="3337560"/>
            <a:ext cx="4023360" cy="1097280"/>
          </a:xfrm>
          <a:prstGeom prst="roundRect">
            <a:avLst>
              <a:gd name="adj" fmla="val 6000"/>
            </a:avLst>
          </a:prstGeom>
          <a:solidFill>
            <a:srgbClr val="EDFAF2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22" name="Circle 22"/>
          <p:cNvSpPr/>
          <p:nvPr/>
        </p:nvSpPr>
        <p:spPr>
          <a:xfrm>
            <a:off x="3794760" y="3611880"/>
            <a:ext cx="502920" cy="50292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23" name="Image 23" descr="BookOpe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03642" y="3720762"/>
            <a:ext cx="285156" cy="285156"/>
          </a:xfrm>
          <a:prstGeom prst="rect">
            <a:avLst/>
          </a:prstGeom>
        </p:spPr>
      </p:pic>
      <p:sp>
        <p:nvSpPr>
          <p:cNvPr id="24" name="Text 24"/>
          <p:cNvSpPr txBox="1"/>
          <p:nvPr/>
        </p:nvSpPr>
        <p:spPr>
          <a:xfrm>
            <a:off x="685800" y="3493008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16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المفهوم الرابع</a:t>
            </a:r>
            <a:endParaRPr lang="ar-SA" sz="1600" dirty="0"/>
          </a:p>
        </p:txBody>
      </p:sp>
      <p:sp>
        <p:nvSpPr>
          <p:cNvPr id="25" name="Text 25"/>
          <p:cNvSpPr txBox="1"/>
          <p:nvPr/>
        </p:nvSpPr>
        <p:spPr>
          <a:xfrm>
            <a:off x="685800" y="3867912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1200" dirty="0">
                <a:solidFill>
                  <a:srgbClr val="5E7268"/>
                </a:solidFill>
                <a:latin typeface="IBM Plex Sans Arabic"/>
                <a:cs typeface="IBM Plex Sans Arabic"/>
              </a:rPr>
              <a:t>تعريف مختصر بلغة الطالب مع مثال من الواقع.</a:t>
            </a:r>
            <a:endParaRPr lang="ar-SA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 2"/>
          <p:cNvSpPr/>
          <p:nvPr/>
        </p:nvSpPr>
        <p:spPr>
          <a:xfrm>
            <a:off x="7223760" y="868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3" name="Label 3"/>
          <p:cNvSpPr txBox="1"/>
          <p:nvPr/>
        </p:nvSpPr>
        <p:spPr>
          <a:xfrm>
            <a:off x="7223760" y="86868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200" b="1" dirty="0">
                <a:solidFill>
                  <a:srgbClr val="16301F"/>
                </a:solidFill>
                <a:latin typeface="IBM Plex Sans Arabic"/>
                <a:cs typeface="IBM Plex Sans Arabic"/>
              </a:rPr>
              <a:t>أنا أعمل</a:t>
            </a:r>
            <a:endParaRPr lang="ar-SA" sz="1200" dirty="0"/>
          </a:p>
        </p:txBody>
      </p:sp>
      <p:sp>
        <p:nvSpPr>
          <p:cNvPr id="4" name="Time 4"/>
          <p:cNvSpPr/>
          <p:nvPr/>
        </p:nvSpPr>
        <p:spPr>
          <a:xfrm>
            <a:off x="5623560" y="868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3E6350"/>
          </a:solidFill>
          <a:ln w="12700">
            <a:solidFill>
              <a:srgbClr val="3E6350"/>
            </a:solidFill>
            <a:prstDash val="solid"/>
          </a:ln>
        </p:spPr>
      </p:sp>
      <p:pic>
        <p:nvPicPr>
          <p:cNvPr id="5" name="Image 5" descr="مؤقت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2" y="941832"/>
            <a:ext cx="182880" cy="182880"/>
          </a:xfrm>
          <a:prstGeom prst="rect">
            <a:avLst/>
          </a:prstGeom>
        </p:spPr>
      </p:pic>
      <p:sp>
        <p:nvSpPr>
          <p:cNvPr id="6" name="TimeText 6"/>
          <p:cNvSpPr txBox="1"/>
          <p:nvPr/>
        </p:nvSpPr>
        <p:spPr>
          <a:xfrm>
            <a:off x="5715000" y="868680"/>
            <a:ext cx="987552" cy="329184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10 دقائق</a:t>
            </a:r>
            <a:endParaRPr lang="ar-SA" sz="1200" dirty="0"/>
          </a:p>
        </p:txBody>
      </p:sp>
      <p:sp>
        <p:nvSpPr>
          <p:cNvPr id="7" name="Title 7"/>
          <p:cNvSpPr txBox="1"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30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الشرح والنمذجة</a:t>
            </a:r>
            <a:endParaRPr lang="ar-SA" sz="3000" dirty="0"/>
          </a:p>
        </p:txBody>
      </p:sp>
      <p:sp>
        <p:nvSpPr>
          <p:cNvPr id="8" name="Slide Number 8"/>
          <p:cNvSpPr txBox="1"/>
          <p:nvPr/>
        </p:nvSpPr>
        <p:spPr>
          <a:xfrm>
            <a:off x="8412480" y="47091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fld id="{B6F15528-21DE-4FAA-801E-634DDDAF4B2B}" type="slidenum">
              <a:rPr lang="en-US" sz="900" dirty="0">
                <a:solidFill>
                  <a:srgbClr val="5E7268"/>
                </a:solidFill>
                <a:latin typeface="IBM Plex Sans Arabic"/>
                <a:cs typeface="IBM Plex Sans Arabic"/>
              </a:rPr>
              <a:t>‹#›</a:t>
            </a:fld>
          </a:p>
        </p:txBody>
      </p:sp>
      <p:sp>
        <p:nvSpPr>
          <p:cNvPr id="9" name="Card 9"/>
          <p:cNvSpPr/>
          <p:nvPr/>
        </p:nvSpPr>
        <p:spPr>
          <a:xfrm>
            <a:off x="4663440" y="2057400"/>
            <a:ext cx="4023360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10" name="Text 10"/>
          <p:cNvSpPr txBox="1"/>
          <p:nvPr/>
        </p:nvSpPr>
        <p:spPr>
          <a:xfrm>
            <a:off x="4937760" y="2212848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18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الفكرة الرئيسة</a:t>
            </a:r>
            <a:endParaRPr lang="ar-SA" sz="1800" dirty="0"/>
          </a:p>
        </p:txBody>
      </p:sp>
      <p:sp>
        <p:nvSpPr>
          <p:cNvPr id="11" name="Text 11"/>
          <p:cNvSpPr txBox="1"/>
          <p:nvPr/>
        </p:nvSpPr>
        <p:spPr>
          <a:xfrm>
            <a:off x="4937760" y="2697480"/>
            <a:ext cx="3474720" cy="164592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285750" indent="-285750">
              <a:spcAft>
                <a:spcPts val="800"/>
              </a:spcAft>
              <a:buSzPct val="100000"/>
              <a:buChar char="•"/>
            </a:pPr>
            <a:r>
              <a:rPr lang="ar-SA" altLang="en-US" sz="1400" dirty="0">
                <a:solidFill>
                  <a:srgbClr val="1C3328"/>
                </a:solidFill>
                <a:latin typeface="IBM Plex Sans Arabic"/>
                <a:cs typeface="IBM Plex Sans Arabic"/>
              </a:rPr>
              <a:t>النقطة الأولى في جملة قصيرة.</a:t>
            </a:r>
            <a:endParaRPr lang="ar-SA" sz="1400" dirty="0"/>
          </a:p>
          <a:p>
            <a:pPr rtl="1" algn="r" marL="285750" indent="-285750">
              <a:spcAft>
                <a:spcPts val="800"/>
              </a:spcAft>
              <a:buSzPct val="100000"/>
              <a:buChar char="•"/>
            </a:pPr>
            <a:r>
              <a:rPr lang="ar-SA" altLang="en-US" sz="1400" dirty="0">
                <a:solidFill>
                  <a:srgbClr val="1C3328"/>
                </a:solidFill>
                <a:latin typeface="IBM Plex Sans Arabic"/>
                <a:cs typeface="IBM Plex Sans Arabic"/>
              </a:rPr>
              <a:t>النقطة الثانية مع رسم أو صورة.</a:t>
            </a:r>
            <a:endParaRPr lang="ar-SA" sz="1400" dirty="0"/>
          </a:p>
          <a:p>
            <a:pPr rtl="1" algn="r" marL="285750" indent="-285750">
              <a:spcAft>
                <a:spcPts val="800"/>
              </a:spcAft>
              <a:buSzPct val="100000"/>
              <a:buChar char="•"/>
            </a:pPr>
            <a:r>
              <a:rPr lang="ar-SA" altLang="en-US" sz="1400" dirty="0">
                <a:solidFill>
                  <a:srgbClr val="1C3328"/>
                </a:solidFill>
                <a:latin typeface="IBM Plex Sans Arabic"/>
                <a:cs typeface="IBM Plex Sans Arabic"/>
              </a:rPr>
              <a:t>النقطة الثالثة وربطها بالهدف.</a:t>
            </a:r>
            <a:endParaRPr lang="ar-SA" sz="1400" dirty="0"/>
          </a:p>
        </p:txBody>
      </p:sp>
      <p:sp>
        <p:nvSpPr>
          <p:cNvPr id="12" name="Card 12"/>
          <p:cNvSpPr/>
          <p:nvPr/>
        </p:nvSpPr>
        <p:spPr>
          <a:xfrm>
            <a:off x="457200" y="2057400"/>
            <a:ext cx="4023360" cy="2423160"/>
          </a:xfrm>
          <a:prstGeom prst="roundRect">
            <a:avLst>
              <a:gd name="adj" fmla="val 6000"/>
            </a:avLst>
          </a:prstGeom>
          <a:solidFill>
            <a:srgbClr val="EDFAF2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13" name="Text 13"/>
          <p:cNvSpPr txBox="1"/>
          <p:nvPr/>
        </p:nvSpPr>
        <p:spPr>
          <a:xfrm>
            <a:off x="731520" y="2212848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18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مثال محلول خطوة بخطوة</a:t>
            </a:r>
            <a:endParaRPr lang="ar-SA" sz="1800" dirty="0"/>
          </a:p>
        </p:txBody>
      </p:sp>
      <p:sp>
        <p:nvSpPr>
          <p:cNvPr id="14" name="Circle 14"/>
          <p:cNvSpPr/>
          <p:nvPr/>
        </p:nvSpPr>
        <p:spPr>
          <a:xfrm>
            <a:off x="3886200" y="2743200"/>
            <a:ext cx="365760" cy="36576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15" name="Text 15"/>
          <p:cNvSpPr txBox="1"/>
          <p:nvPr/>
        </p:nvSpPr>
        <p:spPr>
          <a:xfrm>
            <a:off x="3886200" y="27432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300" b="1" dirty="0">
                <a:solidFill>
                  <a:srgbClr val="16301F"/>
                </a:solidFill>
                <a:latin typeface="IBM Plex Sans Arabic"/>
                <a:cs typeface="IBM Plex Sans Arabic"/>
              </a:rPr>
              <a:t>1</a:t>
            </a:r>
            <a:endParaRPr lang="ar-SA" sz="1300" dirty="0"/>
          </a:p>
        </p:txBody>
      </p:sp>
      <p:sp>
        <p:nvSpPr>
          <p:cNvPr id="16" name="Text 16"/>
          <p:cNvSpPr txBox="1"/>
          <p:nvPr/>
        </p:nvSpPr>
        <p:spPr>
          <a:xfrm>
            <a:off x="731520" y="27432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r" marL="0" indent="0">
              <a:buNone/>
            </a:pPr>
            <a:r>
              <a:rPr lang="ar-SA" altLang="en-US" sz="1300" dirty="0">
                <a:solidFill>
                  <a:srgbClr val="1C3328"/>
                </a:solidFill>
                <a:latin typeface="IBM Plex Sans Arabic"/>
                <a:cs typeface="IBM Plex Sans Arabic"/>
              </a:rPr>
              <a:t>أقرأ المعطيات وأحدد المطلوب.</a:t>
            </a:r>
            <a:endParaRPr lang="ar-SA" sz="1300" dirty="0"/>
          </a:p>
        </p:txBody>
      </p:sp>
      <p:sp>
        <p:nvSpPr>
          <p:cNvPr id="17" name="Circle 17"/>
          <p:cNvSpPr/>
          <p:nvPr/>
        </p:nvSpPr>
        <p:spPr>
          <a:xfrm>
            <a:off x="3886200" y="3291840"/>
            <a:ext cx="365760" cy="36576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18" name="Text 18"/>
          <p:cNvSpPr txBox="1"/>
          <p:nvPr/>
        </p:nvSpPr>
        <p:spPr>
          <a:xfrm>
            <a:off x="3886200" y="32918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300" b="1" dirty="0">
                <a:solidFill>
                  <a:srgbClr val="16301F"/>
                </a:solidFill>
                <a:latin typeface="IBM Plex Sans Arabic"/>
                <a:cs typeface="IBM Plex Sans Arabic"/>
              </a:rPr>
              <a:t>2</a:t>
            </a:r>
            <a:endParaRPr lang="ar-SA" sz="1300" dirty="0"/>
          </a:p>
        </p:txBody>
      </p:sp>
      <p:sp>
        <p:nvSpPr>
          <p:cNvPr id="19" name="Text 19"/>
          <p:cNvSpPr txBox="1"/>
          <p:nvPr/>
        </p:nvSpPr>
        <p:spPr>
          <a:xfrm>
            <a:off x="731520" y="32918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r" marL="0" indent="0">
              <a:buNone/>
            </a:pPr>
            <a:r>
              <a:rPr lang="ar-SA" altLang="en-US" sz="1300" dirty="0">
                <a:solidFill>
                  <a:srgbClr val="1C3328"/>
                </a:solidFill>
                <a:latin typeface="IBM Plex Sans Arabic"/>
                <a:cs typeface="IBM Plex Sans Arabic"/>
              </a:rPr>
              <a:t>أختار القاعدة أو الإستراتيجية.</a:t>
            </a:r>
            <a:endParaRPr lang="ar-SA" sz="1300" dirty="0"/>
          </a:p>
        </p:txBody>
      </p:sp>
      <p:sp>
        <p:nvSpPr>
          <p:cNvPr id="20" name="Circle 20"/>
          <p:cNvSpPr/>
          <p:nvPr/>
        </p:nvSpPr>
        <p:spPr>
          <a:xfrm>
            <a:off x="3886200" y="3840480"/>
            <a:ext cx="365760" cy="36576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21" name="Text 21"/>
          <p:cNvSpPr txBox="1"/>
          <p:nvPr/>
        </p:nvSpPr>
        <p:spPr>
          <a:xfrm>
            <a:off x="3886200" y="38404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300" b="1" dirty="0">
                <a:solidFill>
                  <a:srgbClr val="16301F"/>
                </a:solidFill>
                <a:latin typeface="IBM Plex Sans Arabic"/>
                <a:cs typeface="IBM Plex Sans Arabic"/>
              </a:rPr>
              <a:t>3</a:t>
            </a:r>
            <a:endParaRPr lang="ar-SA" sz="1300" dirty="0"/>
          </a:p>
        </p:txBody>
      </p:sp>
      <p:sp>
        <p:nvSpPr>
          <p:cNvPr id="22" name="Text 22"/>
          <p:cNvSpPr txBox="1"/>
          <p:nvPr/>
        </p:nvSpPr>
        <p:spPr>
          <a:xfrm>
            <a:off x="731520" y="38404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r" marL="0" indent="0">
              <a:buNone/>
            </a:pPr>
            <a:r>
              <a:rPr lang="ar-SA" altLang="en-US" sz="1300" dirty="0">
                <a:solidFill>
                  <a:srgbClr val="1C3328"/>
                </a:solidFill>
                <a:latin typeface="IBM Plex Sans Arabic"/>
                <a:cs typeface="IBM Plex Sans Arabic"/>
              </a:rPr>
              <a:t>أنفّذ وأتحقق من الإجابة.</a:t>
            </a:r>
            <a:endParaRPr lang="ar-SA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 2"/>
          <p:cNvSpPr/>
          <p:nvPr/>
        </p:nvSpPr>
        <p:spPr>
          <a:xfrm>
            <a:off x="7223760" y="868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3" name="Label 3"/>
          <p:cNvSpPr txBox="1"/>
          <p:nvPr/>
        </p:nvSpPr>
        <p:spPr>
          <a:xfrm>
            <a:off x="7223760" y="86868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200" b="1" dirty="0">
                <a:solidFill>
                  <a:srgbClr val="16301F"/>
                </a:solidFill>
                <a:latin typeface="IBM Plex Sans Arabic"/>
                <a:cs typeface="IBM Plex Sans Arabic"/>
              </a:rPr>
              <a:t>تقويم تكويني</a:t>
            </a:r>
            <a:endParaRPr lang="ar-SA" sz="1200" dirty="0"/>
          </a:p>
        </p:txBody>
      </p:sp>
      <p:sp>
        <p:nvSpPr>
          <p:cNvPr id="4" name="Title 4"/>
          <p:cNvSpPr txBox="1"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30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تحقّق من فهمك</a:t>
            </a:r>
            <a:endParaRPr lang="ar-SA" sz="3000" dirty="0"/>
          </a:p>
        </p:txBody>
      </p:sp>
      <p:sp>
        <p:nvSpPr>
          <p:cNvPr id="5" name="Slide Number 5"/>
          <p:cNvSpPr txBox="1"/>
          <p:nvPr/>
        </p:nvSpPr>
        <p:spPr>
          <a:xfrm>
            <a:off x="8412480" y="47091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fld id="{B6F15528-21DE-4FAA-801E-634DDDAF4B2B}" type="slidenum">
              <a:rPr lang="en-US" sz="900" dirty="0">
                <a:solidFill>
                  <a:srgbClr val="5E7268"/>
                </a:solidFill>
                <a:latin typeface="IBM Plex Sans Arabic"/>
                <a:cs typeface="IBM Plex Sans Arabic"/>
              </a:rPr>
              <a:t>‹#›</a:t>
            </a:fld>
          </a:p>
        </p:txBody>
      </p:sp>
      <p:sp>
        <p:nvSpPr>
          <p:cNvPr id="6" name="Text 6"/>
          <p:cNvSpPr txBox="1"/>
          <p:nvPr/>
        </p:nvSpPr>
        <p:spPr>
          <a:xfrm>
            <a:off x="457200" y="201168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r" marL="0" indent="0">
              <a:buNone/>
            </a:pPr>
            <a:r>
              <a:rPr lang="ar-SA" altLang="en-US" sz="18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اكتب هنا سؤالًا يكشف الخطأ الشائع في هذا الدرس؟</a:t>
            </a:r>
            <a:endParaRPr lang="ar-SA" sz="1800" dirty="0"/>
          </a:p>
        </p:txBody>
      </p:sp>
      <p:sp>
        <p:nvSpPr>
          <p:cNvPr id="7" name="Card 7"/>
          <p:cNvSpPr/>
          <p:nvPr/>
        </p:nvSpPr>
        <p:spPr>
          <a:xfrm>
            <a:off x="4663440" y="2697480"/>
            <a:ext cx="402336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8" name="Circle 8"/>
          <p:cNvSpPr/>
          <p:nvPr/>
        </p:nvSpPr>
        <p:spPr>
          <a:xfrm>
            <a:off x="8092440" y="2825496"/>
            <a:ext cx="457200" cy="45720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9" name="Text 9"/>
          <p:cNvSpPr txBox="1"/>
          <p:nvPr/>
        </p:nvSpPr>
        <p:spPr>
          <a:xfrm>
            <a:off x="8092440" y="282549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700" b="1" dirty="0">
                <a:solidFill>
                  <a:srgbClr val="16301F"/>
                </a:solidFill>
                <a:latin typeface="IBM Plex Sans Arabic"/>
                <a:cs typeface="IBM Plex Sans Arabic"/>
              </a:rPr>
              <a:t>أ</a:t>
            </a:r>
            <a:endParaRPr lang="ar-SA" sz="1700" dirty="0"/>
          </a:p>
        </p:txBody>
      </p:sp>
      <p:sp>
        <p:nvSpPr>
          <p:cNvPr id="10" name="Text 10"/>
          <p:cNvSpPr txBox="1"/>
          <p:nvPr/>
        </p:nvSpPr>
        <p:spPr>
          <a:xfrm>
            <a:off x="4892040" y="2697480"/>
            <a:ext cx="3063240" cy="713232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r" marL="0" indent="0">
              <a:buNone/>
            </a:pPr>
            <a:r>
              <a:rPr lang="ar-SA" altLang="en-US" sz="1500" dirty="0">
                <a:solidFill>
                  <a:srgbClr val="1C3328"/>
                </a:solidFill>
                <a:latin typeface="IBM Plex Sans Arabic"/>
                <a:cs typeface="IBM Plex Sans Arabic"/>
              </a:rPr>
              <a:t>الخيار الأول</a:t>
            </a:r>
            <a:endParaRPr lang="ar-SA" sz="1500" dirty="0"/>
          </a:p>
        </p:txBody>
      </p:sp>
      <p:sp>
        <p:nvSpPr>
          <p:cNvPr id="11" name="Card 11"/>
          <p:cNvSpPr/>
          <p:nvPr/>
        </p:nvSpPr>
        <p:spPr>
          <a:xfrm>
            <a:off x="457200" y="2697480"/>
            <a:ext cx="402336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12" name="Circle 12"/>
          <p:cNvSpPr/>
          <p:nvPr/>
        </p:nvSpPr>
        <p:spPr>
          <a:xfrm>
            <a:off x="3886200" y="2825496"/>
            <a:ext cx="457200" cy="45720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13" name="Text 13"/>
          <p:cNvSpPr txBox="1"/>
          <p:nvPr/>
        </p:nvSpPr>
        <p:spPr>
          <a:xfrm>
            <a:off x="3886200" y="282549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700" b="1" dirty="0">
                <a:solidFill>
                  <a:srgbClr val="16301F"/>
                </a:solidFill>
                <a:latin typeface="IBM Plex Sans Arabic"/>
                <a:cs typeface="IBM Plex Sans Arabic"/>
              </a:rPr>
              <a:t>ب</a:t>
            </a:r>
            <a:endParaRPr lang="ar-SA" sz="1700" dirty="0"/>
          </a:p>
        </p:txBody>
      </p:sp>
      <p:sp>
        <p:nvSpPr>
          <p:cNvPr id="14" name="Text 14"/>
          <p:cNvSpPr txBox="1"/>
          <p:nvPr/>
        </p:nvSpPr>
        <p:spPr>
          <a:xfrm>
            <a:off x="685800" y="2697480"/>
            <a:ext cx="3063240" cy="713232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r" marL="0" indent="0">
              <a:buNone/>
            </a:pPr>
            <a:r>
              <a:rPr lang="ar-SA" altLang="en-US" sz="1500" dirty="0">
                <a:solidFill>
                  <a:srgbClr val="1C3328"/>
                </a:solidFill>
                <a:latin typeface="IBM Plex Sans Arabic"/>
                <a:cs typeface="IBM Plex Sans Arabic"/>
              </a:rPr>
              <a:t>الخيار الثاني</a:t>
            </a:r>
            <a:endParaRPr lang="ar-SA" sz="1500" dirty="0"/>
          </a:p>
        </p:txBody>
      </p:sp>
      <p:sp>
        <p:nvSpPr>
          <p:cNvPr id="15" name="Card 15"/>
          <p:cNvSpPr/>
          <p:nvPr/>
        </p:nvSpPr>
        <p:spPr>
          <a:xfrm>
            <a:off x="4663440" y="3566160"/>
            <a:ext cx="402336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16" name="Circle 16"/>
          <p:cNvSpPr/>
          <p:nvPr/>
        </p:nvSpPr>
        <p:spPr>
          <a:xfrm>
            <a:off x="8092440" y="3694176"/>
            <a:ext cx="457200" cy="45720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17" name="Text 17"/>
          <p:cNvSpPr txBox="1"/>
          <p:nvPr/>
        </p:nvSpPr>
        <p:spPr>
          <a:xfrm>
            <a:off x="8092440" y="369417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700" b="1" dirty="0">
                <a:solidFill>
                  <a:srgbClr val="16301F"/>
                </a:solidFill>
                <a:latin typeface="IBM Plex Sans Arabic"/>
                <a:cs typeface="IBM Plex Sans Arabic"/>
              </a:rPr>
              <a:t>ج</a:t>
            </a:r>
            <a:endParaRPr lang="ar-SA" sz="1700" dirty="0"/>
          </a:p>
        </p:txBody>
      </p:sp>
      <p:sp>
        <p:nvSpPr>
          <p:cNvPr id="18" name="Text 18"/>
          <p:cNvSpPr txBox="1"/>
          <p:nvPr/>
        </p:nvSpPr>
        <p:spPr>
          <a:xfrm>
            <a:off x="4892040" y="3566160"/>
            <a:ext cx="3063240" cy="713232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r" marL="0" indent="0">
              <a:buNone/>
            </a:pPr>
            <a:r>
              <a:rPr lang="ar-SA" altLang="en-US" sz="1500" dirty="0">
                <a:solidFill>
                  <a:srgbClr val="1C3328"/>
                </a:solidFill>
                <a:latin typeface="IBM Plex Sans Arabic"/>
                <a:cs typeface="IBM Plex Sans Arabic"/>
              </a:rPr>
              <a:t>الخيار الثالث</a:t>
            </a:r>
            <a:endParaRPr lang="ar-SA" sz="1500" dirty="0"/>
          </a:p>
        </p:txBody>
      </p:sp>
      <p:sp>
        <p:nvSpPr>
          <p:cNvPr id="19" name="Card 19"/>
          <p:cNvSpPr/>
          <p:nvPr/>
        </p:nvSpPr>
        <p:spPr>
          <a:xfrm>
            <a:off x="457200" y="3566160"/>
            <a:ext cx="402336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20" name="Circle 20"/>
          <p:cNvSpPr/>
          <p:nvPr/>
        </p:nvSpPr>
        <p:spPr>
          <a:xfrm>
            <a:off x="3886200" y="3694176"/>
            <a:ext cx="457200" cy="45720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21" name="Text 21"/>
          <p:cNvSpPr txBox="1"/>
          <p:nvPr/>
        </p:nvSpPr>
        <p:spPr>
          <a:xfrm>
            <a:off x="3886200" y="369417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700" b="1" dirty="0">
                <a:solidFill>
                  <a:srgbClr val="16301F"/>
                </a:solidFill>
                <a:latin typeface="IBM Plex Sans Arabic"/>
                <a:cs typeface="IBM Plex Sans Arabic"/>
              </a:rPr>
              <a:t>د</a:t>
            </a:r>
            <a:endParaRPr lang="ar-SA" sz="1700" dirty="0"/>
          </a:p>
        </p:txBody>
      </p:sp>
      <p:sp>
        <p:nvSpPr>
          <p:cNvPr id="22" name="Text 22"/>
          <p:cNvSpPr txBox="1"/>
          <p:nvPr/>
        </p:nvSpPr>
        <p:spPr>
          <a:xfrm>
            <a:off x="685800" y="3566160"/>
            <a:ext cx="3063240" cy="713232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r" marL="0" indent="0">
              <a:buNone/>
            </a:pPr>
            <a:r>
              <a:rPr lang="ar-SA" altLang="en-US" sz="1500" dirty="0">
                <a:solidFill>
                  <a:srgbClr val="1C3328"/>
                </a:solidFill>
                <a:latin typeface="IBM Plex Sans Arabic"/>
                <a:cs typeface="IBM Plex Sans Arabic"/>
              </a:rPr>
              <a:t>الخيار الرابع</a:t>
            </a:r>
            <a:endParaRPr lang="ar-SA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 2"/>
          <p:cNvSpPr/>
          <p:nvPr/>
        </p:nvSpPr>
        <p:spPr>
          <a:xfrm>
            <a:off x="7223760" y="868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3" name="Label 3"/>
          <p:cNvSpPr txBox="1"/>
          <p:nvPr/>
        </p:nvSpPr>
        <p:spPr>
          <a:xfrm>
            <a:off x="7223760" y="86868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200" b="1" dirty="0">
                <a:solidFill>
                  <a:srgbClr val="16301F"/>
                </a:solidFill>
                <a:latin typeface="IBM Plex Sans Arabic"/>
                <a:cs typeface="IBM Plex Sans Arabic"/>
              </a:rPr>
              <a:t>نحن نعمل</a:t>
            </a:r>
            <a:endParaRPr lang="ar-SA" sz="1200" dirty="0"/>
          </a:p>
        </p:txBody>
      </p:sp>
      <p:sp>
        <p:nvSpPr>
          <p:cNvPr id="4" name="Time 4"/>
          <p:cNvSpPr/>
          <p:nvPr/>
        </p:nvSpPr>
        <p:spPr>
          <a:xfrm>
            <a:off x="5623560" y="868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3E6350"/>
          </a:solidFill>
          <a:ln w="12700">
            <a:solidFill>
              <a:srgbClr val="3E6350"/>
            </a:solidFill>
            <a:prstDash val="solid"/>
          </a:ln>
        </p:spPr>
      </p:sp>
      <p:pic>
        <p:nvPicPr>
          <p:cNvPr id="5" name="Image 5" descr="مؤقت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2" y="941832"/>
            <a:ext cx="182880" cy="182880"/>
          </a:xfrm>
          <a:prstGeom prst="rect">
            <a:avLst/>
          </a:prstGeom>
        </p:spPr>
      </p:pic>
      <p:sp>
        <p:nvSpPr>
          <p:cNvPr id="6" name="TimeText 6"/>
          <p:cNvSpPr txBox="1"/>
          <p:nvPr/>
        </p:nvSpPr>
        <p:spPr>
          <a:xfrm>
            <a:off x="5715000" y="868680"/>
            <a:ext cx="987552" cy="329184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12 دقيقة</a:t>
            </a:r>
            <a:endParaRPr lang="ar-SA" sz="1200" dirty="0"/>
          </a:p>
        </p:txBody>
      </p:sp>
      <p:sp>
        <p:nvSpPr>
          <p:cNvPr id="7" name="Title 7"/>
          <p:cNvSpPr txBox="1"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30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نشاط تعاوني</a:t>
            </a:r>
            <a:endParaRPr lang="ar-SA" sz="3000" dirty="0"/>
          </a:p>
        </p:txBody>
      </p:sp>
      <p:sp>
        <p:nvSpPr>
          <p:cNvPr id="8" name="Slide Number 8"/>
          <p:cNvSpPr txBox="1"/>
          <p:nvPr/>
        </p:nvSpPr>
        <p:spPr>
          <a:xfrm>
            <a:off x="8412480" y="47091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fld id="{B6F15528-21DE-4FAA-801E-634DDDAF4B2B}" type="slidenum">
              <a:rPr lang="en-US" sz="900" dirty="0">
                <a:solidFill>
                  <a:srgbClr val="5E7268"/>
                </a:solidFill>
                <a:latin typeface="IBM Plex Sans Arabic"/>
                <a:cs typeface="IBM Plex Sans Arabic"/>
              </a:rPr>
              <a:t>‹#›</a:t>
            </a:fld>
          </a:p>
        </p:txBody>
      </p:sp>
      <p:sp>
        <p:nvSpPr>
          <p:cNvPr id="9" name="Card 9"/>
          <p:cNvSpPr/>
          <p:nvPr/>
        </p:nvSpPr>
        <p:spPr>
          <a:xfrm>
            <a:off x="3703320" y="2103120"/>
            <a:ext cx="49834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10" name="Circle 10"/>
          <p:cNvSpPr/>
          <p:nvPr/>
        </p:nvSpPr>
        <p:spPr>
          <a:xfrm>
            <a:off x="8001000" y="2240280"/>
            <a:ext cx="502920" cy="50292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11" name="Image 11" descr="Use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9882" y="2349162"/>
            <a:ext cx="285156" cy="285156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3931920" y="224028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r" marL="0" indent="0">
              <a:buNone/>
            </a:pPr>
            <a:r>
              <a:rPr lang="ar-SA" altLang="en-US" sz="18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مهمة المجموعة</a:t>
            </a:r>
            <a:endParaRPr lang="ar-SA" sz="1800" dirty="0"/>
          </a:p>
        </p:txBody>
      </p:sp>
      <p:sp>
        <p:nvSpPr>
          <p:cNvPr id="13" name="Text 13"/>
          <p:cNvSpPr txBox="1"/>
          <p:nvPr/>
        </p:nvSpPr>
        <p:spPr>
          <a:xfrm>
            <a:off x="3931920" y="2834640"/>
            <a:ext cx="4526280" cy="109728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285750" indent="-28575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ar-SA" altLang="en-US" sz="1300" dirty="0">
                <a:solidFill>
                  <a:srgbClr val="1C3328"/>
                </a:solidFill>
                <a:latin typeface="IBM Plex Sans Arabic"/>
                <a:cs typeface="IBM Plex Sans Arabic"/>
              </a:rPr>
              <a:t>اقرؤوا البطاقة وناقشوا المطلوب.</a:t>
            </a:r>
            <a:endParaRPr lang="ar-SA" sz="1300" dirty="0"/>
          </a:p>
          <a:p>
            <a:pPr rtl="1" algn="r" marL="285750" indent="-28575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ar-SA" altLang="en-US" sz="1300" dirty="0">
                <a:solidFill>
                  <a:srgbClr val="1C3328"/>
                </a:solidFill>
                <a:latin typeface="IBM Plex Sans Arabic"/>
                <a:cs typeface="IBM Plex Sans Arabic"/>
              </a:rPr>
              <a:t>نفّذوا المهمة ودوّنوا الحل على ورقة العمل.</a:t>
            </a:r>
            <a:endParaRPr lang="ar-SA" sz="1300" dirty="0"/>
          </a:p>
          <a:p>
            <a:pPr rtl="1" algn="r" marL="285750" indent="-28575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ar-SA" altLang="en-US" sz="1300" dirty="0">
                <a:solidFill>
                  <a:srgbClr val="1C3328"/>
                </a:solidFill>
                <a:latin typeface="IBM Plex Sans Arabic"/>
                <a:cs typeface="IBM Plex Sans Arabic"/>
              </a:rPr>
              <a:t>جهّزوا عرضًا في دقيقة واحدة.</a:t>
            </a:r>
            <a:endParaRPr lang="ar-SA" sz="1300" dirty="0"/>
          </a:p>
        </p:txBody>
      </p:sp>
      <p:sp>
        <p:nvSpPr>
          <p:cNvPr id="14" name="Text 14"/>
          <p:cNvSpPr txBox="1"/>
          <p:nvPr/>
        </p:nvSpPr>
        <p:spPr>
          <a:xfrm>
            <a:off x="3931920" y="3977640"/>
            <a:ext cx="4526280" cy="32004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12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المنتج: </a:t>
            </a:r>
            <a:r>
              <a:rPr lang="ar-SA" altLang="en-US" sz="1200" dirty="0">
                <a:solidFill>
                  <a:srgbClr val="5E7268"/>
                </a:solidFill>
                <a:latin typeface="IBM Plex Sans Arabic"/>
                <a:cs typeface="IBM Plex Sans Arabic"/>
              </a:rPr>
              <a:t>خريطة مفاهيم، أو حل مسألة، أو ملصق مصغّر.</a:t>
            </a:r>
            <a:endParaRPr lang="ar-SA" sz="1200" dirty="0"/>
          </a:p>
        </p:txBody>
      </p:sp>
      <p:sp>
        <p:nvSpPr>
          <p:cNvPr id="15" name="Card 15"/>
          <p:cNvSpPr/>
          <p:nvPr/>
        </p:nvSpPr>
        <p:spPr>
          <a:xfrm>
            <a:off x="1965960" y="2103120"/>
            <a:ext cx="1417320" cy="1143000"/>
          </a:xfrm>
          <a:prstGeom prst="roundRect">
            <a:avLst>
              <a:gd name="adj" fmla="val 6000"/>
            </a:avLst>
          </a:prstGeom>
          <a:solidFill>
            <a:srgbClr val="EDFAF2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16" name="Circle 16"/>
          <p:cNvSpPr/>
          <p:nvPr/>
        </p:nvSpPr>
        <p:spPr>
          <a:xfrm>
            <a:off x="2450592" y="2194560"/>
            <a:ext cx="438912" cy="438912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17" name="Image 17" descr="Crow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616" y="2289584"/>
            <a:ext cx="248863" cy="248863"/>
          </a:xfrm>
          <a:prstGeom prst="rect">
            <a:avLst/>
          </a:prstGeom>
        </p:spPr>
      </p:pic>
      <p:sp>
        <p:nvSpPr>
          <p:cNvPr id="18" name="Text 18"/>
          <p:cNvSpPr txBox="1"/>
          <p:nvPr/>
        </p:nvSpPr>
        <p:spPr>
          <a:xfrm>
            <a:off x="1965960" y="267919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buNone/>
            </a:pPr>
            <a:r>
              <a:rPr lang="ar-SA" altLang="en-US" sz="13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القائد</a:t>
            </a:r>
            <a:endParaRPr lang="ar-SA" sz="1300" dirty="0"/>
          </a:p>
        </p:txBody>
      </p:sp>
      <p:sp>
        <p:nvSpPr>
          <p:cNvPr id="19" name="Text 19"/>
          <p:cNvSpPr txBox="1"/>
          <p:nvPr/>
        </p:nvSpPr>
        <p:spPr>
          <a:xfrm>
            <a:off x="1965960" y="2944368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buNone/>
            </a:pPr>
            <a:r>
              <a:rPr lang="ar-SA" altLang="en-US" sz="1000" dirty="0">
                <a:solidFill>
                  <a:srgbClr val="5E7268"/>
                </a:solidFill>
                <a:latin typeface="IBM Plex Sans Arabic"/>
                <a:cs typeface="IBM Plex Sans Arabic"/>
              </a:rPr>
              <a:t>ينظّم العمل</a:t>
            </a:r>
            <a:endParaRPr lang="ar-SA" sz="1000" dirty="0"/>
          </a:p>
        </p:txBody>
      </p:sp>
      <p:sp>
        <p:nvSpPr>
          <p:cNvPr id="20" name="Card 20"/>
          <p:cNvSpPr/>
          <p:nvPr/>
        </p:nvSpPr>
        <p:spPr>
          <a:xfrm>
            <a:off x="457200" y="2103120"/>
            <a:ext cx="1417320" cy="1143000"/>
          </a:xfrm>
          <a:prstGeom prst="roundRect">
            <a:avLst>
              <a:gd name="adj" fmla="val 6000"/>
            </a:avLst>
          </a:prstGeom>
          <a:solidFill>
            <a:srgbClr val="EDFAF2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21" name="Circle 21"/>
          <p:cNvSpPr/>
          <p:nvPr/>
        </p:nvSpPr>
        <p:spPr>
          <a:xfrm>
            <a:off x="941832" y="2194560"/>
            <a:ext cx="438912" cy="438912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22" name="Image 22" descr="Penci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856" y="2289584"/>
            <a:ext cx="248863" cy="248863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457200" y="267919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buNone/>
            </a:pPr>
            <a:r>
              <a:rPr lang="ar-SA" altLang="en-US" sz="13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المقرّر</a:t>
            </a:r>
            <a:endParaRPr lang="ar-SA" sz="1300" dirty="0"/>
          </a:p>
        </p:txBody>
      </p:sp>
      <p:sp>
        <p:nvSpPr>
          <p:cNvPr id="24" name="Text 24"/>
          <p:cNvSpPr txBox="1"/>
          <p:nvPr/>
        </p:nvSpPr>
        <p:spPr>
          <a:xfrm>
            <a:off x="457200" y="2944368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buNone/>
            </a:pPr>
            <a:r>
              <a:rPr lang="ar-SA" altLang="en-US" sz="1000" dirty="0">
                <a:solidFill>
                  <a:srgbClr val="5E7268"/>
                </a:solidFill>
                <a:latin typeface="IBM Plex Sans Arabic"/>
                <a:cs typeface="IBM Plex Sans Arabic"/>
              </a:rPr>
              <a:t>يدوّن الإجابة</a:t>
            </a:r>
            <a:endParaRPr lang="ar-SA" sz="1000" dirty="0"/>
          </a:p>
        </p:txBody>
      </p:sp>
      <p:sp>
        <p:nvSpPr>
          <p:cNvPr id="25" name="Card 25"/>
          <p:cNvSpPr/>
          <p:nvPr/>
        </p:nvSpPr>
        <p:spPr>
          <a:xfrm>
            <a:off x="1965960" y="3337560"/>
            <a:ext cx="1417320" cy="1143000"/>
          </a:xfrm>
          <a:prstGeom prst="roundRect">
            <a:avLst>
              <a:gd name="adj" fmla="val 6000"/>
            </a:avLst>
          </a:prstGeom>
          <a:solidFill>
            <a:srgbClr val="EDFAF2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26" name="Circle 26"/>
          <p:cNvSpPr/>
          <p:nvPr/>
        </p:nvSpPr>
        <p:spPr>
          <a:xfrm>
            <a:off x="2450592" y="3429000"/>
            <a:ext cx="438912" cy="438912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27" name="Image 27" descr="Tim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5616" y="3524024"/>
            <a:ext cx="248863" cy="248863"/>
          </a:xfrm>
          <a:prstGeom prst="rect">
            <a:avLst/>
          </a:prstGeom>
        </p:spPr>
      </p:pic>
      <p:sp>
        <p:nvSpPr>
          <p:cNvPr id="28" name="Text 28"/>
          <p:cNvSpPr txBox="1"/>
          <p:nvPr/>
        </p:nvSpPr>
        <p:spPr>
          <a:xfrm>
            <a:off x="1965960" y="391363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buNone/>
            </a:pPr>
            <a:r>
              <a:rPr lang="ar-SA" altLang="en-US" sz="13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مراقب الوقت</a:t>
            </a:r>
            <a:endParaRPr lang="ar-SA" sz="1300" dirty="0"/>
          </a:p>
        </p:txBody>
      </p:sp>
      <p:sp>
        <p:nvSpPr>
          <p:cNvPr id="29" name="Text 29"/>
          <p:cNvSpPr txBox="1"/>
          <p:nvPr/>
        </p:nvSpPr>
        <p:spPr>
          <a:xfrm>
            <a:off x="1965960" y="4178808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buNone/>
            </a:pPr>
            <a:r>
              <a:rPr lang="ar-SA" altLang="en-US" sz="1000" dirty="0">
                <a:solidFill>
                  <a:srgbClr val="5E7268"/>
                </a:solidFill>
                <a:latin typeface="IBM Plex Sans Arabic"/>
                <a:cs typeface="IBM Plex Sans Arabic"/>
              </a:rPr>
              <a:t>ينبّه للزمن</a:t>
            </a:r>
            <a:endParaRPr lang="ar-SA" sz="1000" dirty="0"/>
          </a:p>
        </p:txBody>
      </p:sp>
      <p:sp>
        <p:nvSpPr>
          <p:cNvPr id="30" name="Card 30"/>
          <p:cNvSpPr/>
          <p:nvPr/>
        </p:nvSpPr>
        <p:spPr>
          <a:xfrm>
            <a:off x="457200" y="3337560"/>
            <a:ext cx="1417320" cy="1143000"/>
          </a:xfrm>
          <a:prstGeom prst="roundRect">
            <a:avLst>
              <a:gd name="adj" fmla="val 6000"/>
            </a:avLst>
          </a:prstGeom>
          <a:solidFill>
            <a:srgbClr val="EDFAF2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31" name="Circle 31"/>
          <p:cNvSpPr/>
          <p:nvPr/>
        </p:nvSpPr>
        <p:spPr>
          <a:xfrm>
            <a:off x="941832" y="3429000"/>
            <a:ext cx="438912" cy="438912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32" name="Image 32" descr="Mic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856" y="3524024"/>
            <a:ext cx="248863" cy="248863"/>
          </a:xfrm>
          <a:prstGeom prst="rect">
            <a:avLst/>
          </a:prstGeom>
        </p:spPr>
      </p:pic>
      <p:sp>
        <p:nvSpPr>
          <p:cNvPr id="33" name="Text 33"/>
          <p:cNvSpPr txBox="1"/>
          <p:nvPr/>
        </p:nvSpPr>
        <p:spPr>
          <a:xfrm>
            <a:off x="457200" y="391363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buNone/>
            </a:pPr>
            <a:r>
              <a:rPr lang="ar-SA" altLang="en-US" sz="13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المتحدث</a:t>
            </a:r>
            <a:endParaRPr lang="ar-SA" sz="1300" dirty="0"/>
          </a:p>
        </p:txBody>
      </p:sp>
      <p:sp>
        <p:nvSpPr>
          <p:cNvPr id="34" name="Text 34"/>
          <p:cNvSpPr txBox="1"/>
          <p:nvPr/>
        </p:nvSpPr>
        <p:spPr>
          <a:xfrm>
            <a:off x="457200" y="4178808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buNone/>
            </a:pPr>
            <a:r>
              <a:rPr lang="ar-SA" altLang="en-US" sz="1000" dirty="0">
                <a:solidFill>
                  <a:srgbClr val="5E7268"/>
                </a:solidFill>
                <a:latin typeface="IBM Plex Sans Arabic"/>
                <a:cs typeface="IBM Plex Sans Arabic"/>
              </a:rPr>
              <a:t>يعرض النتيجة</a:t>
            </a:r>
            <a:endParaRPr lang="ar-SA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772400" y="777240"/>
            <a:ext cx="914400" cy="1097280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r" marL="0" indent="0">
              <a:buNone/>
            </a:pPr>
            <a:r>
              <a:rPr lang="ar-SA" altLang="en-US" sz="9600" b="1" dirty="0">
                <a:solidFill>
                  <a:srgbClr val="89D7AD"/>
                </a:solidFill>
                <a:latin typeface="IBM Plex Sans Arabic"/>
                <a:cs typeface="IBM Plex Sans Arabic"/>
              </a:rPr>
              <a:t>؟</a:t>
            </a:r>
            <a:endParaRPr lang="ar-SA" sz="9600" dirty="0"/>
          </a:p>
        </p:txBody>
      </p:sp>
      <p:sp>
        <p:nvSpPr>
          <p:cNvPr id="3" name="Text 3"/>
          <p:cNvSpPr txBox="1"/>
          <p:nvPr/>
        </p:nvSpPr>
        <p:spPr>
          <a:xfrm>
            <a:off x="822960" y="1920240"/>
            <a:ext cx="7863840" cy="1463040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r" marL="0" indent="0">
              <a:buNone/>
            </a:pPr>
            <a:r>
              <a:rPr lang="ar-SA" altLang="en-US" sz="32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ماذا لو ...؟  وكيف يمكن أن ...؟</a:t>
            </a:r>
            <a:endParaRPr lang="ar-SA" sz="3200" dirty="0"/>
          </a:p>
        </p:txBody>
      </p:sp>
      <p:sp>
        <p:nvSpPr>
          <p:cNvPr id="4" name="Text 4"/>
          <p:cNvSpPr txBox="1"/>
          <p:nvPr/>
        </p:nvSpPr>
        <p:spPr>
          <a:xfrm>
            <a:off x="822960" y="352044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1500" dirty="0">
                <a:solidFill>
                  <a:srgbClr val="89D7AD"/>
                </a:solidFill>
                <a:latin typeface="IBM Plex Sans Arabic"/>
                <a:cs typeface="IBM Plex Sans Arabic"/>
              </a:rPr>
              <a:t>فكّر بمفردك 30 ثانية، ثم ناقش زميلك، ثم شارك.</a:t>
            </a:r>
            <a:endParaRPr lang="ar-SA" sz="1500" dirty="0"/>
          </a:p>
        </p:txBody>
      </p:sp>
      <p:sp>
        <p:nvSpPr>
          <p:cNvPr id="5" name="Slide Number 5"/>
          <p:cNvSpPr txBox="1"/>
          <p:nvPr/>
        </p:nvSpPr>
        <p:spPr>
          <a:xfrm>
            <a:off x="8412480" y="47091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fld id="{B6F15528-21DE-4FAA-801E-634DDDAF4B2B}" type="slidenum">
              <a:rPr lang="en-US" sz="900" dirty="0">
                <a:solidFill>
                  <a:srgbClr val="A9BCB1"/>
                </a:solidFill>
                <a:latin typeface="IBM Plex Sans Arabic"/>
                <a:cs typeface="IBM Plex Sans Arabic"/>
              </a:rPr>
              <a:t>‹#›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 2"/>
          <p:cNvSpPr/>
          <p:nvPr/>
        </p:nvSpPr>
        <p:spPr>
          <a:xfrm>
            <a:off x="7223760" y="868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3" name="Label 3"/>
          <p:cNvSpPr txBox="1"/>
          <p:nvPr/>
        </p:nvSpPr>
        <p:spPr>
          <a:xfrm>
            <a:off x="7223760" y="86868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200" b="1" dirty="0">
                <a:solidFill>
                  <a:srgbClr val="16301F"/>
                </a:solidFill>
                <a:latin typeface="IBM Plex Sans Arabic"/>
                <a:cs typeface="IBM Plex Sans Arabic"/>
              </a:rPr>
              <a:t>أثر التعلم</a:t>
            </a:r>
            <a:endParaRPr lang="ar-SA" sz="1200" dirty="0"/>
          </a:p>
        </p:txBody>
      </p:sp>
      <p:sp>
        <p:nvSpPr>
          <p:cNvPr id="4" name="Title 4"/>
          <p:cNvSpPr txBox="1"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30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ما علاقة الدرس بحياتنا؟</a:t>
            </a:r>
            <a:endParaRPr lang="ar-SA" sz="3000" dirty="0"/>
          </a:p>
        </p:txBody>
      </p:sp>
      <p:sp>
        <p:nvSpPr>
          <p:cNvPr id="5" name="Slide Number 5"/>
          <p:cNvSpPr txBox="1"/>
          <p:nvPr/>
        </p:nvSpPr>
        <p:spPr>
          <a:xfrm>
            <a:off x="8412480" y="47091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fld id="{B6F15528-21DE-4FAA-801E-634DDDAF4B2B}" type="slidenum">
              <a:rPr lang="en-US" sz="900" dirty="0">
                <a:solidFill>
                  <a:srgbClr val="5E7268"/>
                </a:solidFill>
                <a:latin typeface="IBM Plex Sans Arabic"/>
                <a:cs typeface="IBM Plex Sans Arabic"/>
              </a:rPr>
              <a:t>‹#›</a:t>
            </a:fld>
          </a:p>
        </p:txBody>
      </p:sp>
      <p:sp>
        <p:nvSpPr>
          <p:cNvPr id="6" name="Card 6"/>
          <p:cNvSpPr/>
          <p:nvPr/>
        </p:nvSpPr>
        <p:spPr>
          <a:xfrm>
            <a:off x="6080760" y="2148840"/>
            <a:ext cx="260604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7" name="Circle 7"/>
          <p:cNvSpPr/>
          <p:nvPr/>
        </p:nvSpPr>
        <p:spPr>
          <a:xfrm>
            <a:off x="7104888" y="2331720"/>
            <a:ext cx="548640" cy="54864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8" name="Image 8" descr="Hous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669" y="2450501"/>
            <a:ext cx="311079" cy="311079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6080760" y="3017520"/>
            <a:ext cx="2606040" cy="41148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buNone/>
            </a:pPr>
            <a:r>
              <a:rPr lang="ar-SA" altLang="en-US" sz="17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في حياتي اليومية</a:t>
            </a:r>
            <a:endParaRPr lang="ar-SA" sz="1700" dirty="0"/>
          </a:p>
        </p:txBody>
      </p:sp>
      <p:sp>
        <p:nvSpPr>
          <p:cNvPr id="10" name="Text 10"/>
          <p:cNvSpPr txBox="1"/>
          <p:nvPr/>
        </p:nvSpPr>
        <p:spPr>
          <a:xfrm>
            <a:off x="6309360" y="3474720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lnSpc>
                <a:spcPct val="105000"/>
              </a:lnSpc>
              <a:buNone/>
            </a:pPr>
            <a:r>
              <a:rPr lang="ar-SA" altLang="en-US" sz="1300" dirty="0">
                <a:solidFill>
                  <a:srgbClr val="5E7268"/>
                </a:solidFill>
                <a:latin typeface="IBM Plex Sans Arabic"/>
                <a:cs typeface="IBM Plex Sans Arabic"/>
              </a:rPr>
              <a:t>موقف حقيقي يستعمل فيه الطالب ما تعلّمه.</a:t>
            </a:r>
            <a:endParaRPr lang="ar-SA" sz="1300" dirty="0"/>
          </a:p>
        </p:txBody>
      </p:sp>
      <p:sp>
        <p:nvSpPr>
          <p:cNvPr id="11" name="Card 11"/>
          <p:cNvSpPr/>
          <p:nvPr/>
        </p:nvSpPr>
        <p:spPr>
          <a:xfrm>
            <a:off x="3268980" y="2148840"/>
            <a:ext cx="2606040" cy="2240280"/>
          </a:xfrm>
          <a:prstGeom prst="roundRect">
            <a:avLst>
              <a:gd name="adj" fmla="val 6000"/>
            </a:avLst>
          </a:prstGeom>
          <a:solidFill>
            <a:srgbClr val="EDFAF2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12" name="Circle 12"/>
          <p:cNvSpPr/>
          <p:nvPr/>
        </p:nvSpPr>
        <p:spPr>
          <a:xfrm>
            <a:off x="4293108" y="2331720"/>
            <a:ext cx="548640" cy="54864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13" name="Image 13" descr="He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889" y="2450501"/>
            <a:ext cx="311079" cy="311079"/>
          </a:xfrm>
          <a:prstGeom prst="rect">
            <a:avLst/>
          </a:prstGeom>
        </p:spPr>
      </p:pic>
      <p:sp>
        <p:nvSpPr>
          <p:cNvPr id="14" name="Text 14"/>
          <p:cNvSpPr txBox="1"/>
          <p:nvPr/>
        </p:nvSpPr>
        <p:spPr>
          <a:xfrm>
            <a:off x="3268980" y="3017520"/>
            <a:ext cx="2606040" cy="41148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buNone/>
            </a:pPr>
            <a:r>
              <a:rPr lang="ar-SA" altLang="en-US" sz="17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قيمة نتعلّمها</a:t>
            </a:r>
            <a:endParaRPr lang="ar-SA" sz="1700" dirty="0"/>
          </a:p>
        </p:txBody>
      </p:sp>
      <p:sp>
        <p:nvSpPr>
          <p:cNvPr id="15" name="Text 15"/>
          <p:cNvSpPr txBox="1"/>
          <p:nvPr/>
        </p:nvSpPr>
        <p:spPr>
          <a:xfrm>
            <a:off x="3497580" y="3474720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lnSpc>
                <a:spcPct val="105000"/>
              </a:lnSpc>
              <a:buNone/>
            </a:pPr>
            <a:r>
              <a:rPr lang="ar-SA" altLang="en-US" sz="1300" dirty="0">
                <a:solidFill>
                  <a:srgbClr val="5E7268"/>
                </a:solidFill>
                <a:latin typeface="IBM Plex Sans Arabic"/>
                <a:cs typeface="IBM Plex Sans Arabic"/>
              </a:rPr>
              <a:t>قيمة أو سلوك يرتبط بالدرس دون تكلّف.</a:t>
            </a:r>
            <a:endParaRPr lang="ar-SA" sz="1300" dirty="0"/>
          </a:p>
        </p:txBody>
      </p:sp>
      <p:sp>
        <p:nvSpPr>
          <p:cNvPr id="16" name="Card 16"/>
          <p:cNvSpPr/>
          <p:nvPr/>
        </p:nvSpPr>
        <p:spPr>
          <a:xfrm>
            <a:off x="457200" y="2148840"/>
            <a:ext cx="260604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17" name="Circle 17"/>
          <p:cNvSpPr/>
          <p:nvPr/>
        </p:nvSpPr>
        <p:spPr>
          <a:xfrm>
            <a:off x="1481328" y="2331720"/>
            <a:ext cx="548640" cy="54864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18" name="Image 18" descr="Fla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109" y="2450501"/>
            <a:ext cx="311079" cy="311079"/>
          </a:xfrm>
          <a:prstGeom prst="rect">
            <a:avLst/>
          </a:prstGeom>
        </p:spPr>
      </p:pic>
      <p:sp>
        <p:nvSpPr>
          <p:cNvPr id="19" name="Text 19"/>
          <p:cNvSpPr txBox="1"/>
          <p:nvPr/>
        </p:nvSpPr>
        <p:spPr>
          <a:xfrm>
            <a:off x="457200" y="3017520"/>
            <a:ext cx="2606040" cy="41148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buNone/>
            </a:pPr>
            <a:r>
              <a:rPr lang="ar-SA" altLang="en-US" sz="17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وطني ومستقبلي</a:t>
            </a:r>
            <a:endParaRPr lang="ar-SA" sz="1700" dirty="0"/>
          </a:p>
        </p:txBody>
      </p:sp>
      <p:sp>
        <p:nvSpPr>
          <p:cNvPr id="20" name="Text 20"/>
          <p:cNvSpPr txBox="1"/>
          <p:nvPr/>
        </p:nvSpPr>
        <p:spPr>
          <a:xfrm>
            <a:off x="685800" y="3474720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lnSpc>
                <a:spcPct val="105000"/>
              </a:lnSpc>
              <a:buNone/>
            </a:pPr>
            <a:r>
              <a:rPr lang="ar-SA" altLang="en-US" sz="1300" dirty="0">
                <a:solidFill>
                  <a:srgbClr val="5E7268"/>
                </a:solidFill>
                <a:latin typeface="IBM Plex Sans Arabic"/>
                <a:cs typeface="IBM Plex Sans Arabic"/>
              </a:rPr>
              <a:t>ارتباط بمهنة أو مشروع وطني أو مستهدف من رؤية 2030.</a:t>
            </a:r>
            <a:endParaRPr lang="ar-SA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 2"/>
          <p:cNvSpPr/>
          <p:nvPr/>
        </p:nvSpPr>
        <p:spPr>
          <a:xfrm>
            <a:off x="7223760" y="868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3" name="Label 3"/>
          <p:cNvSpPr txBox="1"/>
          <p:nvPr/>
        </p:nvSpPr>
        <p:spPr>
          <a:xfrm>
            <a:off x="7223760" y="86868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200" b="1" dirty="0">
                <a:solidFill>
                  <a:srgbClr val="16301F"/>
                </a:solidFill>
                <a:latin typeface="IBM Plex Sans Arabic"/>
                <a:cs typeface="IBM Plex Sans Arabic"/>
              </a:rPr>
              <a:t>أنت تعمل</a:t>
            </a:r>
            <a:endParaRPr lang="ar-SA" sz="1200" dirty="0"/>
          </a:p>
        </p:txBody>
      </p:sp>
      <p:sp>
        <p:nvSpPr>
          <p:cNvPr id="4" name="Time 4"/>
          <p:cNvSpPr/>
          <p:nvPr/>
        </p:nvSpPr>
        <p:spPr>
          <a:xfrm>
            <a:off x="5623560" y="868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3E6350"/>
          </a:solidFill>
          <a:ln w="12700">
            <a:solidFill>
              <a:srgbClr val="3E6350"/>
            </a:solidFill>
            <a:prstDash val="solid"/>
          </a:ln>
        </p:spPr>
      </p:sp>
      <p:pic>
        <p:nvPicPr>
          <p:cNvPr id="5" name="Image 5" descr="مؤقت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2" y="941832"/>
            <a:ext cx="182880" cy="182880"/>
          </a:xfrm>
          <a:prstGeom prst="rect">
            <a:avLst/>
          </a:prstGeom>
        </p:spPr>
      </p:pic>
      <p:sp>
        <p:nvSpPr>
          <p:cNvPr id="6" name="TimeText 6"/>
          <p:cNvSpPr txBox="1"/>
          <p:nvPr/>
        </p:nvSpPr>
        <p:spPr>
          <a:xfrm>
            <a:off x="5715000" y="868680"/>
            <a:ext cx="987552" cy="329184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8 دقائق</a:t>
            </a:r>
            <a:endParaRPr lang="ar-SA" sz="1200" dirty="0"/>
          </a:p>
        </p:txBody>
      </p:sp>
      <p:sp>
        <p:nvSpPr>
          <p:cNvPr id="7" name="Title 7"/>
          <p:cNvSpPr txBox="1"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30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مهام متمايزة</a:t>
            </a:r>
            <a:endParaRPr lang="ar-SA" sz="3000" dirty="0"/>
          </a:p>
        </p:txBody>
      </p:sp>
      <p:sp>
        <p:nvSpPr>
          <p:cNvPr id="8" name="Slide Number 8"/>
          <p:cNvSpPr txBox="1"/>
          <p:nvPr/>
        </p:nvSpPr>
        <p:spPr>
          <a:xfrm>
            <a:off x="8412480" y="47091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fld id="{B6F15528-21DE-4FAA-801E-634DDDAF4B2B}" type="slidenum">
              <a:rPr lang="en-US" sz="900" dirty="0">
                <a:solidFill>
                  <a:srgbClr val="5E7268"/>
                </a:solidFill>
                <a:latin typeface="IBM Plex Sans Arabic"/>
                <a:cs typeface="IBM Plex Sans Arabic"/>
              </a:rPr>
              <a:t>‹#›</a:t>
            </a:fld>
          </a:p>
        </p:txBody>
      </p:sp>
      <p:sp>
        <p:nvSpPr>
          <p:cNvPr id="9" name="Card 9"/>
          <p:cNvSpPr/>
          <p:nvPr/>
        </p:nvSpPr>
        <p:spPr>
          <a:xfrm>
            <a:off x="6080760" y="2103120"/>
            <a:ext cx="2606040" cy="2331720"/>
          </a:xfrm>
          <a:prstGeom prst="roundRect">
            <a:avLst>
              <a:gd name="adj" fmla="val 6000"/>
            </a:avLst>
          </a:prstGeom>
          <a:solidFill>
            <a:srgbClr val="EDFAF2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10" name="Circle 10"/>
          <p:cNvSpPr/>
          <p:nvPr/>
        </p:nvSpPr>
        <p:spPr>
          <a:xfrm>
            <a:off x="8001000" y="2267712"/>
            <a:ext cx="502920" cy="50292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11" name="Image 11" descr="Spr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9882" y="2376594"/>
            <a:ext cx="285156" cy="285156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6263640" y="2212848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18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انطلق</a:t>
            </a:r>
            <a:endParaRPr lang="ar-SA" sz="1800" dirty="0"/>
          </a:p>
        </p:txBody>
      </p:sp>
      <p:sp>
        <p:nvSpPr>
          <p:cNvPr id="13" name="Text 13"/>
          <p:cNvSpPr txBox="1"/>
          <p:nvPr/>
        </p:nvSpPr>
        <p:spPr>
          <a:xfrm>
            <a:off x="6263640" y="25603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1100" b="1" dirty="0">
                <a:solidFill>
                  <a:srgbClr val="5E7268"/>
                </a:solidFill>
                <a:latin typeface="IBM Plex Sans Arabic"/>
                <a:cs typeface="IBM Plex Sans Arabic"/>
              </a:rPr>
              <a:t>المستوى الأساسي</a:t>
            </a:r>
            <a:endParaRPr lang="ar-SA" sz="1100" dirty="0"/>
          </a:p>
        </p:txBody>
      </p:sp>
      <p:sp>
        <p:nvSpPr>
          <p:cNvPr id="14" name="Text 14"/>
          <p:cNvSpPr txBox="1"/>
          <p:nvPr/>
        </p:nvSpPr>
        <p:spPr>
          <a:xfrm>
            <a:off x="6263640" y="3017520"/>
            <a:ext cx="2240280" cy="9144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lnSpc>
                <a:spcPct val="110000"/>
              </a:lnSpc>
              <a:buNone/>
            </a:pPr>
            <a:r>
              <a:rPr lang="ar-SA" altLang="en-US" sz="1300" dirty="0">
                <a:solidFill>
                  <a:srgbClr val="1C3328"/>
                </a:solidFill>
                <a:latin typeface="IBM Plex Sans Arabic"/>
                <a:cs typeface="IBM Plex Sans Arabic"/>
              </a:rPr>
              <a:t>مهمة تتحقق من الفهم الأساسي، مع مثال مساعد.</a:t>
            </a:r>
            <a:endParaRPr lang="ar-SA" sz="1300" dirty="0"/>
          </a:p>
        </p:txBody>
      </p:sp>
      <p:sp>
        <p:nvSpPr>
          <p:cNvPr id="15" name="Text 15"/>
          <p:cNvSpPr txBox="1"/>
          <p:nvPr/>
        </p:nvSpPr>
        <p:spPr>
          <a:xfrm>
            <a:off x="6263640" y="402336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1400" b="1" dirty="0">
                <a:solidFill>
                  <a:srgbClr val="B8912F"/>
                </a:solidFill>
                <a:latin typeface="IBM Plex Sans Arabic"/>
                <a:cs typeface="IBM Plex Sans Arabic"/>
              </a:rPr>
              <a:t>★</a:t>
            </a:r>
            <a:endParaRPr lang="ar-SA" sz="1400" dirty="0"/>
          </a:p>
        </p:txBody>
      </p:sp>
      <p:sp>
        <p:nvSpPr>
          <p:cNvPr id="16" name="Card 16"/>
          <p:cNvSpPr/>
          <p:nvPr/>
        </p:nvSpPr>
        <p:spPr>
          <a:xfrm>
            <a:off x="3268980" y="2103120"/>
            <a:ext cx="26060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17" name="Circle 17"/>
          <p:cNvSpPr/>
          <p:nvPr/>
        </p:nvSpPr>
        <p:spPr>
          <a:xfrm>
            <a:off x="5189220" y="2267712"/>
            <a:ext cx="502920" cy="50292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18" name="Image 18" descr="Mounta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8102" y="2376594"/>
            <a:ext cx="285156" cy="285156"/>
          </a:xfrm>
          <a:prstGeom prst="rect">
            <a:avLst/>
          </a:prstGeom>
        </p:spPr>
      </p:pic>
      <p:sp>
        <p:nvSpPr>
          <p:cNvPr id="19" name="Text 19"/>
          <p:cNvSpPr txBox="1"/>
          <p:nvPr/>
        </p:nvSpPr>
        <p:spPr>
          <a:xfrm>
            <a:off x="3451860" y="2212848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18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تقدّم</a:t>
            </a:r>
            <a:endParaRPr lang="ar-SA" sz="1800" dirty="0"/>
          </a:p>
        </p:txBody>
      </p:sp>
      <p:sp>
        <p:nvSpPr>
          <p:cNvPr id="20" name="Text 20"/>
          <p:cNvSpPr txBox="1"/>
          <p:nvPr/>
        </p:nvSpPr>
        <p:spPr>
          <a:xfrm>
            <a:off x="3451860" y="25603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1100" b="1" dirty="0">
                <a:solidFill>
                  <a:srgbClr val="5E7268"/>
                </a:solidFill>
                <a:latin typeface="IBM Plex Sans Arabic"/>
                <a:cs typeface="IBM Plex Sans Arabic"/>
              </a:rPr>
              <a:t>المستوى المتوسط</a:t>
            </a:r>
            <a:endParaRPr lang="ar-SA" sz="1100" dirty="0"/>
          </a:p>
        </p:txBody>
      </p:sp>
      <p:sp>
        <p:nvSpPr>
          <p:cNvPr id="21" name="Text 21"/>
          <p:cNvSpPr txBox="1"/>
          <p:nvPr/>
        </p:nvSpPr>
        <p:spPr>
          <a:xfrm>
            <a:off x="3451860" y="3017520"/>
            <a:ext cx="2240280" cy="9144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lnSpc>
                <a:spcPct val="110000"/>
              </a:lnSpc>
              <a:buNone/>
            </a:pPr>
            <a:r>
              <a:rPr lang="ar-SA" altLang="en-US" sz="1300" dirty="0">
                <a:solidFill>
                  <a:srgbClr val="1C3328"/>
                </a:solidFill>
                <a:latin typeface="IBM Plex Sans Arabic"/>
                <a:cs typeface="IBM Plex Sans Arabic"/>
              </a:rPr>
              <a:t>مهمة تطبيق في موقف جديد دون مساعدة.</a:t>
            </a:r>
            <a:endParaRPr lang="ar-SA" sz="1300" dirty="0"/>
          </a:p>
        </p:txBody>
      </p:sp>
      <p:sp>
        <p:nvSpPr>
          <p:cNvPr id="22" name="Text 22"/>
          <p:cNvSpPr txBox="1"/>
          <p:nvPr/>
        </p:nvSpPr>
        <p:spPr>
          <a:xfrm>
            <a:off x="3451860" y="402336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1400" b="1" dirty="0">
                <a:solidFill>
                  <a:srgbClr val="B8912F"/>
                </a:solidFill>
                <a:latin typeface="IBM Plex Sans Arabic"/>
                <a:cs typeface="IBM Plex Sans Arabic"/>
              </a:rPr>
              <a:t>★★</a:t>
            </a:r>
            <a:endParaRPr lang="ar-SA" sz="1400" dirty="0"/>
          </a:p>
        </p:txBody>
      </p:sp>
      <p:sp>
        <p:nvSpPr>
          <p:cNvPr id="23" name="Card 23"/>
          <p:cNvSpPr/>
          <p:nvPr/>
        </p:nvSpPr>
        <p:spPr>
          <a:xfrm>
            <a:off x="457200" y="2103120"/>
            <a:ext cx="2606040" cy="2331720"/>
          </a:xfrm>
          <a:prstGeom prst="roundRect">
            <a:avLst>
              <a:gd name="adj" fmla="val 6000"/>
            </a:avLst>
          </a:prstGeom>
          <a:solidFill>
            <a:srgbClr val="3E6350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24" name="Circle 24"/>
          <p:cNvSpPr/>
          <p:nvPr/>
        </p:nvSpPr>
        <p:spPr>
          <a:xfrm>
            <a:off x="2377440" y="2267712"/>
            <a:ext cx="502920" cy="50292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25" name="Image 25" descr="Rocke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6322" y="2376594"/>
            <a:ext cx="285156" cy="285156"/>
          </a:xfrm>
          <a:prstGeom prst="rect">
            <a:avLst/>
          </a:prstGeom>
        </p:spPr>
      </p:pic>
      <p:sp>
        <p:nvSpPr>
          <p:cNvPr id="26" name="Text 26"/>
          <p:cNvSpPr txBox="1"/>
          <p:nvPr/>
        </p:nvSpPr>
        <p:spPr>
          <a:xfrm>
            <a:off x="640080" y="2212848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1800" b="1" dirty="0">
                <a:solidFill>
                  <a:srgbClr val="89D7AD"/>
                </a:solidFill>
                <a:latin typeface="IBM Plex Sans Arabic"/>
                <a:cs typeface="IBM Plex Sans Arabic"/>
              </a:rPr>
              <a:t>تحدَّ</a:t>
            </a:r>
            <a:endParaRPr lang="ar-SA" sz="1800" dirty="0"/>
          </a:p>
        </p:txBody>
      </p:sp>
      <p:sp>
        <p:nvSpPr>
          <p:cNvPr id="27" name="Text 27"/>
          <p:cNvSpPr txBox="1"/>
          <p:nvPr/>
        </p:nvSpPr>
        <p:spPr>
          <a:xfrm>
            <a:off x="640080" y="25603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1100" b="1" dirty="0">
                <a:solidFill>
                  <a:srgbClr val="CCF2DB"/>
                </a:solidFill>
                <a:latin typeface="IBM Plex Sans Arabic"/>
                <a:cs typeface="IBM Plex Sans Arabic"/>
              </a:rPr>
              <a:t>المستوى المتقدم</a:t>
            </a:r>
            <a:endParaRPr lang="ar-SA" sz="1100" dirty="0"/>
          </a:p>
        </p:txBody>
      </p:sp>
      <p:sp>
        <p:nvSpPr>
          <p:cNvPr id="28" name="Text 28"/>
          <p:cNvSpPr txBox="1"/>
          <p:nvPr/>
        </p:nvSpPr>
        <p:spPr>
          <a:xfrm>
            <a:off x="640080" y="3017520"/>
            <a:ext cx="2240280" cy="9144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lnSpc>
                <a:spcPct val="110000"/>
              </a:lnSpc>
              <a:buNone/>
            </a:pPr>
            <a:r>
              <a:rPr lang="ar-SA" altLang="en-US" sz="1300" dirty="0">
                <a:solidFill>
                  <a:srgbClr val="FFFFFF"/>
                </a:solidFill>
                <a:latin typeface="IBM Plex Sans Arabic"/>
                <a:cs typeface="IBM Plex Sans Arabic"/>
              </a:rPr>
              <a:t>مهمة تحليل أو إبداع أو حل مشكلة مفتوحة.</a:t>
            </a:r>
            <a:endParaRPr lang="ar-SA" sz="1300" dirty="0"/>
          </a:p>
        </p:txBody>
      </p:sp>
      <p:sp>
        <p:nvSpPr>
          <p:cNvPr id="29" name="Text 29"/>
          <p:cNvSpPr txBox="1"/>
          <p:nvPr/>
        </p:nvSpPr>
        <p:spPr>
          <a:xfrm>
            <a:off x="640080" y="402336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1400" b="1" dirty="0">
                <a:solidFill>
                  <a:srgbClr val="D9B45A"/>
                </a:solidFill>
                <a:latin typeface="IBM Plex Sans Arabic"/>
                <a:cs typeface="IBM Plex Sans Arabic"/>
              </a:rPr>
              <a:t>★★★</a:t>
            </a:r>
            <a:endParaRPr lang="ar-SA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 2"/>
          <p:cNvSpPr/>
          <p:nvPr/>
        </p:nvSpPr>
        <p:spPr>
          <a:xfrm>
            <a:off x="7223760" y="868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3" name="Label 3"/>
          <p:cNvSpPr txBox="1"/>
          <p:nvPr/>
        </p:nvSpPr>
        <p:spPr>
          <a:xfrm>
            <a:off x="7223760" y="86868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200" b="1" dirty="0">
                <a:solidFill>
                  <a:srgbClr val="16301F"/>
                </a:solidFill>
                <a:latin typeface="IBM Plex Sans Arabic"/>
                <a:cs typeface="IBM Plex Sans Arabic"/>
              </a:rPr>
              <a:t>التقويم الختامي</a:t>
            </a:r>
            <a:endParaRPr lang="ar-SA" sz="1200" dirty="0"/>
          </a:p>
        </p:txBody>
      </p:sp>
      <p:sp>
        <p:nvSpPr>
          <p:cNvPr id="4" name="Time 4"/>
          <p:cNvSpPr/>
          <p:nvPr/>
        </p:nvSpPr>
        <p:spPr>
          <a:xfrm>
            <a:off x="5623560" y="868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3E6350"/>
          </a:solidFill>
          <a:ln w="12700">
            <a:solidFill>
              <a:srgbClr val="3E6350"/>
            </a:solidFill>
            <a:prstDash val="solid"/>
          </a:ln>
        </p:spPr>
      </p:sp>
      <p:pic>
        <p:nvPicPr>
          <p:cNvPr id="5" name="Image 5" descr="مؤقت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2" y="941832"/>
            <a:ext cx="182880" cy="182880"/>
          </a:xfrm>
          <a:prstGeom prst="rect">
            <a:avLst/>
          </a:prstGeom>
        </p:spPr>
      </p:pic>
      <p:sp>
        <p:nvSpPr>
          <p:cNvPr id="6" name="TimeText 6"/>
          <p:cNvSpPr txBox="1"/>
          <p:nvPr/>
        </p:nvSpPr>
        <p:spPr>
          <a:xfrm>
            <a:off x="5715000" y="868680"/>
            <a:ext cx="987552" cy="329184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7 دقائق</a:t>
            </a:r>
            <a:endParaRPr lang="ar-SA" sz="1200" dirty="0"/>
          </a:p>
        </p:txBody>
      </p:sp>
      <p:sp>
        <p:nvSpPr>
          <p:cNvPr id="7" name="Title 7"/>
          <p:cNvSpPr txBox="1"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30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بطاقة الخروج 3 - 2 - 1</a:t>
            </a:r>
            <a:endParaRPr lang="ar-SA" sz="3000" dirty="0"/>
          </a:p>
        </p:txBody>
      </p:sp>
      <p:sp>
        <p:nvSpPr>
          <p:cNvPr id="8" name="Slide Number 8"/>
          <p:cNvSpPr txBox="1"/>
          <p:nvPr/>
        </p:nvSpPr>
        <p:spPr>
          <a:xfrm>
            <a:off x="8412480" y="47091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fld id="{B6F15528-21DE-4FAA-801E-634DDDAF4B2B}" type="slidenum">
              <a:rPr lang="en-US" sz="900" dirty="0">
                <a:solidFill>
                  <a:srgbClr val="5E7268"/>
                </a:solidFill>
                <a:latin typeface="IBM Plex Sans Arabic"/>
                <a:cs typeface="IBM Plex Sans Arabic"/>
              </a:rPr>
              <a:t>‹#›</a:t>
            </a:fld>
          </a:p>
        </p:txBody>
      </p:sp>
      <p:sp>
        <p:nvSpPr>
          <p:cNvPr id="9" name="Card 9"/>
          <p:cNvSpPr/>
          <p:nvPr/>
        </p:nvSpPr>
        <p:spPr>
          <a:xfrm>
            <a:off x="3291840" y="2103120"/>
            <a:ext cx="5394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10" name="Circle 10"/>
          <p:cNvSpPr/>
          <p:nvPr/>
        </p:nvSpPr>
        <p:spPr>
          <a:xfrm>
            <a:off x="8092440" y="2194560"/>
            <a:ext cx="475488" cy="475488"/>
          </a:xfrm>
          <a:prstGeom prst="ellipse">
            <a:avLst/>
          </a:prstGeom>
          <a:solidFill>
            <a:srgbClr val="3E6350"/>
          </a:solidFill>
          <a:ln w="12700">
            <a:solidFill>
              <a:srgbClr val="3E6350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8092440" y="219456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20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3</a:t>
            </a:r>
            <a:endParaRPr lang="ar-SA" sz="2000" dirty="0"/>
          </a:p>
        </p:txBody>
      </p:sp>
      <p:sp>
        <p:nvSpPr>
          <p:cNvPr id="12" name="Text 12"/>
          <p:cNvSpPr txBox="1"/>
          <p:nvPr/>
        </p:nvSpPr>
        <p:spPr>
          <a:xfrm>
            <a:off x="3520440" y="2103120"/>
            <a:ext cx="4389120" cy="658368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r" marL="0" indent="0">
              <a:buNone/>
            </a:pPr>
            <a:r>
              <a:rPr lang="ar-SA" altLang="en-US" sz="16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أشياء تعلّمتها اليوم</a:t>
            </a:r>
            <a:endParaRPr lang="ar-SA" sz="1600" dirty="0"/>
          </a:p>
        </p:txBody>
      </p:sp>
      <p:sp>
        <p:nvSpPr>
          <p:cNvPr id="13" name="Card 13"/>
          <p:cNvSpPr/>
          <p:nvPr/>
        </p:nvSpPr>
        <p:spPr>
          <a:xfrm>
            <a:off x="3291840" y="2889504"/>
            <a:ext cx="5394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14" name="Circle 14"/>
          <p:cNvSpPr/>
          <p:nvPr/>
        </p:nvSpPr>
        <p:spPr>
          <a:xfrm>
            <a:off x="8092440" y="2980944"/>
            <a:ext cx="475488" cy="475488"/>
          </a:xfrm>
          <a:prstGeom prst="ellipse">
            <a:avLst/>
          </a:prstGeom>
          <a:solidFill>
            <a:srgbClr val="3E6350"/>
          </a:solidFill>
          <a:ln w="12700">
            <a:solidFill>
              <a:srgbClr val="3E6350"/>
            </a:solidFill>
            <a:prstDash val="solid"/>
          </a:ln>
        </p:spPr>
      </p:sp>
      <p:sp>
        <p:nvSpPr>
          <p:cNvPr id="15" name="Text 15"/>
          <p:cNvSpPr txBox="1"/>
          <p:nvPr/>
        </p:nvSpPr>
        <p:spPr>
          <a:xfrm>
            <a:off x="8092440" y="298094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20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2</a:t>
            </a:r>
            <a:endParaRPr lang="ar-SA" sz="2000" dirty="0"/>
          </a:p>
        </p:txBody>
      </p:sp>
      <p:sp>
        <p:nvSpPr>
          <p:cNvPr id="16" name="Text 16"/>
          <p:cNvSpPr txBox="1"/>
          <p:nvPr/>
        </p:nvSpPr>
        <p:spPr>
          <a:xfrm>
            <a:off x="3520440" y="2889504"/>
            <a:ext cx="4389120" cy="658368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r" marL="0" indent="0">
              <a:buNone/>
            </a:pPr>
            <a:r>
              <a:rPr lang="ar-SA" altLang="en-US" sz="16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فكرتان أستطيع تطبيقهما</a:t>
            </a:r>
            <a:endParaRPr lang="ar-SA" sz="1600" dirty="0"/>
          </a:p>
        </p:txBody>
      </p:sp>
      <p:sp>
        <p:nvSpPr>
          <p:cNvPr id="17" name="Card 17"/>
          <p:cNvSpPr/>
          <p:nvPr/>
        </p:nvSpPr>
        <p:spPr>
          <a:xfrm>
            <a:off x="3291840" y="3675888"/>
            <a:ext cx="5394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18" name="Circle 18"/>
          <p:cNvSpPr/>
          <p:nvPr/>
        </p:nvSpPr>
        <p:spPr>
          <a:xfrm>
            <a:off x="8092440" y="3767328"/>
            <a:ext cx="475488" cy="475488"/>
          </a:xfrm>
          <a:prstGeom prst="ellipse">
            <a:avLst/>
          </a:prstGeom>
          <a:solidFill>
            <a:srgbClr val="3E6350"/>
          </a:solidFill>
          <a:ln w="12700">
            <a:solidFill>
              <a:srgbClr val="3E6350"/>
            </a:solidFill>
            <a:prstDash val="solid"/>
          </a:ln>
        </p:spPr>
      </p:sp>
      <p:sp>
        <p:nvSpPr>
          <p:cNvPr id="19" name="Text 19"/>
          <p:cNvSpPr txBox="1"/>
          <p:nvPr/>
        </p:nvSpPr>
        <p:spPr>
          <a:xfrm>
            <a:off x="8092440" y="376732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20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1</a:t>
            </a:r>
            <a:endParaRPr lang="ar-SA" sz="2000" dirty="0"/>
          </a:p>
        </p:txBody>
      </p:sp>
      <p:sp>
        <p:nvSpPr>
          <p:cNvPr id="20" name="Text 20"/>
          <p:cNvSpPr txBox="1"/>
          <p:nvPr/>
        </p:nvSpPr>
        <p:spPr>
          <a:xfrm>
            <a:off x="3520440" y="3675888"/>
            <a:ext cx="4389120" cy="658368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r" marL="0" indent="0">
              <a:buNone/>
            </a:pPr>
            <a:r>
              <a:rPr lang="ar-SA" altLang="en-US" sz="16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سؤال ما زال لديّ</a:t>
            </a:r>
            <a:endParaRPr lang="ar-SA" sz="1600" dirty="0"/>
          </a:p>
        </p:txBody>
      </p:sp>
      <p:sp>
        <p:nvSpPr>
          <p:cNvPr id="21" name="Card 21"/>
          <p:cNvSpPr/>
          <p:nvPr/>
        </p:nvSpPr>
        <p:spPr>
          <a:xfrm>
            <a:off x="457200" y="2103120"/>
            <a:ext cx="2651760" cy="2231136"/>
          </a:xfrm>
          <a:prstGeom prst="roundRect">
            <a:avLst>
              <a:gd name="adj" fmla="val 6000"/>
            </a:avLst>
          </a:prstGeom>
          <a:solidFill>
            <a:srgbClr val="EDFAF2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22" name="Circle 22"/>
          <p:cNvSpPr/>
          <p:nvPr/>
        </p:nvSpPr>
        <p:spPr>
          <a:xfrm>
            <a:off x="1527048" y="2240280"/>
            <a:ext cx="502920" cy="50292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23" name="Image 23" descr="Lapt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930" y="2349162"/>
            <a:ext cx="285156" cy="285156"/>
          </a:xfrm>
          <a:prstGeom prst="rect">
            <a:avLst/>
          </a:prstGeom>
        </p:spPr>
      </p:pic>
      <p:sp>
        <p:nvSpPr>
          <p:cNvPr id="24" name="Text 24"/>
          <p:cNvSpPr txBox="1"/>
          <p:nvPr/>
        </p:nvSpPr>
        <p:spPr>
          <a:xfrm>
            <a:off x="594360" y="281635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buNone/>
            </a:pPr>
            <a:r>
              <a:rPr lang="ar-SA" altLang="en-US" sz="15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إلكترونيًا؟</a:t>
            </a:r>
            <a:endParaRPr lang="ar-SA" sz="1500" dirty="0"/>
          </a:p>
        </p:txBody>
      </p:sp>
      <p:sp>
        <p:nvSpPr>
          <p:cNvPr id="25" name="Text 25"/>
          <p:cNvSpPr txBox="1"/>
          <p:nvPr/>
        </p:nvSpPr>
        <p:spPr>
          <a:xfrm>
            <a:off x="640080" y="3182112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lnSpc>
                <a:spcPct val="110000"/>
              </a:lnSpc>
              <a:buNone/>
            </a:pPr>
            <a:r>
              <a:rPr lang="ar-SA" altLang="en-US" sz="1200" dirty="0">
                <a:solidFill>
                  <a:srgbClr val="5E7268"/>
                </a:solidFill>
                <a:latin typeface="IBM Plex Sans Arabic"/>
                <a:cs typeface="IBM Plex Sans Arabic"/>
              </a:rPr>
              <a:t>ضع هنا رمز QR لنموذج أو اختبار قصير في البوابة أو منصة مدرستي.</a:t>
            </a:r>
            <a:endParaRPr lang="ar-SA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 2"/>
          <p:cNvSpPr/>
          <p:nvPr/>
        </p:nvSpPr>
        <p:spPr>
          <a:xfrm>
            <a:off x="7223760" y="868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3" name="Label 3"/>
          <p:cNvSpPr txBox="1"/>
          <p:nvPr/>
        </p:nvSpPr>
        <p:spPr>
          <a:xfrm>
            <a:off x="7223760" y="86868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200" b="1" dirty="0">
                <a:solidFill>
                  <a:srgbClr val="16301F"/>
                </a:solidFill>
                <a:latin typeface="IBM Plex Sans Arabic"/>
                <a:cs typeface="IBM Plex Sans Arabic"/>
              </a:rPr>
              <a:t>الغلق</a:t>
            </a:r>
            <a:endParaRPr lang="ar-SA" sz="1200" dirty="0"/>
          </a:p>
        </p:txBody>
      </p:sp>
      <p:sp>
        <p:nvSpPr>
          <p:cNvPr id="4" name="Time 4"/>
          <p:cNvSpPr/>
          <p:nvPr/>
        </p:nvSpPr>
        <p:spPr>
          <a:xfrm>
            <a:off x="5623560" y="868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3E6350"/>
          </a:solidFill>
          <a:ln w="12700">
            <a:solidFill>
              <a:srgbClr val="3E6350"/>
            </a:solidFill>
            <a:prstDash val="solid"/>
          </a:ln>
        </p:spPr>
      </p:sp>
      <p:pic>
        <p:nvPicPr>
          <p:cNvPr id="5" name="Image 5" descr="مؤقت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2" y="941832"/>
            <a:ext cx="182880" cy="182880"/>
          </a:xfrm>
          <a:prstGeom prst="rect">
            <a:avLst/>
          </a:prstGeom>
        </p:spPr>
      </p:pic>
      <p:sp>
        <p:nvSpPr>
          <p:cNvPr id="6" name="TimeText 6"/>
          <p:cNvSpPr txBox="1"/>
          <p:nvPr/>
        </p:nvSpPr>
        <p:spPr>
          <a:xfrm>
            <a:off x="5715000" y="868680"/>
            <a:ext cx="987552" cy="329184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5 دقائق</a:t>
            </a:r>
            <a:endParaRPr lang="ar-SA" sz="1200" dirty="0"/>
          </a:p>
        </p:txBody>
      </p:sp>
      <p:sp>
        <p:nvSpPr>
          <p:cNvPr id="7" name="Title 7"/>
          <p:cNvSpPr txBox="1"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30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ماذا تعلّمنا اليوم؟</a:t>
            </a:r>
            <a:endParaRPr lang="ar-SA" sz="3000" dirty="0"/>
          </a:p>
        </p:txBody>
      </p:sp>
      <p:sp>
        <p:nvSpPr>
          <p:cNvPr id="8" name="Slide Number 8"/>
          <p:cNvSpPr txBox="1"/>
          <p:nvPr/>
        </p:nvSpPr>
        <p:spPr>
          <a:xfrm>
            <a:off x="8412480" y="47091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fld id="{B6F15528-21DE-4FAA-801E-634DDDAF4B2B}" type="slidenum">
              <a:rPr lang="en-US" sz="900" dirty="0">
                <a:solidFill>
                  <a:srgbClr val="5E7268"/>
                </a:solidFill>
                <a:latin typeface="IBM Plex Sans Arabic"/>
                <a:cs typeface="IBM Plex Sans Arabic"/>
              </a:rPr>
              <a:t>‹#›</a:t>
            </a:fld>
          </a:p>
        </p:txBody>
      </p:sp>
      <p:sp>
        <p:nvSpPr>
          <p:cNvPr id="9" name="Card 9"/>
          <p:cNvSpPr/>
          <p:nvPr/>
        </p:nvSpPr>
        <p:spPr>
          <a:xfrm>
            <a:off x="4663440" y="2057400"/>
            <a:ext cx="4023360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10" name="Text 10"/>
          <p:cNvSpPr txBox="1"/>
          <p:nvPr/>
        </p:nvSpPr>
        <p:spPr>
          <a:xfrm>
            <a:off x="4937760" y="2212848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18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خلاصة الدرس</a:t>
            </a:r>
            <a:endParaRPr lang="ar-SA" sz="1800" dirty="0"/>
          </a:p>
        </p:txBody>
      </p:sp>
      <p:sp>
        <p:nvSpPr>
          <p:cNvPr id="11" name="Text 11"/>
          <p:cNvSpPr txBox="1"/>
          <p:nvPr/>
        </p:nvSpPr>
        <p:spPr>
          <a:xfrm>
            <a:off x="4937760" y="2697480"/>
            <a:ext cx="3474720" cy="164592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285750" indent="-285750">
              <a:spcAft>
                <a:spcPts val="800"/>
              </a:spcAft>
              <a:buSzPct val="100000"/>
              <a:buChar char="•"/>
            </a:pPr>
            <a:r>
              <a:rPr lang="ar-SA" altLang="en-US" sz="1400" dirty="0">
                <a:solidFill>
                  <a:srgbClr val="1C3328"/>
                </a:solidFill>
                <a:latin typeface="IBM Plex Sans Arabic"/>
                <a:cs typeface="IBM Plex Sans Arabic"/>
              </a:rPr>
              <a:t>يصوغها الطلاب بأنفسهم.</a:t>
            </a:r>
            <a:endParaRPr lang="ar-SA" sz="1400" dirty="0"/>
          </a:p>
          <a:p>
            <a:pPr rtl="1" algn="r" marL="285750" indent="-285750">
              <a:spcAft>
                <a:spcPts val="800"/>
              </a:spcAft>
              <a:buSzPct val="100000"/>
              <a:buChar char="•"/>
            </a:pPr>
            <a:r>
              <a:rPr lang="ar-SA" altLang="en-US" sz="1400" dirty="0">
                <a:solidFill>
                  <a:srgbClr val="1C3328"/>
                </a:solidFill>
                <a:latin typeface="IBM Plex Sans Arabic"/>
                <a:cs typeface="IBM Plex Sans Arabic"/>
              </a:rPr>
              <a:t>نعود إلى عمود «ماذا تعلّمت؟».</a:t>
            </a:r>
            <a:endParaRPr lang="ar-SA" sz="1400" dirty="0"/>
          </a:p>
          <a:p>
            <a:pPr rtl="1" algn="r" marL="285750" indent="-285750">
              <a:spcAft>
                <a:spcPts val="800"/>
              </a:spcAft>
              <a:buSzPct val="100000"/>
              <a:buChar char="•"/>
            </a:pPr>
            <a:r>
              <a:rPr lang="ar-SA" altLang="en-US" sz="1400" dirty="0">
                <a:solidFill>
                  <a:srgbClr val="1C3328"/>
                </a:solidFill>
                <a:latin typeface="IBM Plex Sans Arabic"/>
                <a:cs typeface="IBM Plex Sans Arabic"/>
              </a:rPr>
              <a:t>نربطها بأهداف الحصة.</a:t>
            </a:r>
            <a:endParaRPr lang="ar-SA" sz="1400" dirty="0"/>
          </a:p>
        </p:txBody>
      </p:sp>
      <p:sp>
        <p:nvSpPr>
          <p:cNvPr id="12" name="Card 12"/>
          <p:cNvSpPr/>
          <p:nvPr/>
        </p:nvSpPr>
        <p:spPr>
          <a:xfrm>
            <a:off x="457200" y="2057400"/>
            <a:ext cx="4023360" cy="2423160"/>
          </a:xfrm>
          <a:prstGeom prst="roundRect">
            <a:avLst>
              <a:gd name="adj" fmla="val 6000"/>
            </a:avLst>
          </a:prstGeom>
          <a:solidFill>
            <a:srgbClr val="EDFAF2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13" name="Text 13"/>
          <p:cNvSpPr txBox="1"/>
          <p:nvPr/>
        </p:nvSpPr>
        <p:spPr>
          <a:xfrm>
            <a:off x="731520" y="2212848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18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قيّم فهمك</a:t>
            </a:r>
            <a:endParaRPr lang="ar-SA" sz="1800" dirty="0"/>
          </a:p>
        </p:txBody>
      </p:sp>
      <p:sp>
        <p:nvSpPr>
          <p:cNvPr id="14" name="Circle 14"/>
          <p:cNvSpPr/>
          <p:nvPr/>
        </p:nvSpPr>
        <p:spPr>
          <a:xfrm>
            <a:off x="3931920" y="2779776"/>
            <a:ext cx="310896" cy="310896"/>
          </a:xfrm>
          <a:prstGeom prst="ellipse">
            <a:avLst/>
          </a:prstGeom>
          <a:solidFill>
            <a:srgbClr val="3E6350"/>
          </a:solidFill>
          <a:ln w="12700">
            <a:solidFill>
              <a:srgbClr val="3E6350"/>
            </a:solidFill>
            <a:prstDash val="solid"/>
          </a:ln>
        </p:spPr>
      </p:sp>
      <p:sp>
        <p:nvSpPr>
          <p:cNvPr id="15" name="Text 15"/>
          <p:cNvSpPr txBox="1"/>
          <p:nvPr/>
        </p:nvSpPr>
        <p:spPr>
          <a:xfrm>
            <a:off x="731520" y="2743200"/>
            <a:ext cx="3063240" cy="384048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r" marL="0" indent="0">
              <a:buNone/>
            </a:pPr>
            <a:r>
              <a:rPr lang="ar-SA" altLang="en-US" sz="1300" dirty="0">
                <a:solidFill>
                  <a:srgbClr val="1C3328"/>
                </a:solidFill>
                <a:latin typeface="IBM Plex Sans Arabic"/>
                <a:cs typeface="IBM Plex Sans Arabic"/>
              </a:rPr>
              <a:t>فهمت وأستطيع أن أشرح لزميلي</a:t>
            </a:r>
            <a:endParaRPr lang="ar-SA" sz="1300" dirty="0"/>
          </a:p>
        </p:txBody>
      </p:sp>
      <p:sp>
        <p:nvSpPr>
          <p:cNvPr id="16" name="Circle 16"/>
          <p:cNvSpPr/>
          <p:nvPr/>
        </p:nvSpPr>
        <p:spPr>
          <a:xfrm>
            <a:off x="3931920" y="3328416"/>
            <a:ext cx="310896" cy="310896"/>
          </a:xfrm>
          <a:prstGeom prst="ellipse">
            <a:avLst/>
          </a:prstGeom>
          <a:solidFill>
            <a:srgbClr val="C9A13B"/>
          </a:solidFill>
          <a:ln w="12700">
            <a:solidFill>
              <a:srgbClr val="C9A13B"/>
            </a:solidFill>
            <a:prstDash val="solid"/>
          </a:ln>
        </p:spPr>
      </p:sp>
      <p:sp>
        <p:nvSpPr>
          <p:cNvPr id="17" name="Text 17"/>
          <p:cNvSpPr txBox="1"/>
          <p:nvPr/>
        </p:nvSpPr>
        <p:spPr>
          <a:xfrm>
            <a:off x="731520" y="3291840"/>
            <a:ext cx="3063240" cy="384048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r" marL="0" indent="0">
              <a:buNone/>
            </a:pPr>
            <a:r>
              <a:rPr lang="ar-SA" altLang="en-US" sz="1300" dirty="0">
                <a:solidFill>
                  <a:srgbClr val="1C3328"/>
                </a:solidFill>
                <a:latin typeface="IBM Plex Sans Arabic"/>
                <a:cs typeface="IBM Plex Sans Arabic"/>
              </a:rPr>
              <a:t>فهمت وأحتاج إلى مزيد من التدريب</a:t>
            </a:r>
            <a:endParaRPr lang="ar-SA" sz="1300" dirty="0"/>
          </a:p>
        </p:txBody>
      </p:sp>
      <p:sp>
        <p:nvSpPr>
          <p:cNvPr id="18" name="Circle 18"/>
          <p:cNvSpPr/>
          <p:nvPr/>
        </p:nvSpPr>
        <p:spPr>
          <a:xfrm>
            <a:off x="3931920" y="3877056"/>
            <a:ext cx="310896" cy="310896"/>
          </a:xfrm>
          <a:prstGeom prst="ellipse">
            <a:avLst/>
          </a:prstGeom>
          <a:solidFill>
            <a:srgbClr val="A23B3B"/>
          </a:solidFill>
          <a:ln w="12700">
            <a:solidFill>
              <a:srgbClr val="A23B3B"/>
            </a:solidFill>
            <a:prstDash val="solid"/>
          </a:ln>
        </p:spPr>
      </p:sp>
      <p:sp>
        <p:nvSpPr>
          <p:cNvPr id="19" name="Text 19"/>
          <p:cNvSpPr txBox="1"/>
          <p:nvPr/>
        </p:nvSpPr>
        <p:spPr>
          <a:xfrm>
            <a:off x="731520" y="3840480"/>
            <a:ext cx="3063240" cy="384048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r" marL="0" indent="0">
              <a:buNone/>
            </a:pPr>
            <a:r>
              <a:rPr lang="ar-SA" altLang="en-US" sz="1300" dirty="0">
                <a:solidFill>
                  <a:srgbClr val="1C3328"/>
                </a:solidFill>
                <a:latin typeface="IBM Plex Sans Arabic"/>
                <a:cs typeface="IBM Plex Sans Arabic"/>
              </a:rPr>
              <a:t>أحتاج إلى مساعدة</a:t>
            </a:r>
            <a:endParaRPr lang="ar-SA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 2"/>
          <p:cNvSpPr/>
          <p:nvPr/>
        </p:nvSpPr>
        <p:spPr>
          <a:xfrm>
            <a:off x="7223760" y="868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3" name="Label 3"/>
          <p:cNvSpPr txBox="1"/>
          <p:nvPr/>
        </p:nvSpPr>
        <p:spPr>
          <a:xfrm>
            <a:off x="7223760" y="86868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200" b="1" dirty="0">
                <a:solidFill>
                  <a:srgbClr val="16301F"/>
                </a:solidFill>
                <a:latin typeface="IBM Plex Sans Arabic"/>
                <a:cs typeface="IBM Plex Sans Arabic"/>
              </a:rPr>
              <a:t>التعلم الممتد</a:t>
            </a:r>
            <a:endParaRPr lang="ar-SA" sz="1200" dirty="0"/>
          </a:p>
        </p:txBody>
      </p:sp>
      <p:sp>
        <p:nvSpPr>
          <p:cNvPr id="4" name="Title 4"/>
          <p:cNvSpPr txBox="1"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30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بعد الحصة</a:t>
            </a:r>
            <a:endParaRPr lang="ar-SA" sz="3000" dirty="0"/>
          </a:p>
        </p:txBody>
      </p:sp>
      <p:sp>
        <p:nvSpPr>
          <p:cNvPr id="5" name="Slide Number 5"/>
          <p:cNvSpPr txBox="1"/>
          <p:nvPr/>
        </p:nvSpPr>
        <p:spPr>
          <a:xfrm>
            <a:off x="8412480" y="47091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fld id="{B6F15528-21DE-4FAA-801E-634DDDAF4B2B}" type="slidenum">
              <a:rPr lang="en-US" sz="900" dirty="0">
                <a:solidFill>
                  <a:srgbClr val="5E7268"/>
                </a:solidFill>
                <a:latin typeface="IBM Plex Sans Arabic"/>
                <a:cs typeface="IBM Plex Sans Arabic"/>
              </a:rPr>
              <a:t>‹#›</a:t>
            </a:fld>
          </a:p>
        </p:txBody>
      </p:sp>
      <p:sp>
        <p:nvSpPr>
          <p:cNvPr id="6" name="Card 6"/>
          <p:cNvSpPr/>
          <p:nvPr/>
        </p:nvSpPr>
        <p:spPr>
          <a:xfrm>
            <a:off x="3566160" y="2103120"/>
            <a:ext cx="51206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7" name="Circle 7"/>
          <p:cNvSpPr/>
          <p:nvPr/>
        </p:nvSpPr>
        <p:spPr>
          <a:xfrm>
            <a:off x="8001000" y="2240280"/>
            <a:ext cx="502920" cy="50292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8" name="Image 8" descr="NotebookPe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9882" y="2349162"/>
            <a:ext cx="285156" cy="285156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3794760" y="2240280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r" marL="0" indent="0">
              <a:buNone/>
            </a:pPr>
            <a:r>
              <a:rPr lang="ar-SA" altLang="en-US" sz="18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الواجب</a:t>
            </a:r>
            <a:endParaRPr lang="ar-SA" sz="1800" dirty="0"/>
          </a:p>
        </p:txBody>
      </p:sp>
      <p:sp>
        <p:nvSpPr>
          <p:cNvPr id="10" name="Text 10"/>
          <p:cNvSpPr txBox="1"/>
          <p:nvPr/>
        </p:nvSpPr>
        <p:spPr>
          <a:xfrm>
            <a:off x="3794760" y="288036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13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المهمة:  </a:t>
            </a:r>
            <a:r>
              <a:rPr lang="ar-SA" altLang="en-US" sz="1300" dirty="0">
                <a:solidFill>
                  <a:srgbClr val="1C3328"/>
                </a:solidFill>
                <a:latin typeface="IBM Plex Sans Arabic"/>
                <a:cs typeface="IBM Plex Sans Arabic"/>
              </a:rPr>
              <a:t>نشاط قصير مرتبط بأهداف اليوم.</a:t>
            </a:r>
            <a:endParaRPr lang="ar-SA" sz="1300" dirty="0"/>
          </a:p>
        </p:txBody>
      </p:sp>
      <p:sp>
        <p:nvSpPr>
          <p:cNvPr id="11" name="Text 11"/>
          <p:cNvSpPr txBox="1"/>
          <p:nvPr/>
        </p:nvSpPr>
        <p:spPr>
          <a:xfrm>
            <a:off x="3794760" y="324612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13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المنصة:  </a:t>
            </a:r>
            <a:r>
              <a:rPr lang="ar-SA" altLang="en-US" sz="1300" dirty="0">
                <a:solidFill>
                  <a:srgbClr val="1C3328"/>
                </a:solidFill>
                <a:latin typeface="IBM Plex Sans Arabic"/>
                <a:cs typeface="IBM Plex Sans Arabic"/>
              </a:rPr>
              <a:t>منصة مدرستي أو البوابة.</a:t>
            </a:r>
            <a:endParaRPr lang="ar-SA" sz="1300" dirty="0"/>
          </a:p>
        </p:txBody>
      </p:sp>
      <p:sp>
        <p:nvSpPr>
          <p:cNvPr id="12" name="Text 12"/>
          <p:cNvSpPr txBox="1"/>
          <p:nvPr/>
        </p:nvSpPr>
        <p:spPr>
          <a:xfrm>
            <a:off x="3794760" y="361188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13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التسليم:  </a:t>
            </a:r>
            <a:r>
              <a:rPr lang="ar-SA" altLang="en-US" sz="1300" dirty="0">
                <a:solidFill>
                  <a:srgbClr val="1C3328"/>
                </a:solidFill>
                <a:latin typeface="IBM Plex Sans Arabic"/>
                <a:cs typeface="IBM Plex Sans Arabic"/>
              </a:rPr>
              <a:t>قبل الحصة القادمة.</a:t>
            </a:r>
            <a:endParaRPr lang="ar-SA" sz="1300" dirty="0"/>
          </a:p>
        </p:txBody>
      </p:sp>
      <p:sp>
        <p:nvSpPr>
          <p:cNvPr id="13" name="Text 13"/>
          <p:cNvSpPr txBox="1"/>
          <p:nvPr/>
        </p:nvSpPr>
        <p:spPr>
          <a:xfrm>
            <a:off x="3794760" y="397764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13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التقييم:  </a:t>
            </a:r>
            <a:r>
              <a:rPr lang="ar-SA" altLang="en-US" sz="1300" dirty="0">
                <a:solidFill>
                  <a:srgbClr val="1C3328"/>
                </a:solidFill>
                <a:latin typeface="IBM Plex Sans Arabic"/>
                <a:cs typeface="IBM Plex Sans Arabic"/>
              </a:rPr>
              <a:t>وفق معايير النجاح المعروضة.</a:t>
            </a:r>
            <a:endParaRPr lang="ar-SA" sz="1300" dirty="0"/>
          </a:p>
        </p:txBody>
      </p:sp>
      <p:sp>
        <p:nvSpPr>
          <p:cNvPr id="14" name="Card 14"/>
          <p:cNvSpPr/>
          <p:nvPr/>
        </p:nvSpPr>
        <p:spPr>
          <a:xfrm>
            <a:off x="457200" y="2103120"/>
            <a:ext cx="2926080" cy="1115568"/>
          </a:xfrm>
          <a:prstGeom prst="roundRect">
            <a:avLst>
              <a:gd name="adj" fmla="val 6000"/>
            </a:avLst>
          </a:prstGeom>
          <a:solidFill>
            <a:srgbClr val="EDFAF2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15" name="Circle 15"/>
          <p:cNvSpPr/>
          <p:nvPr/>
        </p:nvSpPr>
        <p:spPr>
          <a:xfrm>
            <a:off x="2697480" y="2258568"/>
            <a:ext cx="457200" cy="45720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16" name="Image 16" descr="Sparkl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464" y="2357552"/>
            <a:ext cx="259232" cy="259232"/>
          </a:xfrm>
          <a:prstGeom prst="rect">
            <a:avLst/>
          </a:prstGeom>
        </p:spPr>
      </p:pic>
      <p:sp>
        <p:nvSpPr>
          <p:cNvPr id="17" name="Text 17"/>
          <p:cNvSpPr txBox="1"/>
          <p:nvPr/>
        </p:nvSpPr>
        <p:spPr>
          <a:xfrm>
            <a:off x="640080" y="2258568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r" marL="0" indent="0">
              <a:buNone/>
            </a:pPr>
            <a:r>
              <a:rPr lang="ar-SA" altLang="en-US" sz="15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إثراء اختياري</a:t>
            </a:r>
            <a:endParaRPr lang="ar-SA" sz="1500" dirty="0"/>
          </a:p>
        </p:txBody>
      </p:sp>
      <p:sp>
        <p:nvSpPr>
          <p:cNvPr id="18" name="Text 18"/>
          <p:cNvSpPr txBox="1"/>
          <p:nvPr/>
        </p:nvSpPr>
        <p:spPr>
          <a:xfrm>
            <a:off x="640080" y="276148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1200" dirty="0">
                <a:solidFill>
                  <a:srgbClr val="5E7268"/>
                </a:solidFill>
                <a:latin typeface="IBM Plex Sans Arabic"/>
                <a:cs typeface="IBM Plex Sans Arabic"/>
              </a:rPr>
              <a:t>مصدر أو تحدٍّ لمن يريد التوسع.</a:t>
            </a:r>
            <a:endParaRPr lang="ar-SA" sz="1200" dirty="0"/>
          </a:p>
        </p:txBody>
      </p:sp>
      <p:sp>
        <p:nvSpPr>
          <p:cNvPr id="19" name="Card 19"/>
          <p:cNvSpPr/>
          <p:nvPr/>
        </p:nvSpPr>
        <p:spPr>
          <a:xfrm>
            <a:off x="457200" y="3319272"/>
            <a:ext cx="2926080" cy="1115568"/>
          </a:xfrm>
          <a:prstGeom prst="roundRect">
            <a:avLst>
              <a:gd name="adj" fmla="val 6000"/>
            </a:avLst>
          </a:prstGeom>
          <a:solidFill>
            <a:srgbClr val="EDFAF2"/>
          </a:solidFill>
          <a:ln w="12700">
            <a:solidFill>
              <a:srgbClr val="D5E7DC"/>
            </a:solidFill>
            <a:prstDash val="solid"/>
          </a:ln>
          <a:effectLst>
            <a:outerShdw blurRad="127000" dist="38100" dir="5400000" algn="bl" rotWithShape="0">
              <a:srgbClr val="3E6350">
                <a:alpha val="12000"/>
              </a:srgbClr>
            </a:outerShdw>
          </a:effectLst>
        </p:spPr>
      </p:sp>
      <p:sp>
        <p:nvSpPr>
          <p:cNvPr id="20" name="Circle 20"/>
          <p:cNvSpPr/>
          <p:nvPr/>
        </p:nvSpPr>
        <p:spPr>
          <a:xfrm>
            <a:off x="2697480" y="3474720"/>
            <a:ext cx="457200" cy="45720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21" name="Image 21" descr="BookOp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6464" y="3573704"/>
            <a:ext cx="259232" cy="259232"/>
          </a:xfrm>
          <a:prstGeom prst="rect">
            <a:avLst/>
          </a:prstGeom>
        </p:spPr>
      </p:pic>
      <p:sp>
        <p:nvSpPr>
          <p:cNvPr id="22" name="Text 22"/>
          <p:cNvSpPr txBox="1"/>
          <p:nvPr/>
        </p:nvSpPr>
        <p:spPr>
          <a:xfrm>
            <a:off x="640080" y="347472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r" marL="0" indent="0">
              <a:buNone/>
            </a:pPr>
            <a:r>
              <a:rPr lang="ar-SA" altLang="en-US" sz="1500" b="1" dirty="0">
                <a:solidFill>
                  <a:srgbClr val="3E6350"/>
                </a:solidFill>
                <a:latin typeface="IBM Plex Sans Arabic"/>
                <a:cs typeface="IBM Plex Sans Arabic"/>
              </a:rPr>
              <a:t>الدرس القادم</a:t>
            </a:r>
            <a:endParaRPr lang="ar-SA" sz="1500" dirty="0"/>
          </a:p>
        </p:txBody>
      </p:sp>
      <p:sp>
        <p:nvSpPr>
          <p:cNvPr id="23" name="Text 23"/>
          <p:cNvSpPr txBox="1"/>
          <p:nvPr/>
        </p:nvSpPr>
        <p:spPr>
          <a:xfrm>
            <a:off x="640080" y="39776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1200" dirty="0">
                <a:solidFill>
                  <a:srgbClr val="5E7268"/>
                </a:solidFill>
                <a:latin typeface="IBM Plex Sans Arabic"/>
                <a:cs typeface="IBM Plex Sans Arabic"/>
              </a:rPr>
              <a:t>عنوان الدرس وما نحضّره له.</a:t>
            </a:r>
            <a:endParaRPr lang="ar-SA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 descr="شعار المدرسة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005840"/>
            <a:ext cx="914400" cy="914400"/>
          </a:xfrm>
          <a:prstGeom prst="rect">
            <a:avLst/>
          </a:prstGeom>
        </p:spPr>
      </p:pic>
      <p:sp>
        <p:nvSpPr>
          <p:cNvPr id="3" name="Text 3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أحسنتم!</a:t>
            </a:r>
            <a:endParaRPr lang="ar-SA" sz="40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2000" b="1" dirty="0">
                <a:solidFill>
                  <a:srgbClr val="89D7AD"/>
                </a:solidFill>
                <a:latin typeface="IBM Plex Sans Arabic"/>
                <a:cs typeface="IBM Plex Sans Arabic"/>
              </a:rPr>
              <a:t>شكرًا لتفاعلكم اليوم</a:t>
            </a:r>
            <a:endParaRPr lang="ar-SA" sz="2000" dirty="0"/>
          </a:p>
        </p:txBody>
      </p:sp>
      <p:sp>
        <p:nvSpPr>
          <p:cNvPr id="5" name="Text 5"/>
          <p:cNvSpPr txBox="1"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buNone/>
            </a:pPr>
            <a:r>
              <a:rPr lang="ar-SA" altLang="en-US" sz="1200" dirty="0">
                <a:solidFill>
                  <a:srgbClr val="A9BCB1"/>
                </a:solidFill>
                <a:latin typeface="IBM Plex Sans Arabic"/>
                <a:cs typeface="IBM Plex Sans Arabic"/>
              </a:rPr>
              <a:t>معلم المادة</a:t>
            </a:r>
            <a:endParaRPr lang="ar-SA" sz="1200" dirty="0"/>
          </a:p>
        </p:txBody>
      </p:sp>
      <p:sp>
        <p:nvSpPr>
          <p:cNvPr id="6" name="Text 6"/>
          <p:cNvSpPr txBox="1"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ctr" marL="0" indent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اسم المعلم</a:t>
            </a:r>
            <a:endParaRPr lang="ar-SA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754880" y="1097280"/>
            <a:ext cx="3931920" cy="1463040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r" marL="0" indent="0">
              <a:buNone/>
            </a:pPr>
            <a:r>
              <a:rPr lang="ar-SA" altLang="en-US" sz="11000" b="1" dirty="0">
                <a:solidFill>
                  <a:srgbClr val="89D7AD"/>
                </a:solidFill>
                <a:latin typeface="IBM Plex Sans Arabic"/>
                <a:cs typeface="IBM Plex Sans Arabic"/>
              </a:rPr>
              <a:t>50</a:t>
            </a:r>
            <a:endParaRPr lang="ar-SA" sz="11000" dirty="0"/>
          </a:p>
        </p:txBody>
      </p:sp>
      <p:sp>
        <p:nvSpPr>
          <p:cNvPr id="3" name="Text 3"/>
          <p:cNvSpPr txBox="1"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1600" b="1" dirty="0">
                <a:solidFill>
                  <a:srgbClr val="D9B45A"/>
                </a:solidFill>
                <a:latin typeface="IBM Plex Sans Arabic"/>
                <a:cs typeface="IBM Plex Sans Arabic"/>
              </a:rPr>
              <a:t>ملحق للمعلم — شرائح مخفية لا تظهر أثناء العرض</a:t>
            </a:r>
            <a:endParaRPr lang="ar-SA" sz="16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3063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36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دليل الحصة النموذجية</a:t>
            </a:r>
            <a:endParaRPr lang="ar-SA" sz="3600" dirty="0"/>
          </a:p>
        </p:txBody>
      </p:sp>
      <p:sp>
        <p:nvSpPr>
          <p:cNvPr id="5" name="Text 5"/>
          <p:cNvSpPr txBox="1"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1500" dirty="0">
                <a:solidFill>
                  <a:srgbClr val="A9BCB1"/>
                </a:solidFill>
                <a:latin typeface="IBM Plex Sans Arabic"/>
                <a:cs typeface="IBM Plex Sans Arabic"/>
              </a:rPr>
              <a:t>راجعه قبل الزيارة، ويمكنك حذفه بعد الاطلاع.</a:t>
            </a:r>
            <a:endParaRPr lang="ar-SA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 2"/>
          <p:cNvSpPr/>
          <p:nvPr/>
        </p:nvSpPr>
        <p:spPr>
          <a:xfrm>
            <a:off x="7223760" y="868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3" name="Label 3"/>
          <p:cNvSpPr txBox="1"/>
          <p:nvPr/>
        </p:nvSpPr>
        <p:spPr>
          <a:xfrm>
            <a:off x="7223760" y="86868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200" b="1" dirty="0">
                <a:solidFill>
                  <a:srgbClr val="16301F"/>
                </a:solidFill>
                <a:latin typeface="IBM Plex Sans Arabic"/>
                <a:cs typeface="IBM Plex Sans Arabic"/>
              </a:rPr>
              <a:t>قائمة تحقق</a:t>
            </a:r>
            <a:endParaRPr lang="ar-SA" sz="1200" dirty="0"/>
          </a:p>
        </p:txBody>
      </p:sp>
      <p:sp>
        <p:nvSpPr>
          <p:cNvPr id="4" name="Title 4"/>
          <p:cNvSpPr txBox="1"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30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ما الذي يلاحظه فريق التقويم؟</a:t>
            </a:r>
            <a:endParaRPr lang="ar-SA" sz="3000" dirty="0"/>
          </a:p>
        </p:txBody>
      </p:sp>
      <p:sp>
        <p:nvSpPr>
          <p:cNvPr id="5" name="Slide Number 5"/>
          <p:cNvSpPr txBox="1"/>
          <p:nvPr/>
        </p:nvSpPr>
        <p:spPr>
          <a:xfrm>
            <a:off x="8412480" y="47091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fld id="{B6F15528-21DE-4FAA-801E-634DDDAF4B2B}" type="slidenum">
              <a:rPr lang="en-US" sz="900" dirty="0">
                <a:solidFill>
                  <a:srgbClr val="5E7268"/>
                </a:solidFill>
                <a:latin typeface="IBM Plex Sans Arabic"/>
                <a:cs typeface="IBM Plex Sans Arabic"/>
              </a:rPr>
              <a:t>‹#›</a:t>
            </a:fld>
          </a:p>
        </p:txBody>
      </p:sp>
      <p:sp>
        <p:nvSpPr>
          <p:cNvPr id="6" name="Shape 6"/>
          <p:cNvSpPr/>
          <p:nvPr/>
        </p:nvSpPr>
        <p:spPr>
          <a:xfrm>
            <a:off x="4663440" y="2103120"/>
            <a:ext cx="4023360" cy="40233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</p:spPr>
      </p:sp>
      <p:sp>
        <p:nvSpPr>
          <p:cNvPr id="7" name="Circle 7"/>
          <p:cNvSpPr/>
          <p:nvPr/>
        </p:nvSpPr>
        <p:spPr>
          <a:xfrm>
            <a:off x="8247888" y="2157984"/>
            <a:ext cx="292608" cy="292608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8" name="Image 8" descr="Chec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1238" y="2221334"/>
            <a:ext cx="165909" cy="165909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4846320" y="2103120"/>
            <a:ext cx="3291840" cy="402336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r" marL="0" indent="0">
              <a:buNone/>
            </a:pPr>
            <a:r>
              <a:rPr lang="ar-SA" altLang="en-US" sz="13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أهداف واضحة يعرفها الطلاب</a:t>
            </a:r>
            <a:endParaRPr lang="ar-SA" sz="1300" dirty="0"/>
          </a:p>
        </p:txBody>
      </p:sp>
      <p:sp>
        <p:nvSpPr>
          <p:cNvPr id="10" name="Shape 10"/>
          <p:cNvSpPr/>
          <p:nvPr/>
        </p:nvSpPr>
        <p:spPr>
          <a:xfrm>
            <a:off x="4663440" y="2578608"/>
            <a:ext cx="4023360" cy="40233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</p:spPr>
      </p:sp>
      <p:sp>
        <p:nvSpPr>
          <p:cNvPr id="11" name="Circle 11"/>
          <p:cNvSpPr/>
          <p:nvPr/>
        </p:nvSpPr>
        <p:spPr>
          <a:xfrm>
            <a:off x="8247888" y="2633472"/>
            <a:ext cx="292608" cy="292608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12" name="Image 12" descr="Chec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1238" y="2696822"/>
            <a:ext cx="165909" cy="165909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4846320" y="2578608"/>
            <a:ext cx="3291840" cy="402336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r" marL="0" indent="0">
              <a:buNone/>
            </a:pPr>
            <a:r>
              <a:rPr lang="ar-SA" altLang="en-US" sz="13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تهيئة تربط بالتعلم السابق والحياة</a:t>
            </a:r>
            <a:endParaRPr lang="ar-SA" sz="1300" dirty="0"/>
          </a:p>
        </p:txBody>
      </p:sp>
      <p:sp>
        <p:nvSpPr>
          <p:cNvPr id="14" name="Shape 14"/>
          <p:cNvSpPr/>
          <p:nvPr/>
        </p:nvSpPr>
        <p:spPr>
          <a:xfrm>
            <a:off x="4663440" y="3054096"/>
            <a:ext cx="4023360" cy="40233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</p:spPr>
      </p:sp>
      <p:sp>
        <p:nvSpPr>
          <p:cNvPr id="15" name="Circle 15"/>
          <p:cNvSpPr/>
          <p:nvPr/>
        </p:nvSpPr>
        <p:spPr>
          <a:xfrm>
            <a:off x="8247888" y="3108960"/>
            <a:ext cx="292608" cy="292608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16" name="Image 16" descr="Chec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1238" y="3172310"/>
            <a:ext cx="165909" cy="165909"/>
          </a:xfrm>
          <a:prstGeom prst="rect">
            <a:avLst/>
          </a:prstGeom>
        </p:spPr>
      </p:pic>
      <p:sp>
        <p:nvSpPr>
          <p:cNvPr id="17" name="Text 17"/>
          <p:cNvSpPr txBox="1"/>
          <p:nvPr/>
        </p:nvSpPr>
        <p:spPr>
          <a:xfrm>
            <a:off x="4846320" y="3054096"/>
            <a:ext cx="3291840" cy="402336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r" marL="0" indent="0">
              <a:buNone/>
            </a:pPr>
            <a:r>
              <a:rPr lang="ar-SA" altLang="en-US" sz="13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تنوّع إستراتيجيات التعلم النشط</a:t>
            </a:r>
            <a:endParaRPr lang="ar-SA" sz="1300" dirty="0"/>
          </a:p>
        </p:txBody>
      </p:sp>
      <p:sp>
        <p:nvSpPr>
          <p:cNvPr id="18" name="Shape 18"/>
          <p:cNvSpPr/>
          <p:nvPr/>
        </p:nvSpPr>
        <p:spPr>
          <a:xfrm>
            <a:off x="4663440" y="3529584"/>
            <a:ext cx="4023360" cy="40233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</p:spPr>
      </p:sp>
      <p:sp>
        <p:nvSpPr>
          <p:cNvPr id="19" name="Circle 19"/>
          <p:cNvSpPr/>
          <p:nvPr/>
        </p:nvSpPr>
        <p:spPr>
          <a:xfrm>
            <a:off x="8247888" y="3584448"/>
            <a:ext cx="292608" cy="292608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20" name="Image 20" descr="Chec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1238" y="3647798"/>
            <a:ext cx="165909" cy="165909"/>
          </a:xfrm>
          <a:prstGeom prst="rect">
            <a:avLst/>
          </a:prstGeom>
        </p:spPr>
      </p:pic>
      <p:sp>
        <p:nvSpPr>
          <p:cNvPr id="21" name="Text 21"/>
          <p:cNvSpPr txBox="1"/>
          <p:nvPr/>
        </p:nvSpPr>
        <p:spPr>
          <a:xfrm>
            <a:off x="4846320" y="3529584"/>
            <a:ext cx="3291840" cy="402336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r" marL="0" indent="0">
              <a:buNone/>
            </a:pPr>
            <a:r>
              <a:rPr lang="ar-SA" altLang="en-US" sz="13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مشاركة فاعلة لأغلب الطلاب</a:t>
            </a:r>
            <a:endParaRPr lang="ar-SA" sz="1300" dirty="0"/>
          </a:p>
        </p:txBody>
      </p:sp>
      <p:sp>
        <p:nvSpPr>
          <p:cNvPr id="22" name="Shape 22"/>
          <p:cNvSpPr/>
          <p:nvPr/>
        </p:nvSpPr>
        <p:spPr>
          <a:xfrm>
            <a:off x="4663440" y="4005072"/>
            <a:ext cx="4023360" cy="40233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</p:spPr>
      </p:sp>
      <p:sp>
        <p:nvSpPr>
          <p:cNvPr id="23" name="Circle 23"/>
          <p:cNvSpPr/>
          <p:nvPr/>
        </p:nvSpPr>
        <p:spPr>
          <a:xfrm>
            <a:off x="8247888" y="4059936"/>
            <a:ext cx="292608" cy="292608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24" name="Image 24" descr="Chec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1238" y="4123286"/>
            <a:ext cx="165909" cy="165909"/>
          </a:xfrm>
          <a:prstGeom prst="rect">
            <a:avLst/>
          </a:prstGeom>
        </p:spPr>
      </p:pic>
      <p:sp>
        <p:nvSpPr>
          <p:cNvPr id="25" name="Text 25"/>
          <p:cNvSpPr txBox="1"/>
          <p:nvPr/>
        </p:nvSpPr>
        <p:spPr>
          <a:xfrm>
            <a:off x="4846320" y="4005072"/>
            <a:ext cx="3291840" cy="402336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r" marL="0" indent="0">
              <a:buNone/>
            </a:pPr>
            <a:r>
              <a:rPr lang="ar-SA" altLang="en-US" sz="13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مراعاة الفروق الفردية</a:t>
            </a:r>
            <a:endParaRPr lang="ar-SA" sz="1300" dirty="0"/>
          </a:p>
        </p:txBody>
      </p:sp>
      <p:sp>
        <p:nvSpPr>
          <p:cNvPr id="26" name="Shape 26"/>
          <p:cNvSpPr/>
          <p:nvPr/>
        </p:nvSpPr>
        <p:spPr>
          <a:xfrm>
            <a:off x="457200" y="2103120"/>
            <a:ext cx="4023360" cy="40233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</p:spPr>
      </p:sp>
      <p:sp>
        <p:nvSpPr>
          <p:cNvPr id="27" name="Circle 27"/>
          <p:cNvSpPr/>
          <p:nvPr/>
        </p:nvSpPr>
        <p:spPr>
          <a:xfrm>
            <a:off x="4041648" y="2157984"/>
            <a:ext cx="292608" cy="292608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28" name="Image 28" descr="Chec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4998" y="2221334"/>
            <a:ext cx="165909" cy="165909"/>
          </a:xfrm>
          <a:prstGeom prst="rect">
            <a:avLst/>
          </a:prstGeom>
        </p:spPr>
      </p:pic>
      <p:sp>
        <p:nvSpPr>
          <p:cNvPr id="29" name="Text 29"/>
          <p:cNvSpPr txBox="1"/>
          <p:nvPr/>
        </p:nvSpPr>
        <p:spPr>
          <a:xfrm>
            <a:off x="640080" y="2103120"/>
            <a:ext cx="3291840" cy="402336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r" marL="0" indent="0">
              <a:buNone/>
            </a:pPr>
            <a:r>
              <a:rPr lang="ar-SA" altLang="en-US" sz="13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تقويم تكويني مستمر وتغذية راجعة</a:t>
            </a:r>
            <a:endParaRPr lang="ar-SA" sz="1300" dirty="0"/>
          </a:p>
        </p:txBody>
      </p:sp>
      <p:sp>
        <p:nvSpPr>
          <p:cNvPr id="30" name="Shape 30"/>
          <p:cNvSpPr/>
          <p:nvPr/>
        </p:nvSpPr>
        <p:spPr>
          <a:xfrm>
            <a:off x="457200" y="2578608"/>
            <a:ext cx="4023360" cy="40233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</p:spPr>
      </p:sp>
      <p:sp>
        <p:nvSpPr>
          <p:cNvPr id="31" name="Circle 31"/>
          <p:cNvSpPr/>
          <p:nvPr/>
        </p:nvSpPr>
        <p:spPr>
          <a:xfrm>
            <a:off x="4041648" y="2633472"/>
            <a:ext cx="292608" cy="292608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32" name="Image 32" descr="Chec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4998" y="2696822"/>
            <a:ext cx="165909" cy="165909"/>
          </a:xfrm>
          <a:prstGeom prst="rect">
            <a:avLst/>
          </a:prstGeom>
        </p:spPr>
      </p:pic>
      <p:sp>
        <p:nvSpPr>
          <p:cNvPr id="33" name="Text 33"/>
          <p:cNvSpPr txBox="1"/>
          <p:nvPr/>
        </p:nvSpPr>
        <p:spPr>
          <a:xfrm>
            <a:off x="640080" y="2578608"/>
            <a:ext cx="3291840" cy="402336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r" marL="0" indent="0">
              <a:buNone/>
            </a:pPr>
            <a:r>
              <a:rPr lang="ar-SA" altLang="en-US" sz="13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أسئلة تنمّي التفكير العليا</a:t>
            </a:r>
            <a:endParaRPr lang="ar-SA" sz="1300" dirty="0"/>
          </a:p>
        </p:txBody>
      </p:sp>
      <p:sp>
        <p:nvSpPr>
          <p:cNvPr id="34" name="Shape 34"/>
          <p:cNvSpPr/>
          <p:nvPr/>
        </p:nvSpPr>
        <p:spPr>
          <a:xfrm>
            <a:off x="457200" y="3054096"/>
            <a:ext cx="4023360" cy="40233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</p:spPr>
      </p:sp>
      <p:sp>
        <p:nvSpPr>
          <p:cNvPr id="35" name="Circle 35"/>
          <p:cNvSpPr/>
          <p:nvPr/>
        </p:nvSpPr>
        <p:spPr>
          <a:xfrm>
            <a:off x="4041648" y="3108960"/>
            <a:ext cx="292608" cy="292608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36" name="Image 36" descr="Chec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4998" y="3172310"/>
            <a:ext cx="165909" cy="165909"/>
          </a:xfrm>
          <a:prstGeom prst="rect">
            <a:avLst/>
          </a:prstGeom>
        </p:spPr>
      </p:pic>
      <p:sp>
        <p:nvSpPr>
          <p:cNvPr id="37" name="Text 37"/>
          <p:cNvSpPr txBox="1"/>
          <p:nvPr/>
        </p:nvSpPr>
        <p:spPr>
          <a:xfrm>
            <a:off x="640080" y="3054096"/>
            <a:ext cx="3291840" cy="402336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r" marL="0" indent="0">
              <a:buNone/>
            </a:pPr>
            <a:r>
              <a:rPr lang="ar-SA" altLang="en-US" sz="13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توظيف التقنية ومصادر التعلم</a:t>
            </a:r>
            <a:endParaRPr lang="ar-SA" sz="1300" dirty="0"/>
          </a:p>
        </p:txBody>
      </p:sp>
      <p:sp>
        <p:nvSpPr>
          <p:cNvPr id="38" name="Shape 38"/>
          <p:cNvSpPr/>
          <p:nvPr/>
        </p:nvSpPr>
        <p:spPr>
          <a:xfrm>
            <a:off x="457200" y="3529584"/>
            <a:ext cx="4023360" cy="40233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</p:spPr>
      </p:sp>
      <p:sp>
        <p:nvSpPr>
          <p:cNvPr id="39" name="Circle 39"/>
          <p:cNvSpPr/>
          <p:nvPr/>
        </p:nvSpPr>
        <p:spPr>
          <a:xfrm>
            <a:off x="4041648" y="3584448"/>
            <a:ext cx="292608" cy="292608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40" name="Image 40" descr="Chec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4998" y="3647798"/>
            <a:ext cx="165909" cy="165909"/>
          </a:xfrm>
          <a:prstGeom prst="rect">
            <a:avLst/>
          </a:prstGeom>
        </p:spPr>
      </p:pic>
      <p:sp>
        <p:nvSpPr>
          <p:cNvPr id="41" name="Text 41"/>
          <p:cNvSpPr txBox="1"/>
          <p:nvPr/>
        </p:nvSpPr>
        <p:spPr>
          <a:xfrm>
            <a:off x="640080" y="3529584"/>
            <a:ext cx="3291840" cy="402336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r" marL="0" indent="0">
              <a:buNone/>
            </a:pPr>
            <a:r>
              <a:rPr lang="ar-SA" altLang="en-US" sz="13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إدارة صفية إيجابية وإدارة للوقت</a:t>
            </a:r>
            <a:endParaRPr lang="ar-SA" sz="1300" dirty="0"/>
          </a:p>
        </p:txBody>
      </p:sp>
      <p:sp>
        <p:nvSpPr>
          <p:cNvPr id="42" name="Shape 42"/>
          <p:cNvSpPr/>
          <p:nvPr/>
        </p:nvSpPr>
        <p:spPr>
          <a:xfrm>
            <a:off x="457200" y="4005072"/>
            <a:ext cx="4023360" cy="40233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</p:spPr>
      </p:sp>
      <p:sp>
        <p:nvSpPr>
          <p:cNvPr id="43" name="Circle 43"/>
          <p:cNvSpPr/>
          <p:nvPr/>
        </p:nvSpPr>
        <p:spPr>
          <a:xfrm>
            <a:off x="4041648" y="4059936"/>
            <a:ext cx="292608" cy="292608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44" name="Image 44" descr="Chec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4998" y="4123286"/>
            <a:ext cx="165909" cy="165909"/>
          </a:xfrm>
          <a:prstGeom prst="rect">
            <a:avLst/>
          </a:prstGeom>
        </p:spPr>
      </p:pic>
      <p:sp>
        <p:nvSpPr>
          <p:cNvPr id="45" name="Text 45"/>
          <p:cNvSpPr txBox="1"/>
          <p:nvPr/>
        </p:nvSpPr>
        <p:spPr>
          <a:xfrm>
            <a:off x="640080" y="4005072"/>
            <a:ext cx="3291840" cy="402336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r" marL="0" indent="0">
              <a:buNone/>
            </a:pPr>
            <a:r>
              <a:rPr lang="ar-SA" altLang="en-US" sz="13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غلق يقيس تحقق الأهداف</a:t>
            </a:r>
            <a:endParaRPr lang="ar-SA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 2"/>
          <p:cNvSpPr/>
          <p:nvPr/>
        </p:nvSpPr>
        <p:spPr>
          <a:xfrm>
            <a:off x="7223760" y="868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3" name="Label 3"/>
          <p:cNvSpPr txBox="1"/>
          <p:nvPr/>
        </p:nvSpPr>
        <p:spPr>
          <a:xfrm>
            <a:off x="7223760" y="86868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rtlCol="1" anchor="ctr"/>
          <a:lstStyle/>
          <a:p>
            <a:pPr rtl="1" algn="ctr" marL="0" indent="0">
              <a:buNone/>
            </a:pPr>
            <a:r>
              <a:rPr lang="ar-SA" altLang="en-US" sz="1200" b="1" dirty="0">
                <a:solidFill>
                  <a:srgbClr val="16301F"/>
                </a:solidFill>
                <a:latin typeface="IBM Plex Sans Arabic"/>
                <a:cs typeface="IBM Plex Sans Arabic"/>
              </a:rPr>
              <a:t>حسب المادة</a:t>
            </a:r>
            <a:endParaRPr lang="ar-SA" sz="1200" dirty="0"/>
          </a:p>
        </p:txBody>
      </p:sp>
      <p:sp>
        <p:nvSpPr>
          <p:cNvPr id="4" name="Title 4"/>
          <p:cNvSpPr txBox="1"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rtl="1" algn="r" marL="0" indent="0">
              <a:buNone/>
            </a:pPr>
            <a:r>
              <a:rPr lang="ar-SA" altLang="en-US" sz="3000" b="1" dirty="0">
                <a:solidFill>
                  <a:srgbClr val="1C3328"/>
                </a:solidFill>
                <a:latin typeface="IBM Plex Sans Arabic"/>
                <a:cs typeface="IBM Plex Sans Arabic"/>
              </a:rPr>
              <a:t>اختر ما يناسب مادتك</a:t>
            </a:r>
            <a:endParaRPr lang="ar-SA" sz="3000" dirty="0"/>
          </a:p>
        </p:txBody>
      </p:sp>
      <p:sp>
        <p:nvSpPr>
          <p:cNvPr id="5" name="Slide Number 5"/>
          <p:cNvSpPr txBox="1"/>
          <p:nvPr/>
        </p:nvSpPr>
        <p:spPr>
          <a:xfrm>
            <a:off x="8412480" y="47091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fld id="{B6F15528-21DE-4FAA-801E-634DDDAF4B2B}" type="slidenum">
              <a:rPr lang="en-US" sz="900" dirty="0">
                <a:solidFill>
                  <a:srgbClr val="5E7268"/>
                </a:solidFill>
                <a:latin typeface="IBM Plex Sans Arabic"/>
                <a:cs typeface="IBM Plex Sans Arabic"/>
              </a:rPr>
              <a:t>‹#›</a:t>
            </a:fld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457200" y="2029968"/>
          <a:ext cx="8229600" cy="2414016"/>
        </p:xfrm>
        <a:graphic>
          <a:graphicData uri="http://schemas.openxmlformats.org/drawingml/2006/table">
            <a:tbl>
              <a:tblPr rtl="1" firstRow="1" bandRow="1"/>
              <a:tblGrid>
                <a:gridCol w="1828800"/>
                <a:gridCol w="2651760"/>
                <a:gridCol w="2011680"/>
                <a:gridCol w="1737360"/>
              </a:tblGrid>
              <a:tr h="301752">
                <a:tc>
                  <a:txBody>
                    <a:bodyPr/>
                    <a:lstStyle/>
                    <a:p>
                      <a:pPr rtl="1" algn="ctr"/>
                      <a:r>
                        <a:rPr lang="ar-SA" altLang="en-US" sz="1100" b="1" dirty="0">
                          <a:solidFill>
                            <a:srgbClr val="FFFFFF"/>
                          </a:solidFill>
                          <a:latin typeface="IBM Plex Sans Arabic"/>
                          <a:cs typeface="IBM Plex Sans Arabic"/>
                        </a:rPr>
                        <a:t>تقويم سريع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5E7DC"/>
                      </a:solidFill>
                    </a:lnL>
                    <a:lnR w="9525">
                      <a:solidFill>
                        <a:srgbClr val="D5E7DC"/>
                      </a:solidFill>
                    </a:lnR>
                    <a:lnT w="9525">
                      <a:solidFill>
                        <a:srgbClr val="D5E7DC"/>
                      </a:solidFill>
                    </a:lnT>
                    <a:lnB w="9525">
                      <a:solidFill>
                        <a:srgbClr val="D5E7DC"/>
                      </a:solidFill>
                    </a:lnB>
                    <a:solidFill>
                      <a:srgbClr val="3E6350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/>
                      <a:r>
                        <a:rPr lang="ar-SA" altLang="en-US" sz="1100" b="1" dirty="0">
                          <a:solidFill>
                            <a:srgbClr val="FFFFFF"/>
                          </a:solidFill>
                          <a:latin typeface="IBM Plex Sans Arabic"/>
                          <a:cs typeface="IBM Plex Sans Arabic"/>
                        </a:rPr>
                        <a:t>نشاط تعلّم نشط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5E7DC"/>
                      </a:solidFill>
                    </a:lnL>
                    <a:lnR w="9525">
                      <a:solidFill>
                        <a:srgbClr val="D5E7DC"/>
                      </a:solidFill>
                    </a:lnR>
                    <a:lnT w="9525">
                      <a:solidFill>
                        <a:srgbClr val="D5E7DC"/>
                      </a:solidFill>
                    </a:lnT>
                    <a:lnB w="9525">
                      <a:solidFill>
                        <a:srgbClr val="D5E7DC"/>
                      </a:solidFill>
                    </a:lnB>
                    <a:solidFill>
                      <a:srgbClr val="3E6350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/>
                      <a:r>
                        <a:rPr lang="ar-SA" altLang="en-US" sz="1100" b="1" dirty="0">
                          <a:solidFill>
                            <a:srgbClr val="FFFFFF"/>
                          </a:solidFill>
                          <a:latin typeface="IBM Plex Sans Arabic"/>
                          <a:cs typeface="IBM Plex Sans Arabic"/>
                        </a:rPr>
                        <a:t>تهيئة مقترحة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5E7DC"/>
                      </a:solidFill>
                    </a:lnL>
                    <a:lnR w="9525">
                      <a:solidFill>
                        <a:srgbClr val="D5E7DC"/>
                      </a:solidFill>
                    </a:lnR>
                    <a:lnT w="9525">
                      <a:solidFill>
                        <a:srgbClr val="D5E7DC"/>
                      </a:solidFill>
                    </a:lnT>
                    <a:lnB w="9525">
                      <a:solidFill>
                        <a:srgbClr val="D5E7DC"/>
                      </a:solidFill>
                    </a:lnB>
                    <a:solidFill>
                      <a:srgbClr val="3E6350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/>
                      <a:r>
                        <a:rPr lang="ar-SA" altLang="en-US" sz="1100" b="1" dirty="0">
                          <a:solidFill>
                            <a:srgbClr val="FFFFFF"/>
                          </a:solidFill>
                          <a:latin typeface="IBM Plex Sans Arabic"/>
                          <a:cs typeface="IBM Plex Sans Arabic"/>
                        </a:rPr>
                        <a:t>المادة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5E7DC"/>
                      </a:solidFill>
                    </a:lnL>
                    <a:lnR w="9525">
                      <a:solidFill>
                        <a:srgbClr val="D5E7DC"/>
                      </a:solidFill>
                    </a:lnR>
                    <a:lnT w="9525">
                      <a:solidFill>
                        <a:srgbClr val="D5E7DC"/>
                      </a:solidFill>
                    </a:lnT>
                    <a:lnB w="9525">
                      <a:solidFill>
                        <a:srgbClr val="D5E7DC"/>
                      </a:solidFill>
                    </a:lnB>
                    <a:solidFill>
                      <a:srgbClr val="3E635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rtl="1" algn="r"/>
                      <a:r>
                        <a:rPr lang="ar-SA" altLang="en-US" sz="1100" b="1" dirty="0">
                          <a:solidFill>
                            <a:srgbClr val="3E6350"/>
                          </a:solidFill>
                          <a:latin typeface="IBM Plex Sans Arabic"/>
                          <a:cs typeface="IBM Plex Sans Arabic"/>
                        </a:rPr>
                        <a:t>لوح الإجابات الصغير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5E7DC"/>
                      </a:solidFill>
                    </a:lnL>
                    <a:lnR w="9525">
                      <a:solidFill>
                        <a:srgbClr val="D5E7DC"/>
                      </a:solidFill>
                    </a:lnR>
                    <a:lnT w="9525">
                      <a:solidFill>
                        <a:srgbClr val="D5E7DC"/>
                      </a:solidFill>
                    </a:lnT>
                    <a:lnB w="9525">
                      <a:solidFill>
                        <a:srgbClr val="D5E7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lang="ar-SA" altLang="en-US" sz="1100" dirty="0">
                          <a:solidFill>
                            <a:srgbClr val="1C3328"/>
                          </a:solidFill>
                          <a:latin typeface="IBM Plex Sans Arabic"/>
                          <a:cs typeface="IBM Plex Sans Arabic"/>
                        </a:rPr>
                        <a:t>حل مشكلات بالأزواج، محطات تعلم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5E7DC"/>
                      </a:solidFill>
                    </a:lnL>
                    <a:lnR w="9525">
                      <a:solidFill>
                        <a:srgbClr val="D5E7DC"/>
                      </a:solidFill>
                    </a:lnR>
                    <a:lnT w="9525">
                      <a:solidFill>
                        <a:srgbClr val="D5E7DC"/>
                      </a:solidFill>
                    </a:lnT>
                    <a:lnB w="9525">
                      <a:solidFill>
                        <a:srgbClr val="D5E7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lang="ar-SA" altLang="en-US" sz="1100" dirty="0">
                          <a:solidFill>
                            <a:srgbClr val="1C3328"/>
                          </a:solidFill>
                          <a:latin typeface="IBM Plex Sans Arabic"/>
                          <a:cs typeface="IBM Plex Sans Arabic"/>
                        </a:rPr>
                        <a:t>لغز أو نمط عددي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5E7DC"/>
                      </a:solidFill>
                    </a:lnL>
                    <a:lnR w="9525">
                      <a:solidFill>
                        <a:srgbClr val="D5E7DC"/>
                      </a:solidFill>
                    </a:lnR>
                    <a:lnT w="9525">
                      <a:solidFill>
                        <a:srgbClr val="D5E7DC"/>
                      </a:solidFill>
                    </a:lnT>
                    <a:lnB w="9525">
                      <a:solidFill>
                        <a:srgbClr val="D5E7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lang="ar-SA" altLang="en-US" sz="1100" dirty="0">
                          <a:solidFill>
                            <a:srgbClr val="1C3328"/>
                          </a:solidFill>
                          <a:latin typeface="IBM Plex Sans Arabic"/>
                          <a:cs typeface="IBM Plex Sans Arabic"/>
                        </a:rPr>
                        <a:t>الرياضيات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5E7DC"/>
                      </a:solidFill>
                    </a:lnL>
                    <a:lnR w="9525">
                      <a:solidFill>
                        <a:srgbClr val="D5E7DC"/>
                      </a:solidFill>
                    </a:lnR>
                    <a:lnT w="9525">
                      <a:solidFill>
                        <a:srgbClr val="D5E7DC"/>
                      </a:solidFill>
                    </a:lnT>
                    <a:lnB w="9525">
                      <a:solidFill>
                        <a:srgbClr val="D5E7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rtl="1" algn="r"/>
                      <a:r>
                        <a:rPr lang="ar-SA" altLang="en-US" sz="1100" b="1" dirty="0">
                          <a:solidFill>
                            <a:srgbClr val="3E6350"/>
                          </a:solidFill>
                          <a:latin typeface="IBM Plex Sans Arabic"/>
                          <a:cs typeface="IBM Plex Sans Arabic"/>
                        </a:rPr>
                        <a:t>توقّع، لاحظ، فسّر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5E7DC"/>
                      </a:solidFill>
                    </a:lnL>
                    <a:lnR w="9525">
                      <a:solidFill>
                        <a:srgbClr val="D5E7DC"/>
                      </a:solidFill>
                    </a:lnR>
                    <a:lnT w="9525">
                      <a:solidFill>
                        <a:srgbClr val="D5E7DC"/>
                      </a:solidFill>
                    </a:lnT>
                    <a:lnB w="9525">
                      <a:solidFill>
                        <a:srgbClr val="D5E7DC"/>
                      </a:solidFill>
                    </a:lnB>
                    <a:solidFill>
                      <a:srgbClr val="F6FBF8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lang="ar-SA" altLang="en-US" sz="1100" dirty="0">
                          <a:solidFill>
                            <a:srgbClr val="1C3328"/>
                          </a:solidFill>
                          <a:latin typeface="IBM Plex Sans Arabic"/>
                          <a:cs typeface="IBM Plex Sans Arabic"/>
                        </a:rPr>
                        <a:t>استقصاء موجّه، مختبر افتراضي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5E7DC"/>
                      </a:solidFill>
                    </a:lnL>
                    <a:lnR w="9525">
                      <a:solidFill>
                        <a:srgbClr val="D5E7DC"/>
                      </a:solidFill>
                    </a:lnR>
                    <a:lnT w="9525">
                      <a:solidFill>
                        <a:srgbClr val="D5E7DC"/>
                      </a:solidFill>
                    </a:lnT>
                    <a:lnB w="9525">
                      <a:solidFill>
                        <a:srgbClr val="D5E7DC"/>
                      </a:solidFill>
                    </a:lnB>
                    <a:solidFill>
                      <a:srgbClr val="F6FBF8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lang="ar-SA" altLang="en-US" sz="1100" dirty="0">
                          <a:solidFill>
                            <a:srgbClr val="1C3328"/>
                          </a:solidFill>
                          <a:latin typeface="IBM Plex Sans Arabic"/>
                          <a:cs typeface="IBM Plex Sans Arabic"/>
                        </a:rPr>
                        <a:t>تجربة أو ظاهرة مثيرة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5E7DC"/>
                      </a:solidFill>
                    </a:lnL>
                    <a:lnR w="9525">
                      <a:solidFill>
                        <a:srgbClr val="D5E7DC"/>
                      </a:solidFill>
                    </a:lnR>
                    <a:lnT w="9525">
                      <a:solidFill>
                        <a:srgbClr val="D5E7DC"/>
                      </a:solidFill>
                    </a:lnT>
                    <a:lnB w="9525">
                      <a:solidFill>
                        <a:srgbClr val="D5E7DC"/>
                      </a:solidFill>
                    </a:lnB>
                    <a:solidFill>
                      <a:srgbClr val="F6FBF8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lang="ar-SA" altLang="en-US" sz="1100" dirty="0">
                          <a:solidFill>
                            <a:srgbClr val="1C3328"/>
                          </a:solidFill>
                          <a:latin typeface="IBM Plex Sans Arabic"/>
                          <a:cs typeface="IBM Plex Sans Arabic"/>
                        </a:rPr>
                        <a:t>العلوم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5E7DC"/>
                      </a:solidFill>
                    </a:lnL>
                    <a:lnR w="9525">
                      <a:solidFill>
                        <a:srgbClr val="D5E7DC"/>
                      </a:solidFill>
                    </a:lnR>
                    <a:lnT w="9525">
                      <a:solidFill>
                        <a:srgbClr val="D5E7DC"/>
                      </a:solidFill>
                    </a:lnT>
                    <a:lnB w="9525">
                      <a:solidFill>
                        <a:srgbClr val="D5E7DC"/>
                      </a:solidFill>
                    </a:lnB>
                    <a:solidFill>
                      <a:srgbClr val="F6FB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rtl="1" algn="r"/>
                      <a:r>
                        <a:rPr lang="ar-SA" altLang="en-US" sz="1100" b="1" dirty="0">
                          <a:solidFill>
                            <a:srgbClr val="3E6350"/>
                          </a:solidFill>
                          <a:latin typeface="IBM Plex Sans Arabic"/>
                          <a:cs typeface="IBM Plex Sans Arabic"/>
                        </a:rPr>
                        <a:t>تحليل جملة في بطاقة خروج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5E7DC"/>
                      </a:solidFill>
                    </a:lnL>
                    <a:lnR w="9525">
                      <a:solidFill>
                        <a:srgbClr val="D5E7DC"/>
                      </a:solidFill>
                    </a:lnR>
                    <a:lnT w="9525">
                      <a:solidFill>
                        <a:srgbClr val="D5E7DC"/>
                      </a:solidFill>
                    </a:lnT>
                    <a:lnB w="9525">
                      <a:solidFill>
                        <a:srgbClr val="D5E7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lang="ar-SA" altLang="en-US" sz="1100" dirty="0">
                          <a:solidFill>
                            <a:srgbClr val="1C3328"/>
                          </a:solidFill>
                          <a:latin typeface="IBM Plex Sans Arabic"/>
                          <a:cs typeface="IBM Plex Sans Arabic"/>
                        </a:rPr>
                        <a:t>القراءة التبادلية، الكرسي الساخن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5E7DC"/>
                      </a:solidFill>
                    </a:lnL>
                    <a:lnR w="9525">
                      <a:solidFill>
                        <a:srgbClr val="D5E7DC"/>
                      </a:solidFill>
                    </a:lnR>
                    <a:lnT w="9525">
                      <a:solidFill>
                        <a:srgbClr val="D5E7DC"/>
                      </a:solidFill>
                    </a:lnT>
                    <a:lnB w="9525">
                      <a:solidFill>
                        <a:srgbClr val="D5E7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lang="ar-SA" altLang="en-US" sz="1100" dirty="0">
                          <a:solidFill>
                            <a:srgbClr val="1C3328"/>
                          </a:solidFill>
                          <a:latin typeface="IBM Plex Sans Arabic"/>
                          <a:cs typeface="IBM Plex Sans Arabic"/>
                        </a:rPr>
                        <a:t>بيت شعر أو نص قصير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5E7DC"/>
                      </a:solidFill>
                    </a:lnL>
                    <a:lnR w="9525">
                      <a:solidFill>
                        <a:srgbClr val="D5E7DC"/>
                      </a:solidFill>
                    </a:lnR>
                    <a:lnT w="9525">
                      <a:solidFill>
                        <a:srgbClr val="D5E7DC"/>
                      </a:solidFill>
                    </a:lnT>
                    <a:lnB w="9525">
                      <a:solidFill>
                        <a:srgbClr val="D5E7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lang="ar-SA" altLang="en-US" sz="1100" dirty="0">
                          <a:solidFill>
                            <a:srgbClr val="1C3328"/>
                          </a:solidFill>
                          <a:latin typeface="IBM Plex Sans Arabic"/>
                          <a:cs typeface="IBM Plex Sans Arabic"/>
                        </a:rPr>
                        <a:t>اللغة العربية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5E7DC"/>
                      </a:solidFill>
                    </a:lnL>
                    <a:lnR w="9525">
                      <a:solidFill>
                        <a:srgbClr val="D5E7DC"/>
                      </a:solidFill>
                    </a:lnR>
                    <a:lnT w="9525">
                      <a:solidFill>
                        <a:srgbClr val="D5E7DC"/>
                      </a:solidFill>
                    </a:lnT>
                    <a:lnB w="9525">
                      <a:solidFill>
                        <a:srgbClr val="D5E7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rtl="1" algn="r"/>
                      <a:r>
                        <a:rPr lang="ar-SA" altLang="en-US" sz="1100" b="1" dirty="0">
                          <a:solidFill>
                            <a:srgbClr val="3E6350"/>
                          </a:solidFill>
                          <a:latin typeface="IBM Plex Sans Arabic"/>
                          <a:cs typeface="IBM Plex Sans Arabic"/>
                        </a:rPr>
                        <a:t>بطاقة خروج قصيرة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5E7DC"/>
                      </a:solidFill>
                    </a:lnL>
                    <a:lnR w="9525">
                      <a:solidFill>
                        <a:srgbClr val="D5E7DC"/>
                      </a:solidFill>
                    </a:lnR>
                    <a:lnT w="9525">
                      <a:solidFill>
                        <a:srgbClr val="D5E7DC"/>
                      </a:solidFill>
                    </a:lnT>
                    <a:lnB w="9525">
                      <a:solidFill>
                        <a:srgbClr val="D5E7DC"/>
                      </a:solidFill>
                    </a:lnB>
                    <a:solidFill>
                      <a:srgbClr val="F6FBF8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lang="ar-SA" altLang="en-US" sz="1100" dirty="0">
                          <a:solidFill>
                            <a:srgbClr val="1C3328"/>
                          </a:solidFill>
                          <a:latin typeface="IBM Plex Sans Arabic"/>
                          <a:cs typeface="IBM Plex Sans Arabic"/>
                        </a:rPr>
                        <a:t>‎Role play‎، فجوة المعلومات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5E7DC"/>
                      </a:solidFill>
                    </a:lnL>
                    <a:lnR w="9525">
                      <a:solidFill>
                        <a:srgbClr val="D5E7DC"/>
                      </a:solidFill>
                    </a:lnR>
                    <a:lnT w="9525">
                      <a:solidFill>
                        <a:srgbClr val="D5E7DC"/>
                      </a:solidFill>
                    </a:lnT>
                    <a:lnB w="9525">
                      <a:solidFill>
                        <a:srgbClr val="D5E7DC"/>
                      </a:solidFill>
                    </a:lnB>
                    <a:solidFill>
                      <a:srgbClr val="F6FBF8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lang="ar-SA" altLang="en-US" sz="1100" dirty="0">
                          <a:solidFill>
                            <a:srgbClr val="1C3328"/>
                          </a:solidFill>
                          <a:latin typeface="IBM Plex Sans Arabic"/>
                          <a:cs typeface="IBM Plex Sans Arabic"/>
                        </a:rPr>
                        <a:t>صورة مع ‎Guess what?‎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5E7DC"/>
                      </a:solidFill>
                    </a:lnL>
                    <a:lnR w="9525">
                      <a:solidFill>
                        <a:srgbClr val="D5E7DC"/>
                      </a:solidFill>
                    </a:lnR>
                    <a:lnT w="9525">
                      <a:solidFill>
                        <a:srgbClr val="D5E7DC"/>
                      </a:solidFill>
                    </a:lnT>
                    <a:lnB w="9525">
                      <a:solidFill>
                        <a:srgbClr val="D5E7DC"/>
                      </a:solidFill>
                    </a:lnB>
                    <a:solidFill>
                      <a:srgbClr val="F6FBF8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lang="ar-SA" altLang="en-US" sz="1100" dirty="0">
                          <a:solidFill>
                            <a:srgbClr val="1C3328"/>
                          </a:solidFill>
                          <a:latin typeface="IBM Plex Sans Arabic"/>
                          <a:cs typeface="IBM Plex Sans Arabic"/>
                        </a:rPr>
                        <a:t>اللغة الإنجليزية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5E7DC"/>
                      </a:solidFill>
                    </a:lnL>
                    <a:lnR w="9525">
                      <a:solidFill>
                        <a:srgbClr val="D5E7DC"/>
                      </a:solidFill>
                    </a:lnR>
                    <a:lnT w="9525">
                      <a:solidFill>
                        <a:srgbClr val="D5E7DC"/>
                      </a:solidFill>
                    </a:lnT>
                    <a:lnB w="9525">
                      <a:solidFill>
                        <a:srgbClr val="D5E7DC"/>
                      </a:solidFill>
                    </a:lnB>
                    <a:solidFill>
                      <a:srgbClr val="F6FB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rtl="1" algn="r"/>
                      <a:r>
                        <a:rPr lang="ar-SA" altLang="en-US" sz="1100" b="1" dirty="0">
                          <a:solidFill>
                            <a:srgbClr val="3E6350"/>
                          </a:solidFill>
                          <a:latin typeface="IBM Plex Sans Arabic"/>
                          <a:cs typeface="IBM Plex Sans Arabic"/>
                        </a:rPr>
                        <a:t>سؤال تطبيق قيمي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5E7DC"/>
                      </a:solidFill>
                    </a:lnL>
                    <a:lnR w="9525">
                      <a:solidFill>
                        <a:srgbClr val="D5E7DC"/>
                      </a:solidFill>
                    </a:lnR>
                    <a:lnT w="9525">
                      <a:solidFill>
                        <a:srgbClr val="D5E7DC"/>
                      </a:solidFill>
                    </a:lnT>
                    <a:lnB w="9525">
                      <a:solidFill>
                        <a:srgbClr val="D5E7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lang="ar-SA" altLang="en-US" sz="1100" dirty="0">
                          <a:solidFill>
                            <a:srgbClr val="1C3328"/>
                          </a:solidFill>
                          <a:latin typeface="IBM Plex Sans Arabic"/>
                          <a:cs typeface="IBM Plex Sans Arabic"/>
                        </a:rPr>
                        <a:t>خرائط المفاهيم، دراسة حالة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5E7DC"/>
                      </a:solidFill>
                    </a:lnL>
                    <a:lnR w="9525">
                      <a:solidFill>
                        <a:srgbClr val="D5E7DC"/>
                      </a:solidFill>
                    </a:lnR>
                    <a:lnT w="9525">
                      <a:solidFill>
                        <a:srgbClr val="D5E7DC"/>
                      </a:solidFill>
                    </a:lnT>
                    <a:lnB w="9525">
                      <a:solidFill>
                        <a:srgbClr val="D5E7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lang="ar-SA" altLang="en-US" sz="1100" dirty="0">
                          <a:solidFill>
                            <a:srgbClr val="1C3328"/>
                          </a:solidFill>
                          <a:latin typeface="IBM Plex Sans Arabic"/>
                          <a:cs typeface="IBM Plex Sans Arabic"/>
                        </a:rPr>
                        <a:t>آية أو موقف من السيرة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5E7DC"/>
                      </a:solidFill>
                    </a:lnL>
                    <a:lnR w="9525">
                      <a:solidFill>
                        <a:srgbClr val="D5E7DC"/>
                      </a:solidFill>
                    </a:lnR>
                    <a:lnT w="9525">
                      <a:solidFill>
                        <a:srgbClr val="D5E7DC"/>
                      </a:solidFill>
                    </a:lnT>
                    <a:lnB w="9525">
                      <a:solidFill>
                        <a:srgbClr val="D5E7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lang="ar-SA" altLang="en-US" sz="1100" dirty="0">
                          <a:solidFill>
                            <a:srgbClr val="1C3328"/>
                          </a:solidFill>
                          <a:latin typeface="IBM Plex Sans Arabic"/>
                          <a:cs typeface="IBM Plex Sans Arabic"/>
                        </a:rPr>
                        <a:t>الدراسات الإسلامية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5E7DC"/>
                      </a:solidFill>
                    </a:lnL>
                    <a:lnR w="9525">
                      <a:solidFill>
                        <a:srgbClr val="D5E7DC"/>
                      </a:solidFill>
                    </a:lnR>
                    <a:lnT w="9525">
                      <a:solidFill>
                        <a:srgbClr val="D5E7DC"/>
                      </a:solidFill>
                    </a:lnT>
                    <a:lnB w="9525">
                      <a:solidFill>
                        <a:srgbClr val="D5E7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rtl="1" algn="r"/>
                      <a:r>
                        <a:rPr lang="ar-SA" altLang="en-US" sz="1100" b="1" dirty="0">
                          <a:solidFill>
                            <a:srgbClr val="3E6350"/>
                          </a:solidFill>
                          <a:latin typeface="IBM Plex Sans Arabic"/>
                          <a:cs typeface="IBM Plex Sans Arabic"/>
                        </a:rPr>
                        <a:t>خط زمني سريع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5E7DC"/>
                      </a:solidFill>
                    </a:lnL>
                    <a:lnR w="9525">
                      <a:solidFill>
                        <a:srgbClr val="D5E7DC"/>
                      </a:solidFill>
                    </a:lnR>
                    <a:lnT w="9525">
                      <a:solidFill>
                        <a:srgbClr val="D5E7DC"/>
                      </a:solidFill>
                    </a:lnT>
                    <a:lnB w="9525">
                      <a:solidFill>
                        <a:srgbClr val="D5E7DC"/>
                      </a:solidFill>
                    </a:lnB>
                    <a:solidFill>
                      <a:srgbClr val="F6FBF8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lang="ar-SA" altLang="en-US" sz="1100" dirty="0">
                          <a:solidFill>
                            <a:srgbClr val="1C3328"/>
                          </a:solidFill>
                          <a:latin typeface="IBM Plex Sans Arabic"/>
                          <a:cs typeface="IBM Plex Sans Arabic"/>
                        </a:rPr>
                        <a:t>معرض التجوّل، المناظرة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5E7DC"/>
                      </a:solidFill>
                    </a:lnL>
                    <a:lnR w="9525">
                      <a:solidFill>
                        <a:srgbClr val="D5E7DC"/>
                      </a:solidFill>
                    </a:lnR>
                    <a:lnT w="9525">
                      <a:solidFill>
                        <a:srgbClr val="D5E7DC"/>
                      </a:solidFill>
                    </a:lnT>
                    <a:lnB w="9525">
                      <a:solidFill>
                        <a:srgbClr val="D5E7DC"/>
                      </a:solidFill>
                    </a:lnB>
                    <a:solidFill>
                      <a:srgbClr val="F6FBF8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lang="ar-SA" altLang="en-US" sz="1100" dirty="0">
                          <a:solidFill>
                            <a:srgbClr val="1C3328"/>
                          </a:solidFill>
                          <a:latin typeface="IBM Plex Sans Arabic"/>
                          <a:cs typeface="IBM Plex Sans Arabic"/>
                        </a:rPr>
                        <a:t>خريطة أو خبر معاصر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5E7DC"/>
                      </a:solidFill>
                    </a:lnL>
                    <a:lnR w="9525">
                      <a:solidFill>
                        <a:srgbClr val="D5E7DC"/>
                      </a:solidFill>
                    </a:lnR>
                    <a:lnT w="9525">
                      <a:solidFill>
                        <a:srgbClr val="D5E7DC"/>
                      </a:solidFill>
                    </a:lnT>
                    <a:lnB w="9525">
                      <a:solidFill>
                        <a:srgbClr val="D5E7DC"/>
                      </a:solidFill>
                    </a:lnB>
                    <a:solidFill>
                      <a:srgbClr val="F6FBF8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lang="ar-SA" altLang="en-US" sz="1100" dirty="0">
                          <a:solidFill>
                            <a:srgbClr val="1C3328"/>
                          </a:solidFill>
                          <a:latin typeface="IBM Plex Sans Arabic"/>
                          <a:cs typeface="IBM Plex Sans Arabic"/>
                        </a:rPr>
                        <a:t>الاجتماعيات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5E7DC"/>
                      </a:solidFill>
                    </a:lnL>
                    <a:lnR w="9525">
                      <a:solidFill>
                        <a:srgbClr val="D5E7DC"/>
                      </a:solidFill>
                    </a:lnR>
                    <a:lnT w="9525">
                      <a:solidFill>
                        <a:srgbClr val="D5E7DC"/>
                      </a:solidFill>
                    </a:lnT>
                    <a:lnB w="9525">
                      <a:solidFill>
                        <a:srgbClr val="D5E7DC"/>
                      </a:solidFill>
                    </a:lnB>
                    <a:solidFill>
                      <a:srgbClr val="F6FB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rtl="1" algn="r"/>
                      <a:r>
                        <a:rPr lang="ar-SA" altLang="en-US" sz="1100" b="1" dirty="0">
                          <a:solidFill>
                            <a:srgbClr val="3E6350"/>
                          </a:solidFill>
                          <a:latin typeface="IBM Plex Sans Arabic"/>
                          <a:cs typeface="IBM Plex Sans Arabic"/>
                        </a:rPr>
                        <a:t>تحدٍّ عملي قصير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5E7DC"/>
                      </a:solidFill>
                    </a:lnL>
                    <a:lnR w="9525">
                      <a:solidFill>
                        <a:srgbClr val="D5E7DC"/>
                      </a:solidFill>
                    </a:lnR>
                    <a:lnT w="9525">
                      <a:solidFill>
                        <a:srgbClr val="D5E7DC"/>
                      </a:solidFill>
                    </a:lnT>
                    <a:lnB w="9525">
                      <a:solidFill>
                        <a:srgbClr val="D5E7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lang="ar-SA" altLang="en-US" sz="1100" dirty="0">
                          <a:solidFill>
                            <a:srgbClr val="1C3328"/>
                          </a:solidFill>
                          <a:latin typeface="IBM Plex Sans Arabic"/>
                          <a:cs typeface="IBM Plex Sans Arabic"/>
                        </a:rPr>
                        <a:t>البرمجة الثنائية، مشروع مصغّر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5E7DC"/>
                      </a:solidFill>
                    </a:lnL>
                    <a:lnR w="9525">
                      <a:solidFill>
                        <a:srgbClr val="D5E7DC"/>
                      </a:solidFill>
                    </a:lnR>
                    <a:lnT w="9525">
                      <a:solidFill>
                        <a:srgbClr val="D5E7DC"/>
                      </a:solidFill>
                    </a:lnT>
                    <a:lnB w="9525">
                      <a:solidFill>
                        <a:srgbClr val="D5E7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lang="ar-SA" altLang="en-US" sz="1100" dirty="0">
                          <a:solidFill>
                            <a:srgbClr val="1C3328"/>
                          </a:solidFill>
                          <a:latin typeface="IBM Plex Sans Arabic"/>
                          <a:cs typeface="IBM Plex Sans Arabic"/>
                        </a:rPr>
                        <a:t>مشكلة رقمية من الواقع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5E7DC"/>
                      </a:solidFill>
                    </a:lnL>
                    <a:lnR w="9525">
                      <a:solidFill>
                        <a:srgbClr val="D5E7DC"/>
                      </a:solidFill>
                    </a:lnR>
                    <a:lnT w="9525">
                      <a:solidFill>
                        <a:srgbClr val="D5E7DC"/>
                      </a:solidFill>
                    </a:lnT>
                    <a:lnB w="9525">
                      <a:solidFill>
                        <a:srgbClr val="D5E7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lang="ar-SA" altLang="en-US" sz="1100" dirty="0">
                          <a:solidFill>
                            <a:srgbClr val="1C3328"/>
                          </a:solidFill>
                          <a:latin typeface="IBM Plex Sans Arabic"/>
                          <a:cs typeface="IBM Plex Sans Arabic"/>
                        </a:rPr>
                        <a:t>الحاسب والتقنية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D5E7DC"/>
                      </a:solidFill>
                    </a:lnL>
                    <a:lnR w="9525">
                      <a:solidFill>
                        <a:srgbClr val="D5E7DC"/>
                      </a:solidFill>
                    </a:lnR>
                    <a:lnT w="9525">
                      <a:solidFill>
                        <a:srgbClr val="D5E7DC"/>
                      </a:solidFill>
                    </a:lnT>
                    <a:lnB w="9525">
                      <a:solidFill>
                        <a:srgbClr val="D5E7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 Arab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 Arab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مدرسة مكة الثانوية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قالب الحصة النموذجية — مدرسة مكة الثانوية</dc:title>
  <dc:subject>PptxGenJS Presentation</dc:subject>
  <dc:creator>بوابة مكة الثانوية الرقمية</dc:creator>
  <cp:lastModifiedBy>بوابة مكة الثانوية الرقمية</cp:lastModifiedBy>
  <cp:revision>1</cp:revision>
  <dcterms:created xsi:type="dcterms:W3CDTF">2026-09-30T19:04:56Z</dcterms:created>
  <dcterms:modified xsi:type="dcterms:W3CDTF">2026-09-30T19:04:56Z</dcterms:modified>
</cp:coreProperties>
</file>